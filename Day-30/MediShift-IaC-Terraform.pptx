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2" r:id="rId1"/>
  </p:sldMasterIdLst>
  <p:notesMasterIdLst>
    <p:notesMasterId r:id="rId18"/>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embeddedFontLst>
    <p:embeddedFont>
      <p:font typeface="Bookman Old Style" panose="02050604050505020204" pitchFamily="18" charset="0"/>
      <p:regular r:id="rId19"/>
      <p:bold r:id="rId20"/>
      <p:italic r:id="rId21"/>
      <p:boldItalic r:id="rId22"/>
    </p:embeddedFont>
    <p:embeddedFont>
      <p:font typeface="Consolas" panose="020B0609020204030204" pitchFamily="49" charset="0"/>
      <p:regular r:id="rId23"/>
      <p:bold r:id="rId24"/>
      <p:italic r:id="rId25"/>
      <p:boldItalic r:id="rId26"/>
    </p:embeddedFont>
    <p:embeddedFont>
      <p:font typeface="Roboto" panose="02000000000000000000" pitchFamily="2" charset="0"/>
      <p:regular r:id="rId27"/>
      <p:bold r:id="rId28"/>
    </p:embeddedFont>
    <p:embeddedFont>
      <p:font typeface="Roboto Slab" pitchFamily="2" charset="0"/>
      <p:regular r:id="rId29"/>
    </p:embeddedFont>
    <p:embeddedFont>
      <p:font typeface="Rockwell" panose="02060603020205020403" pitchFamily="18" charset="0"/>
      <p:regular r:id="rId3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804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50639107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39099355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71017471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92607587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6128259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87399244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6/12/2026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05488207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06456889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53882806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4558460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22411758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2858425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10333942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00528541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21278094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77610755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52966470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master 1">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70835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master 2">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2324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6/12/2026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3465876264"/>
      </p:ext>
    </p:extLst>
  </p:cSld>
  <p:clrMap bg1="dk1" tx1="lt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 id="2147483669" r:id="rId17"/>
    <p:sldLayoutId id="2147483670" r:id="rId18"/>
    <p:sldLayoutId id="2147483671" r:id="rId19"/>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571886" cy="6858000"/>
          </a:xfrm>
          <a:prstGeom prst="rect">
            <a:avLst/>
          </a:prstGeom>
          <a:solidFill>
            <a:srgbClr val="3F4652"/>
          </a:solidFill>
          <a:ln/>
        </p:spPr>
        <p:txBody>
          <a:bodyPr/>
          <a:lstStyle/>
          <a:p>
            <a:endParaRPr lang="en-IN"/>
          </a:p>
        </p:txBody>
      </p:sp>
      <p:pic>
        <p:nvPicPr>
          <p:cNvPr id="3" name="Image 0" descr="preencoded.png"/>
          <p:cNvPicPr>
            <a:picLocks noChangeAspect="1"/>
          </p:cNvPicPr>
          <p:nvPr/>
        </p:nvPicPr>
        <p:blipFill>
          <a:blip r:embed="rId3"/>
          <a:stretch>
            <a:fillRect/>
          </a:stretch>
        </p:blipFill>
        <p:spPr>
          <a:xfrm>
            <a:off x="82647" y="123924"/>
            <a:ext cx="4406591" cy="6610052"/>
          </a:xfrm>
          <a:prstGeom prst="rect">
            <a:avLst/>
          </a:prstGeom>
        </p:spPr>
      </p:pic>
      <p:sp>
        <p:nvSpPr>
          <p:cNvPr id="4" name="Text 1"/>
          <p:cNvSpPr/>
          <p:nvPr/>
        </p:nvSpPr>
        <p:spPr>
          <a:xfrm>
            <a:off x="5233360" y="2401094"/>
            <a:ext cx="6296860" cy="1033463"/>
          </a:xfrm>
          <a:prstGeom prst="rect">
            <a:avLst/>
          </a:prstGeom>
          <a:noFill/>
          <a:ln/>
        </p:spPr>
        <p:txBody>
          <a:bodyPr wrap="square" lIns="0" tIns="0" rIns="0" bIns="0" rtlCol="0" anchor="t">
            <a:normAutofit/>
          </a:bodyPr>
          <a:lstStyle/>
          <a:p>
            <a:pPr marL="0" indent="0" algn="l">
              <a:lnSpc>
                <a:spcPct val="104000"/>
              </a:lnSpc>
              <a:buNone/>
            </a:pPr>
            <a:r>
              <a:rPr lang="en-US" sz="3250" dirty="0">
                <a:solidFill>
                  <a:srgbClr val="76B9FF"/>
                </a:solidFill>
                <a:latin typeface="Roboto Slab" pitchFamily="34" charset="0"/>
                <a:ea typeface="Roboto Slab" pitchFamily="34" charset="-122"/>
                <a:cs typeface="Roboto Slab" pitchFamily="34" charset="-120"/>
              </a:rPr>
              <a:t>MediShift: Automated Cloud Infrastructure with Terraform</a:t>
            </a:r>
            <a:endParaRPr lang="en-US" sz="3250" dirty="0"/>
          </a:p>
        </p:txBody>
      </p:sp>
      <p:sp>
        <p:nvSpPr>
          <p:cNvPr id="5" name="Text 2"/>
          <p:cNvSpPr/>
          <p:nvPr/>
        </p:nvSpPr>
        <p:spPr>
          <a:xfrm>
            <a:off x="5233360" y="3682603"/>
            <a:ext cx="6906444" cy="264616"/>
          </a:xfrm>
          <a:prstGeom prst="rect">
            <a:avLst/>
          </a:prstGeom>
          <a:noFill/>
          <a:ln/>
        </p:spPr>
        <p:txBody>
          <a:bodyPr wrap="none" lIns="0" tIns="0" rIns="0" bIns="0" rtlCol="0" anchor="t"/>
          <a:lstStyle/>
          <a:p>
            <a:pPr marL="0" indent="0" algn="l">
              <a:lnSpc>
                <a:spcPct val="133000"/>
              </a:lnSpc>
              <a:buNone/>
            </a:pPr>
            <a:endParaRPr lang="en-US" sz="1300" dirty="0"/>
          </a:p>
        </p:txBody>
      </p:sp>
      <p:sp>
        <p:nvSpPr>
          <p:cNvPr id="6" name="Shape 3"/>
          <p:cNvSpPr/>
          <p:nvPr/>
        </p:nvSpPr>
        <p:spPr>
          <a:xfrm>
            <a:off x="5233360" y="4139605"/>
            <a:ext cx="1869334" cy="310952"/>
          </a:xfrm>
          <a:prstGeom prst="roundRect">
            <a:avLst>
              <a:gd name="adj" fmla="val 6383"/>
            </a:avLst>
          </a:prstGeom>
          <a:solidFill>
            <a:srgbClr val="082545"/>
          </a:solidFill>
          <a:ln/>
        </p:spPr>
        <p:txBody>
          <a:bodyPr/>
          <a:lstStyle/>
          <a:p>
            <a:endParaRPr lang="en-IN"/>
          </a:p>
        </p:txBody>
      </p:sp>
      <p:sp>
        <p:nvSpPr>
          <p:cNvPr id="7" name="Text 4"/>
          <p:cNvSpPr/>
          <p:nvPr/>
        </p:nvSpPr>
        <p:spPr>
          <a:xfrm>
            <a:off x="5332577" y="4189214"/>
            <a:ext cx="2280486" cy="211733"/>
          </a:xfrm>
          <a:prstGeom prst="rect">
            <a:avLst/>
          </a:prstGeom>
          <a:noFill/>
          <a:ln/>
        </p:spPr>
        <p:txBody>
          <a:bodyPr wrap="none" lIns="0" tIns="0" rIns="0" bIns="0" rtlCol="0" anchor="t"/>
          <a:lstStyle/>
          <a:p>
            <a:pPr marL="0" indent="0" algn="l">
              <a:lnSpc>
                <a:spcPct val="133000"/>
              </a:lnSpc>
              <a:buNone/>
            </a:pPr>
            <a:r>
              <a:rPr lang="en-US" sz="1000" dirty="0">
                <a:solidFill>
                  <a:srgbClr val="D6E5EF"/>
                </a:solidFill>
                <a:latin typeface="Roboto" pitchFamily="34" charset="0"/>
                <a:ea typeface="Roboto" pitchFamily="34" charset="-122"/>
                <a:cs typeface="Roboto" pitchFamily="34" charset="-120"/>
              </a:rPr>
              <a:t>INFRASTRUCTURE AS CODE</a:t>
            </a:r>
            <a:endParaRPr lang="en-US" sz="1000" dirty="0"/>
          </a:p>
        </p:txBody>
      </p:sp>
      <p:sp>
        <p:nvSpPr>
          <p:cNvPr id="8" name="Shape 5"/>
          <p:cNvSpPr/>
          <p:nvPr/>
        </p:nvSpPr>
        <p:spPr>
          <a:xfrm>
            <a:off x="7185341" y="4133255"/>
            <a:ext cx="1829052" cy="323652"/>
          </a:xfrm>
          <a:prstGeom prst="roundRect">
            <a:avLst>
              <a:gd name="adj" fmla="val 6132"/>
            </a:avLst>
          </a:prstGeom>
          <a:noFill/>
          <a:ln w="6350">
            <a:solidFill>
              <a:srgbClr val="66A8EE"/>
            </a:solidFill>
            <a:prstDash val="solid"/>
          </a:ln>
        </p:spPr>
        <p:txBody>
          <a:bodyPr/>
          <a:lstStyle/>
          <a:p>
            <a:endParaRPr lang="en-IN"/>
          </a:p>
        </p:txBody>
      </p:sp>
      <p:sp>
        <p:nvSpPr>
          <p:cNvPr id="9" name="Text 6"/>
          <p:cNvSpPr/>
          <p:nvPr/>
        </p:nvSpPr>
        <p:spPr>
          <a:xfrm>
            <a:off x="7290907" y="4189214"/>
            <a:ext cx="2227504" cy="211733"/>
          </a:xfrm>
          <a:prstGeom prst="rect">
            <a:avLst/>
          </a:prstGeom>
          <a:noFill/>
          <a:ln/>
        </p:spPr>
        <p:txBody>
          <a:bodyPr wrap="none" lIns="0" tIns="0" rIns="0" bIns="0" rtlCol="0" anchor="t"/>
          <a:lstStyle/>
          <a:p>
            <a:pPr marL="0" indent="0" algn="l">
              <a:lnSpc>
                <a:spcPct val="133000"/>
              </a:lnSpc>
              <a:buNone/>
            </a:pPr>
            <a:r>
              <a:rPr lang="en-US" sz="1000" dirty="0">
                <a:solidFill>
                  <a:srgbClr val="66A8EE"/>
                </a:solidFill>
                <a:latin typeface="Roboto" pitchFamily="34" charset="0"/>
                <a:ea typeface="Roboto" pitchFamily="34" charset="-122"/>
                <a:cs typeface="Roboto" pitchFamily="34" charset="-120"/>
              </a:rPr>
              <a:t>AZURE · AKS · TERRAFORM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574" y="525463"/>
            <a:ext cx="5809013" cy="516731"/>
          </a:xfrm>
          <a:prstGeom prst="rect">
            <a:avLst/>
          </a:prstGeom>
          <a:noFill/>
          <a:ln/>
        </p:spPr>
        <p:txBody>
          <a:bodyPr wrap="none" lIns="0" tIns="0" rIns="0" bIns="0" rtlCol="0" anchor="t"/>
          <a:lstStyle/>
          <a:p>
            <a:pPr marL="0" indent="0" algn="l">
              <a:lnSpc>
                <a:spcPct val="104000"/>
              </a:lnSpc>
              <a:buNone/>
            </a:pPr>
            <a:r>
              <a:rPr lang="en-US" sz="3250" dirty="0">
                <a:solidFill>
                  <a:srgbClr val="76B9FF"/>
                </a:solidFill>
                <a:latin typeface="Roboto Slab" pitchFamily="34" charset="0"/>
                <a:ea typeface="Roboto Slab" pitchFamily="34" charset="-122"/>
                <a:cs typeface="Roboto Slab" pitchFamily="34" charset="-120"/>
              </a:rPr>
              <a:t>Azure Cloud Infrastructure</a:t>
            </a:r>
            <a:endParaRPr lang="en-US" sz="3250" dirty="0"/>
          </a:p>
        </p:txBody>
      </p:sp>
      <p:sp>
        <p:nvSpPr>
          <p:cNvPr id="3" name="Text 1"/>
          <p:cNvSpPr/>
          <p:nvPr/>
        </p:nvSpPr>
        <p:spPr>
          <a:xfrm>
            <a:off x="661574" y="1372890"/>
            <a:ext cx="10868547" cy="53558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6E5EF"/>
                </a:solidFill>
                <a:latin typeface="Roboto" pitchFamily="34" charset="0"/>
                <a:ea typeface="Roboto" pitchFamily="34" charset="-122"/>
                <a:cs typeface="Roboto" pitchFamily="34" charset="-120"/>
              </a:rPr>
              <a:t>The entire MediShift platform resides within a single Azure VNet (</a:t>
            </a:r>
            <a:r>
              <a:rPr lang="en-US" sz="1300" dirty="0">
                <a:solidFill>
                  <a:srgbClr val="D6E5EF"/>
                </a:solidFill>
                <a:highlight>
                  <a:srgbClr val="2D3440"/>
                </a:highlight>
                <a:latin typeface="Consolas" pitchFamily="34" charset="0"/>
                <a:ea typeface="Consolas" pitchFamily="34" charset="-122"/>
                <a:cs typeface="Consolas" pitchFamily="34" charset="-120"/>
              </a:rPr>
              <a:t>10.0.0.0/16</a:t>
            </a:r>
            <a:r>
              <a:rPr lang="en-US" sz="1300" dirty="0">
                <a:solidFill>
                  <a:srgbClr val="D6E5EF"/>
                </a:solidFill>
                <a:latin typeface="Roboto" pitchFamily="34" charset="0"/>
                <a:ea typeface="Roboto" pitchFamily="34" charset="-122"/>
                <a:cs typeface="Roboto" pitchFamily="34" charset="-120"/>
              </a:rPr>
              <a:t>), with strict subnet isolation enforcing security boundaries between compute, data, and management layers. Private Endpoints eliminate public internet exposure for all sensitive Azure PaaS services.</a:t>
            </a:r>
            <a:endParaRPr lang="en-US" sz="1300" dirty="0"/>
          </a:p>
        </p:txBody>
      </p:sp>
      <p:pic>
        <p:nvPicPr>
          <p:cNvPr id="10" name="Picture 9">
            <a:extLst>
              <a:ext uri="{FF2B5EF4-FFF2-40B4-BE49-F238E27FC236}">
                <a16:creationId xmlns:a16="http://schemas.microsoft.com/office/drawing/2014/main" id="{9DF0D206-2466-D49E-4581-FF8F48916A5E}"/>
              </a:ext>
            </a:extLst>
          </p:cNvPr>
          <p:cNvPicPr>
            <a:picLocks noChangeAspect="1"/>
          </p:cNvPicPr>
          <p:nvPr/>
        </p:nvPicPr>
        <p:blipFill>
          <a:blip r:embed="rId3"/>
          <a:stretch>
            <a:fillRect/>
          </a:stretch>
        </p:blipFill>
        <p:spPr>
          <a:xfrm>
            <a:off x="2533587" y="2196854"/>
            <a:ext cx="7874000" cy="413568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91749" y="915790"/>
            <a:ext cx="4801373" cy="457895"/>
          </a:xfrm>
          <a:prstGeom prst="rect">
            <a:avLst/>
          </a:prstGeom>
          <a:noFill/>
          <a:ln/>
        </p:spPr>
        <p:txBody>
          <a:bodyPr wrap="none" lIns="0" tIns="0" rIns="0" bIns="0" rtlCol="0" anchor="t"/>
          <a:lstStyle/>
          <a:p>
            <a:pPr marL="0" indent="0" algn="l">
              <a:lnSpc>
                <a:spcPct val="104000"/>
              </a:lnSpc>
              <a:buNone/>
            </a:pPr>
            <a:r>
              <a:rPr lang="en-US" sz="2850" dirty="0">
                <a:solidFill>
                  <a:srgbClr val="76B9FF"/>
                </a:solidFill>
                <a:latin typeface="Roboto Slab" pitchFamily="34" charset="0"/>
                <a:ea typeface="Roboto Slab" pitchFamily="34" charset="-122"/>
                <a:cs typeface="Roboto Slab" pitchFamily="34" charset="-120"/>
              </a:rPr>
              <a:t>End-to-End Traffic Flow</a:t>
            </a:r>
            <a:endParaRPr lang="en-US" sz="2850" dirty="0"/>
          </a:p>
        </p:txBody>
      </p:sp>
      <p:sp>
        <p:nvSpPr>
          <p:cNvPr id="3" name="Text 1"/>
          <p:cNvSpPr/>
          <p:nvPr/>
        </p:nvSpPr>
        <p:spPr>
          <a:xfrm>
            <a:off x="746503" y="1175345"/>
            <a:ext cx="10698689" cy="809129"/>
          </a:xfrm>
          <a:prstGeom prst="rect">
            <a:avLst/>
          </a:prstGeom>
          <a:noFill/>
          <a:ln/>
        </p:spPr>
        <p:txBody>
          <a:bodyPr wrap="square" lIns="0" tIns="0" rIns="0" bIns="0" rtlCol="0" anchor="t"/>
          <a:lstStyle/>
          <a:p>
            <a:pPr marL="0" indent="0" algn="l">
              <a:lnSpc>
                <a:spcPct val="126000"/>
              </a:lnSpc>
              <a:buNone/>
            </a:pPr>
            <a:endParaRPr lang="en-US" sz="1150" dirty="0"/>
          </a:p>
        </p:txBody>
      </p:sp>
      <p:pic>
        <p:nvPicPr>
          <p:cNvPr id="4" name="Image 0" descr="preencoded.png"/>
          <p:cNvPicPr>
            <a:picLocks noChangeAspect="1"/>
          </p:cNvPicPr>
          <p:nvPr/>
        </p:nvPicPr>
        <p:blipFill>
          <a:blip r:embed="rId3"/>
          <a:stretch>
            <a:fillRect/>
          </a:stretch>
        </p:blipFill>
        <p:spPr>
          <a:xfrm>
            <a:off x="691749" y="2470230"/>
            <a:ext cx="10808195" cy="3212425"/>
          </a:xfrm>
          <a:prstGeom prst="rect">
            <a:avLst/>
          </a:prstGeom>
        </p:spPr>
      </p:pic>
      <p:sp>
        <p:nvSpPr>
          <p:cNvPr id="5" name="Text 2"/>
          <p:cNvSpPr/>
          <p:nvPr/>
        </p:nvSpPr>
        <p:spPr>
          <a:xfrm>
            <a:off x="746503" y="5138241"/>
            <a:ext cx="11308273" cy="221059"/>
          </a:xfrm>
          <a:prstGeom prst="rect">
            <a:avLst/>
          </a:prstGeom>
          <a:noFill/>
          <a:ln/>
        </p:spPr>
        <p:txBody>
          <a:bodyPr wrap="none" lIns="0" tIns="0" rIns="0" bIns="0" rtlCol="0" anchor="t"/>
          <a:lstStyle/>
          <a:p>
            <a:pPr marL="0" indent="0" algn="l">
              <a:lnSpc>
                <a:spcPct val="126000"/>
              </a:lnSpc>
              <a:buNone/>
            </a:pP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574" y="1013481"/>
            <a:ext cx="8042768" cy="516731"/>
          </a:xfrm>
          <a:prstGeom prst="rect">
            <a:avLst/>
          </a:prstGeom>
          <a:noFill/>
          <a:ln/>
        </p:spPr>
        <p:txBody>
          <a:bodyPr wrap="none" lIns="0" tIns="0" rIns="0" bIns="0" rtlCol="0" anchor="t"/>
          <a:lstStyle/>
          <a:p>
            <a:pPr marL="0" indent="0" algn="l">
              <a:lnSpc>
                <a:spcPct val="104000"/>
              </a:lnSpc>
              <a:buNone/>
            </a:pPr>
            <a:r>
              <a:rPr lang="en-US" sz="3250" dirty="0">
                <a:solidFill>
                  <a:srgbClr val="76B9FF"/>
                </a:solidFill>
                <a:latin typeface="Roboto Slab" pitchFamily="34" charset="0"/>
                <a:ea typeface="Roboto Slab" pitchFamily="34" charset="-122"/>
                <a:cs typeface="Roboto Slab" pitchFamily="34" charset="-120"/>
              </a:rPr>
              <a:t>Infrastructure as Code with Terraform</a:t>
            </a:r>
            <a:endParaRPr lang="en-US" sz="3250" dirty="0"/>
          </a:p>
        </p:txBody>
      </p:sp>
      <p:sp>
        <p:nvSpPr>
          <p:cNvPr id="3" name="Text 1"/>
          <p:cNvSpPr/>
          <p:nvPr/>
        </p:nvSpPr>
        <p:spPr>
          <a:xfrm>
            <a:off x="661574" y="2440350"/>
            <a:ext cx="4663959" cy="3087489"/>
          </a:xfrm>
          <a:prstGeom prst="rect">
            <a:avLst/>
          </a:prstGeom>
          <a:noFill/>
          <a:ln/>
        </p:spPr>
        <p:txBody>
          <a:bodyPr wrap="square" lIns="0" tIns="0" rIns="0" bIns="0" rtlCol="0" anchor="t">
            <a:normAutofit/>
          </a:bodyPr>
          <a:lstStyle/>
          <a:p>
            <a:pPr marL="285750" indent="-285750" algn="l">
              <a:lnSpc>
                <a:spcPct val="133000"/>
              </a:lnSpc>
              <a:buFont typeface="Arial" panose="020B0604020202020204" pitchFamily="34" charset="0"/>
              <a:buChar char="•"/>
            </a:pPr>
            <a:r>
              <a:rPr lang="en-US" sz="1300" dirty="0">
                <a:solidFill>
                  <a:srgbClr val="D6E5EF"/>
                </a:solidFill>
                <a:latin typeface="Roboto" pitchFamily="34" charset="0"/>
                <a:ea typeface="Roboto" pitchFamily="34" charset="-122"/>
                <a:cs typeface="Roboto" pitchFamily="34" charset="-120"/>
              </a:rPr>
              <a:t>Terraform serves as the single source of truth for all MediShift Azure resources. </a:t>
            </a:r>
          </a:p>
          <a:p>
            <a:pPr algn="l">
              <a:lnSpc>
                <a:spcPct val="133000"/>
              </a:lnSpc>
            </a:pPr>
            <a:endParaRPr lang="en-US" sz="1300" dirty="0">
              <a:solidFill>
                <a:srgbClr val="D6E5EF"/>
              </a:solidFill>
              <a:latin typeface="Roboto" pitchFamily="34" charset="0"/>
              <a:ea typeface="Roboto" pitchFamily="34" charset="-122"/>
              <a:cs typeface="Roboto" pitchFamily="34" charset="-120"/>
            </a:endParaRPr>
          </a:p>
          <a:p>
            <a:pPr marL="285750" indent="-285750" algn="l">
              <a:lnSpc>
                <a:spcPct val="133000"/>
              </a:lnSpc>
              <a:buFont typeface="Arial" panose="020B0604020202020204" pitchFamily="34" charset="0"/>
              <a:buChar char="•"/>
            </a:pPr>
            <a:r>
              <a:rPr lang="en-US" sz="1300" dirty="0">
                <a:solidFill>
                  <a:srgbClr val="D6E5EF"/>
                </a:solidFill>
                <a:latin typeface="Roboto" pitchFamily="34" charset="0"/>
                <a:ea typeface="Roboto" pitchFamily="34" charset="-122"/>
                <a:cs typeface="Roboto" pitchFamily="34" charset="-120"/>
              </a:rPr>
              <a:t>The declarative lifecycle ensures reproducible, auditable infrastructure across every environment — from initial provisioning through to controlled teardown.</a:t>
            </a:r>
            <a:endParaRPr lang="en-US" sz="1300" dirty="0"/>
          </a:p>
        </p:txBody>
      </p:sp>
      <p:sp>
        <p:nvSpPr>
          <p:cNvPr id="14" name="Text 8"/>
          <p:cNvSpPr/>
          <p:nvPr/>
        </p:nvSpPr>
        <p:spPr>
          <a:xfrm>
            <a:off x="3883722" y="4811216"/>
            <a:ext cx="2154184" cy="258465"/>
          </a:xfrm>
          <a:prstGeom prst="rect">
            <a:avLst/>
          </a:prstGeom>
          <a:noFill/>
          <a:ln/>
        </p:spPr>
        <p:txBody>
          <a:bodyPr wrap="none" lIns="0" tIns="0" rIns="0" bIns="0" rtlCol="0" anchor="t"/>
          <a:lstStyle/>
          <a:p>
            <a:pPr marL="0" indent="0" algn="l">
              <a:lnSpc>
                <a:spcPct val="104000"/>
              </a:lnSpc>
              <a:buNone/>
            </a:pPr>
            <a:endParaRPr lang="en-US" sz="1600" dirty="0"/>
          </a:p>
        </p:txBody>
      </p:sp>
      <p:sp>
        <p:nvSpPr>
          <p:cNvPr id="15" name="Text 9"/>
          <p:cNvSpPr/>
          <p:nvPr/>
        </p:nvSpPr>
        <p:spPr>
          <a:xfrm>
            <a:off x="3883722" y="5234980"/>
            <a:ext cx="2389624" cy="264616"/>
          </a:xfrm>
          <a:prstGeom prst="rect">
            <a:avLst/>
          </a:prstGeom>
          <a:noFill/>
          <a:ln/>
        </p:spPr>
        <p:txBody>
          <a:bodyPr wrap="none" lIns="0" tIns="0" rIns="0" bIns="0" rtlCol="0" anchor="t"/>
          <a:lstStyle/>
          <a:p>
            <a:pPr marL="0" indent="0" algn="l">
              <a:lnSpc>
                <a:spcPct val="133000"/>
              </a:lnSpc>
              <a:buNone/>
            </a:pPr>
            <a:endParaRPr lang="en-US" sz="1300" dirty="0"/>
          </a:p>
        </p:txBody>
      </p:sp>
      <p:sp>
        <p:nvSpPr>
          <p:cNvPr id="16" name="Shape 10"/>
          <p:cNvSpPr/>
          <p:nvPr/>
        </p:nvSpPr>
        <p:spPr>
          <a:xfrm>
            <a:off x="6457689" y="1813925"/>
            <a:ext cx="4907038" cy="4402461"/>
          </a:xfrm>
          <a:prstGeom prst="roundRect">
            <a:avLst>
              <a:gd name="adj" fmla="val 534"/>
            </a:avLst>
          </a:prstGeom>
          <a:solidFill>
            <a:srgbClr val="202733"/>
          </a:solidFill>
          <a:ln/>
        </p:spPr>
        <p:txBody>
          <a:bodyPr/>
          <a:lstStyle/>
          <a:p>
            <a:endParaRPr lang="en-IN" dirty="0"/>
          </a:p>
        </p:txBody>
      </p:sp>
      <p:sp>
        <p:nvSpPr>
          <p:cNvPr id="17" name="Text 11"/>
          <p:cNvSpPr/>
          <p:nvPr/>
        </p:nvSpPr>
        <p:spPr>
          <a:xfrm>
            <a:off x="6913687" y="1653381"/>
            <a:ext cx="2676954" cy="258465"/>
          </a:xfrm>
          <a:prstGeom prst="rect">
            <a:avLst/>
          </a:prstGeom>
          <a:noFill/>
          <a:ln/>
        </p:spPr>
        <p:txBody>
          <a:bodyPr wrap="none" lIns="0" tIns="0" rIns="0" bIns="0" rtlCol="0" anchor="t"/>
          <a:lstStyle/>
          <a:p>
            <a:pPr marL="0" indent="0" algn="l">
              <a:lnSpc>
                <a:spcPct val="104000"/>
              </a:lnSpc>
              <a:buNone/>
            </a:pPr>
            <a:endParaRPr lang="en-US" sz="1600" dirty="0"/>
          </a:p>
        </p:txBody>
      </p:sp>
      <p:sp>
        <p:nvSpPr>
          <p:cNvPr id="20" name="Text 14"/>
          <p:cNvSpPr/>
          <p:nvPr/>
        </p:nvSpPr>
        <p:spPr>
          <a:xfrm>
            <a:off x="7112120" y="2263180"/>
            <a:ext cx="4179585" cy="1852315"/>
          </a:xfrm>
          <a:prstGeom prst="rect">
            <a:avLst/>
          </a:prstGeom>
          <a:noFill/>
          <a:ln/>
        </p:spPr>
        <p:txBody>
          <a:bodyPr wrap="square" lIns="0" tIns="0" rIns="0" bIns="0" rtlCol="0" anchor="t">
            <a:normAutofit/>
          </a:bodyPr>
          <a:lstStyle/>
          <a:p>
            <a:pPr marL="0" indent="0" algn="l">
              <a:lnSpc>
                <a:spcPct val="133000"/>
              </a:lnSpc>
              <a:buNone/>
            </a:pPr>
            <a:endParaRPr lang="en-US" sz="1300" dirty="0"/>
          </a:p>
        </p:txBody>
      </p:sp>
      <p:sp>
        <p:nvSpPr>
          <p:cNvPr id="21" name="Text 15"/>
          <p:cNvSpPr/>
          <p:nvPr/>
        </p:nvSpPr>
        <p:spPr>
          <a:xfrm>
            <a:off x="6913687" y="4466828"/>
            <a:ext cx="4576450" cy="793849"/>
          </a:xfrm>
          <a:prstGeom prst="rect">
            <a:avLst/>
          </a:prstGeom>
          <a:noFill/>
          <a:ln/>
        </p:spPr>
        <p:txBody>
          <a:bodyPr wrap="square" lIns="0" tIns="0" rIns="0" bIns="0" rtlCol="0" anchor="t">
            <a:normAutofit/>
          </a:bodyPr>
          <a:lstStyle/>
          <a:p>
            <a:pPr marL="0" indent="0" algn="l">
              <a:lnSpc>
                <a:spcPct val="133000"/>
              </a:lnSpc>
              <a:buNone/>
            </a:pPr>
            <a:endParaRPr lang="en-US" sz="1300" dirty="0"/>
          </a:p>
        </p:txBody>
      </p:sp>
      <p:pic>
        <p:nvPicPr>
          <p:cNvPr id="23" name="Picture 22">
            <a:extLst>
              <a:ext uri="{FF2B5EF4-FFF2-40B4-BE49-F238E27FC236}">
                <a16:creationId xmlns:a16="http://schemas.microsoft.com/office/drawing/2014/main" id="{81CF51DA-A572-2B5F-F0F6-0CA9D80126EE}"/>
              </a:ext>
            </a:extLst>
          </p:cNvPr>
          <p:cNvPicPr>
            <a:picLocks noChangeAspect="1"/>
          </p:cNvPicPr>
          <p:nvPr/>
        </p:nvPicPr>
        <p:blipFill>
          <a:blip r:embed="rId3"/>
          <a:stretch>
            <a:fillRect/>
          </a:stretch>
        </p:blipFill>
        <p:spPr>
          <a:xfrm>
            <a:off x="6729344" y="1935951"/>
            <a:ext cx="1757516" cy="4158408"/>
          </a:xfrm>
          <a:prstGeom prst="rect">
            <a:avLst/>
          </a:prstGeom>
        </p:spPr>
      </p:pic>
      <p:pic>
        <p:nvPicPr>
          <p:cNvPr id="25" name="Picture 24">
            <a:extLst>
              <a:ext uri="{FF2B5EF4-FFF2-40B4-BE49-F238E27FC236}">
                <a16:creationId xmlns:a16="http://schemas.microsoft.com/office/drawing/2014/main" id="{8EF67283-2E09-20ED-77FB-12DE53673B3E}"/>
              </a:ext>
            </a:extLst>
          </p:cNvPr>
          <p:cNvPicPr>
            <a:picLocks noChangeAspect="1"/>
          </p:cNvPicPr>
          <p:nvPr/>
        </p:nvPicPr>
        <p:blipFill>
          <a:blip r:embed="rId4"/>
          <a:stretch>
            <a:fillRect/>
          </a:stretch>
        </p:blipFill>
        <p:spPr>
          <a:xfrm>
            <a:off x="9033664" y="1935951"/>
            <a:ext cx="1879506" cy="415840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574" y="954286"/>
            <a:ext cx="5910710" cy="490934"/>
          </a:xfrm>
          <a:prstGeom prst="rect">
            <a:avLst/>
          </a:prstGeom>
          <a:noFill/>
          <a:ln/>
        </p:spPr>
        <p:txBody>
          <a:bodyPr wrap="none" lIns="0" tIns="0" rIns="0" bIns="0" rtlCol="0" anchor="t"/>
          <a:lstStyle/>
          <a:p>
            <a:pPr marL="0" indent="0" algn="l">
              <a:lnSpc>
                <a:spcPct val="104000"/>
              </a:lnSpc>
              <a:buNone/>
            </a:pPr>
            <a:r>
              <a:rPr lang="en-US" sz="3050" dirty="0">
                <a:solidFill>
                  <a:srgbClr val="76B9FF"/>
                </a:solidFill>
                <a:latin typeface="Roboto Slab" pitchFamily="34" charset="0"/>
                <a:ea typeface="Roboto Slab" pitchFamily="34" charset="-122"/>
                <a:cs typeface="Roboto Slab" pitchFamily="34" charset="-120"/>
              </a:rPr>
              <a:t>Environment Configurations</a:t>
            </a:r>
            <a:endParaRPr lang="en-US" sz="3050" dirty="0"/>
          </a:p>
        </p:txBody>
      </p:sp>
      <p:sp>
        <p:nvSpPr>
          <p:cNvPr id="3" name="Shape 1"/>
          <p:cNvSpPr/>
          <p:nvPr/>
        </p:nvSpPr>
        <p:spPr>
          <a:xfrm>
            <a:off x="661574" y="1743670"/>
            <a:ext cx="908027" cy="303014"/>
          </a:xfrm>
          <a:prstGeom prst="roundRect">
            <a:avLst>
              <a:gd name="adj" fmla="val 6222"/>
            </a:avLst>
          </a:prstGeom>
          <a:noFill/>
          <a:ln w="6350">
            <a:solidFill>
              <a:srgbClr val="66A8EE"/>
            </a:solidFill>
            <a:prstDash val="solid"/>
          </a:ln>
        </p:spPr>
        <p:txBody>
          <a:bodyPr/>
          <a:lstStyle/>
          <a:p>
            <a:endParaRPr lang="en-IN"/>
          </a:p>
        </p:txBody>
      </p:sp>
      <p:sp>
        <p:nvSpPr>
          <p:cNvPr id="4" name="Text 2"/>
          <p:cNvSpPr/>
          <p:nvPr/>
        </p:nvSpPr>
        <p:spPr>
          <a:xfrm>
            <a:off x="762179" y="1797149"/>
            <a:ext cx="1316401" cy="196056"/>
          </a:xfrm>
          <a:prstGeom prst="rect">
            <a:avLst/>
          </a:prstGeom>
          <a:noFill/>
          <a:ln/>
        </p:spPr>
        <p:txBody>
          <a:bodyPr wrap="none" lIns="0" tIns="0" rIns="0" bIns="0" rtlCol="0" anchor="t"/>
          <a:lstStyle/>
          <a:p>
            <a:pPr marL="0" indent="0" algn="l">
              <a:lnSpc>
                <a:spcPct val="130000"/>
              </a:lnSpc>
              <a:buNone/>
            </a:pPr>
            <a:r>
              <a:rPr lang="en-US" sz="950" dirty="0">
                <a:solidFill>
                  <a:srgbClr val="66A8EE"/>
                </a:solidFill>
                <a:latin typeface="Roboto" pitchFamily="34" charset="0"/>
                <a:ea typeface="Roboto" pitchFamily="34" charset="-122"/>
                <a:cs typeface="Roboto" pitchFamily="34" charset="-120"/>
              </a:rPr>
              <a:t>DEV.TFVARS</a:t>
            </a:r>
            <a:endParaRPr lang="en-US" sz="950" dirty="0"/>
          </a:p>
        </p:txBody>
      </p:sp>
      <p:sp>
        <p:nvSpPr>
          <p:cNvPr id="5" name="Shape 3"/>
          <p:cNvSpPr/>
          <p:nvPr/>
        </p:nvSpPr>
        <p:spPr>
          <a:xfrm>
            <a:off x="1648081" y="1743670"/>
            <a:ext cx="1007244" cy="303014"/>
          </a:xfrm>
          <a:prstGeom prst="roundRect">
            <a:avLst>
              <a:gd name="adj" fmla="val 6222"/>
            </a:avLst>
          </a:prstGeom>
          <a:noFill/>
          <a:ln w="6350">
            <a:solidFill>
              <a:srgbClr val="66A8EE"/>
            </a:solidFill>
            <a:prstDash val="solid"/>
          </a:ln>
        </p:spPr>
        <p:txBody>
          <a:bodyPr/>
          <a:lstStyle/>
          <a:p>
            <a:endParaRPr lang="en-IN"/>
          </a:p>
        </p:txBody>
      </p:sp>
      <p:sp>
        <p:nvSpPr>
          <p:cNvPr id="6" name="Text 4"/>
          <p:cNvSpPr/>
          <p:nvPr/>
        </p:nvSpPr>
        <p:spPr>
          <a:xfrm>
            <a:off x="1748687" y="1797149"/>
            <a:ext cx="1415618" cy="196056"/>
          </a:xfrm>
          <a:prstGeom prst="rect">
            <a:avLst/>
          </a:prstGeom>
          <a:noFill/>
          <a:ln/>
        </p:spPr>
        <p:txBody>
          <a:bodyPr wrap="none" lIns="0" tIns="0" rIns="0" bIns="0" rtlCol="0" anchor="t"/>
          <a:lstStyle/>
          <a:p>
            <a:pPr marL="0" indent="0" algn="l">
              <a:lnSpc>
                <a:spcPct val="130000"/>
              </a:lnSpc>
              <a:buNone/>
            </a:pPr>
            <a:r>
              <a:rPr lang="en-US" sz="950" dirty="0">
                <a:solidFill>
                  <a:srgbClr val="66A8EE"/>
                </a:solidFill>
                <a:latin typeface="Roboto" pitchFamily="34" charset="0"/>
                <a:ea typeface="Roboto" pitchFamily="34" charset="-122"/>
                <a:cs typeface="Roboto" pitchFamily="34" charset="-120"/>
              </a:rPr>
              <a:t>PROD.TFVARS</a:t>
            </a:r>
            <a:endParaRPr lang="en-US" sz="950" dirty="0"/>
          </a:p>
        </p:txBody>
      </p:sp>
      <p:sp>
        <p:nvSpPr>
          <p:cNvPr id="7" name="Text 5"/>
          <p:cNvSpPr/>
          <p:nvPr/>
        </p:nvSpPr>
        <p:spPr>
          <a:xfrm>
            <a:off x="661574" y="2214562"/>
            <a:ext cx="10868547" cy="49668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D6E5EF"/>
                </a:solidFill>
                <a:latin typeface="Roboto" pitchFamily="34" charset="0"/>
                <a:ea typeface="Roboto" pitchFamily="34" charset="-122"/>
                <a:cs typeface="Roboto" pitchFamily="34" charset="-120"/>
              </a:rPr>
              <a:t>Environment-specific </a:t>
            </a:r>
            <a:r>
              <a:rPr lang="en-US" sz="1200" dirty="0">
                <a:solidFill>
                  <a:srgbClr val="D6E5EF"/>
                </a:solidFill>
                <a:highlight>
                  <a:srgbClr val="2D3440"/>
                </a:highlight>
                <a:latin typeface="Consolas" pitchFamily="34" charset="0"/>
                <a:ea typeface="Consolas" pitchFamily="34" charset="-122"/>
                <a:cs typeface="Consolas" pitchFamily="34" charset="-120"/>
              </a:rPr>
              <a:t>.tfvars</a:t>
            </a:r>
            <a:r>
              <a:rPr lang="en-US" sz="1200" dirty="0">
                <a:solidFill>
                  <a:srgbClr val="D6E5EF"/>
                </a:solidFill>
                <a:latin typeface="Roboto" pitchFamily="34" charset="0"/>
                <a:ea typeface="Roboto" pitchFamily="34" charset="-122"/>
                <a:cs typeface="Roboto" pitchFamily="34" charset="-120"/>
              </a:rPr>
              <a:t> files encode the cost-to-reliability trade-off between development and production. The same Terraform configuration is applied to both environments — only the variable values differ, ensuring consistency while allowing targeted optimisation.</a:t>
            </a:r>
            <a:endParaRPr lang="en-US" sz="1200" dirty="0"/>
          </a:p>
        </p:txBody>
      </p:sp>
      <p:sp>
        <p:nvSpPr>
          <p:cNvPr id="8" name="Shape 6"/>
          <p:cNvSpPr/>
          <p:nvPr/>
        </p:nvSpPr>
        <p:spPr>
          <a:xfrm>
            <a:off x="661574" y="2879130"/>
            <a:ext cx="10868547" cy="2090142"/>
          </a:xfrm>
          <a:prstGeom prst="roundRect">
            <a:avLst>
              <a:gd name="adj" fmla="val 1128"/>
            </a:avLst>
          </a:prstGeom>
          <a:solidFill>
            <a:srgbClr val="3F4652"/>
          </a:solidFill>
          <a:ln/>
        </p:spPr>
        <p:txBody>
          <a:bodyPr/>
          <a:lstStyle/>
          <a:p>
            <a:endParaRPr lang="en-IN"/>
          </a:p>
        </p:txBody>
      </p:sp>
      <p:sp>
        <p:nvSpPr>
          <p:cNvPr id="9" name="Shape 7"/>
          <p:cNvSpPr/>
          <p:nvPr/>
        </p:nvSpPr>
        <p:spPr>
          <a:xfrm>
            <a:off x="661574" y="2879130"/>
            <a:ext cx="5434273" cy="2090142"/>
          </a:xfrm>
          <a:prstGeom prst="rect">
            <a:avLst/>
          </a:prstGeom>
          <a:solidFill>
            <a:srgbClr val="3F4652"/>
          </a:solidFill>
          <a:ln/>
        </p:spPr>
        <p:txBody>
          <a:bodyPr/>
          <a:lstStyle/>
          <a:p>
            <a:endParaRPr lang="en-IN"/>
          </a:p>
        </p:txBody>
      </p:sp>
      <p:sp>
        <p:nvSpPr>
          <p:cNvPr id="10" name="Text 8"/>
          <p:cNvSpPr/>
          <p:nvPr/>
        </p:nvSpPr>
        <p:spPr>
          <a:xfrm>
            <a:off x="818633" y="3036193"/>
            <a:ext cx="3639550" cy="245566"/>
          </a:xfrm>
          <a:prstGeom prst="rect">
            <a:avLst/>
          </a:prstGeom>
          <a:noFill/>
          <a:ln/>
        </p:spPr>
        <p:txBody>
          <a:bodyPr wrap="none" lIns="0" tIns="0" rIns="0" bIns="0" rtlCol="0" anchor="t"/>
          <a:lstStyle/>
          <a:p>
            <a:pPr marL="0" indent="0" algn="l">
              <a:lnSpc>
                <a:spcPct val="104000"/>
              </a:lnSpc>
              <a:buNone/>
            </a:pPr>
            <a:r>
              <a:rPr lang="en-US" sz="1500" dirty="0">
                <a:solidFill>
                  <a:srgbClr val="D6E5EF"/>
                </a:solidFill>
                <a:latin typeface="Roboto Slab" pitchFamily="34" charset="0"/>
                <a:ea typeface="Roboto Slab" pitchFamily="34" charset="-122"/>
                <a:cs typeface="Roboto Slab" pitchFamily="34" charset="-120"/>
              </a:rPr>
              <a:t>dev.tfvars — Cost-Optimised / Burstable</a:t>
            </a:r>
            <a:endParaRPr lang="en-US" sz="1500" dirty="0"/>
          </a:p>
        </p:txBody>
      </p:sp>
      <p:sp>
        <p:nvSpPr>
          <p:cNvPr id="11" name="Text 9"/>
          <p:cNvSpPr/>
          <p:nvPr/>
        </p:nvSpPr>
        <p:spPr>
          <a:xfrm>
            <a:off x="818633" y="3371255"/>
            <a:ext cx="5120155" cy="1440954"/>
          </a:xfrm>
          <a:prstGeom prst="rect">
            <a:avLst/>
          </a:prstGeom>
          <a:noFill/>
          <a:ln/>
        </p:spPr>
        <p:txBody>
          <a:bodyPr wrap="square" lIns="0" tIns="0" rIns="0" bIns="0" rtlCol="0" anchor="t">
            <a:normAutofit/>
          </a:bodyPr>
          <a:lstStyle/>
          <a:p>
            <a:pPr marL="342900" indent="-342900" algn="l">
              <a:lnSpc>
                <a:spcPct val="130000"/>
              </a:lnSpc>
              <a:buSzPct val="100000"/>
              <a:buChar char="•"/>
            </a:pPr>
            <a:r>
              <a:rPr lang="en-US" sz="1200" b="1" dirty="0">
                <a:solidFill>
                  <a:srgbClr val="D6E5EF"/>
                </a:solidFill>
                <a:latin typeface="Roboto" pitchFamily="34" charset="0"/>
                <a:ea typeface="Roboto" pitchFamily="34" charset="-122"/>
                <a:cs typeface="Roboto" pitchFamily="34" charset="-120"/>
              </a:rPr>
              <a:t>VM SKU:</a:t>
            </a:r>
            <a:r>
              <a:rPr lang="en-US" sz="1200" dirty="0">
                <a:solidFill>
                  <a:srgbClr val="D6E5EF"/>
                </a:solidFill>
                <a:latin typeface="Roboto" pitchFamily="34" charset="0"/>
                <a:ea typeface="Roboto" pitchFamily="34" charset="-122"/>
                <a:cs typeface="Roboto" pitchFamily="34" charset="-120"/>
              </a:rPr>
              <a:t> </a:t>
            </a:r>
            <a:r>
              <a:rPr lang="en-US" sz="1200" dirty="0">
                <a:solidFill>
                  <a:srgbClr val="D6E5EF"/>
                </a:solidFill>
                <a:highlight>
                  <a:srgbClr val="2D3440"/>
                </a:highlight>
                <a:latin typeface="Consolas" pitchFamily="34" charset="0"/>
                <a:ea typeface="Consolas" pitchFamily="34" charset="-122"/>
                <a:cs typeface="Consolas" pitchFamily="34" charset="-120"/>
              </a:rPr>
              <a:t>B_Standard_B2s</a:t>
            </a:r>
            <a:r>
              <a:rPr lang="en-US" sz="1200" dirty="0">
                <a:solidFill>
                  <a:srgbClr val="D6E5EF"/>
                </a:solidFill>
                <a:latin typeface="Roboto" pitchFamily="34" charset="0"/>
                <a:ea typeface="Roboto" pitchFamily="34" charset="-122"/>
                <a:cs typeface="Roboto" pitchFamily="34" charset="-120"/>
              </a:rPr>
              <a:t> (burstable, low-cost)</a:t>
            </a:r>
            <a:endParaRPr lang="en-US" sz="1200" dirty="0"/>
          </a:p>
          <a:p>
            <a:pPr marL="342900" indent="-342900" algn="l">
              <a:lnSpc>
                <a:spcPct val="130000"/>
              </a:lnSpc>
              <a:buSzPct val="100000"/>
              <a:buChar char="•"/>
            </a:pPr>
            <a:r>
              <a:rPr lang="en-US" sz="1200" b="1" dirty="0">
                <a:solidFill>
                  <a:srgbClr val="D6E5EF"/>
                </a:solidFill>
                <a:latin typeface="Roboto" pitchFamily="34" charset="0"/>
                <a:ea typeface="Roboto" pitchFamily="34" charset="-122"/>
                <a:cs typeface="Roboto" pitchFamily="34" charset="-120"/>
              </a:rPr>
              <a:t>PostgreSQL:</a:t>
            </a:r>
            <a:r>
              <a:rPr lang="en-US" sz="1200" dirty="0">
                <a:solidFill>
                  <a:srgbClr val="D6E5EF"/>
                </a:solidFill>
                <a:latin typeface="Roboto" pitchFamily="34" charset="0"/>
                <a:ea typeface="Roboto" pitchFamily="34" charset="-122"/>
                <a:cs typeface="Roboto" pitchFamily="34" charset="-120"/>
              </a:rPr>
              <a:t> Burstable SKU, single-zone</a:t>
            </a:r>
            <a:endParaRPr lang="en-US" sz="1200" dirty="0"/>
          </a:p>
          <a:p>
            <a:pPr marL="342900" indent="-342900" algn="l">
              <a:lnSpc>
                <a:spcPct val="130000"/>
              </a:lnSpc>
              <a:buSzPct val="100000"/>
              <a:buChar char="•"/>
            </a:pPr>
            <a:r>
              <a:rPr lang="en-US" sz="1200" b="1" dirty="0">
                <a:solidFill>
                  <a:srgbClr val="D6E5EF"/>
                </a:solidFill>
                <a:latin typeface="Roboto" pitchFamily="34" charset="0"/>
                <a:ea typeface="Roboto" pitchFamily="34" charset="-122"/>
                <a:cs typeface="Roboto" pitchFamily="34" charset="-120"/>
              </a:rPr>
              <a:t>Storage:</a:t>
            </a:r>
            <a:r>
              <a:rPr lang="en-US" sz="1200" dirty="0">
                <a:solidFill>
                  <a:srgbClr val="D6E5EF"/>
                </a:solidFill>
                <a:latin typeface="Roboto" pitchFamily="34" charset="0"/>
                <a:ea typeface="Roboto" pitchFamily="34" charset="-122"/>
                <a:cs typeface="Roboto" pitchFamily="34" charset="-120"/>
              </a:rPr>
              <a:t> Locally Redundant Storage (LRS)</a:t>
            </a:r>
            <a:endParaRPr lang="en-US" sz="1200" dirty="0"/>
          </a:p>
          <a:p>
            <a:pPr marL="342900" indent="-342900" algn="l">
              <a:lnSpc>
                <a:spcPct val="130000"/>
              </a:lnSpc>
              <a:buSzPct val="100000"/>
              <a:buChar char="•"/>
            </a:pPr>
            <a:r>
              <a:rPr lang="en-US" sz="1200" b="1" dirty="0">
                <a:solidFill>
                  <a:srgbClr val="D6E5EF"/>
                </a:solidFill>
                <a:latin typeface="Roboto" pitchFamily="34" charset="0"/>
                <a:ea typeface="Roboto" pitchFamily="34" charset="-122"/>
                <a:cs typeface="Roboto" pitchFamily="34" charset="-120"/>
              </a:rPr>
              <a:t>ACR:</a:t>
            </a:r>
            <a:r>
              <a:rPr lang="en-US" sz="1200" dirty="0">
                <a:solidFill>
                  <a:srgbClr val="D6E5EF"/>
                </a:solidFill>
                <a:latin typeface="Roboto" pitchFamily="34" charset="0"/>
                <a:ea typeface="Roboto" pitchFamily="34" charset="-122"/>
                <a:cs typeface="Roboto" pitchFamily="34" charset="-120"/>
              </a:rPr>
              <a:t> Single-region, Basic tier</a:t>
            </a:r>
            <a:endParaRPr lang="en-US" sz="1200" dirty="0"/>
          </a:p>
          <a:p>
            <a:pPr marL="342900" indent="-342900" algn="l">
              <a:lnSpc>
                <a:spcPct val="130000"/>
              </a:lnSpc>
              <a:buSzPct val="100000"/>
              <a:buChar char="•"/>
            </a:pPr>
            <a:r>
              <a:rPr lang="en-US" sz="1200" b="1" dirty="0">
                <a:solidFill>
                  <a:srgbClr val="D6E5EF"/>
                </a:solidFill>
                <a:latin typeface="Roboto" pitchFamily="34" charset="0"/>
                <a:ea typeface="Roboto" pitchFamily="34" charset="-122"/>
                <a:cs typeface="Roboto" pitchFamily="34" charset="-120"/>
              </a:rPr>
              <a:t>AKS:</a:t>
            </a:r>
            <a:r>
              <a:rPr lang="en-US" sz="1200" dirty="0">
                <a:solidFill>
                  <a:srgbClr val="D6E5EF"/>
                </a:solidFill>
                <a:latin typeface="Roboto" pitchFamily="34" charset="0"/>
                <a:ea typeface="Roboto" pitchFamily="34" charset="-122"/>
                <a:cs typeface="Roboto" pitchFamily="34" charset="-120"/>
              </a:rPr>
              <a:t> Minimal node pool (1 node)</a:t>
            </a:r>
            <a:endParaRPr lang="en-US" sz="1200" dirty="0"/>
          </a:p>
        </p:txBody>
      </p:sp>
      <p:sp>
        <p:nvSpPr>
          <p:cNvPr id="12" name="Shape 10"/>
          <p:cNvSpPr/>
          <p:nvPr/>
        </p:nvSpPr>
        <p:spPr>
          <a:xfrm>
            <a:off x="6095848" y="2879130"/>
            <a:ext cx="5434273" cy="2090142"/>
          </a:xfrm>
          <a:prstGeom prst="rect">
            <a:avLst/>
          </a:prstGeom>
          <a:solidFill>
            <a:srgbClr val="3F4652"/>
          </a:solidFill>
          <a:ln/>
        </p:spPr>
        <p:txBody>
          <a:bodyPr/>
          <a:lstStyle/>
          <a:p>
            <a:endParaRPr lang="en-IN"/>
          </a:p>
        </p:txBody>
      </p:sp>
      <p:sp>
        <p:nvSpPr>
          <p:cNvPr id="13" name="Shape 11"/>
          <p:cNvSpPr/>
          <p:nvPr/>
        </p:nvSpPr>
        <p:spPr>
          <a:xfrm>
            <a:off x="6095848" y="2879130"/>
            <a:ext cx="19050" cy="2090142"/>
          </a:xfrm>
          <a:prstGeom prst="roundRect">
            <a:avLst>
              <a:gd name="adj" fmla="val 123718"/>
            </a:avLst>
          </a:prstGeom>
          <a:solidFill>
            <a:srgbClr val="585F6B"/>
          </a:solidFill>
          <a:ln/>
        </p:spPr>
        <p:txBody>
          <a:bodyPr/>
          <a:lstStyle/>
          <a:p>
            <a:endParaRPr lang="en-IN"/>
          </a:p>
        </p:txBody>
      </p:sp>
      <p:sp>
        <p:nvSpPr>
          <p:cNvPr id="14" name="Text 12"/>
          <p:cNvSpPr/>
          <p:nvPr/>
        </p:nvSpPr>
        <p:spPr>
          <a:xfrm>
            <a:off x="6252907" y="3036193"/>
            <a:ext cx="4034927" cy="245566"/>
          </a:xfrm>
          <a:prstGeom prst="rect">
            <a:avLst/>
          </a:prstGeom>
          <a:noFill/>
          <a:ln/>
        </p:spPr>
        <p:txBody>
          <a:bodyPr wrap="none" lIns="0" tIns="0" rIns="0" bIns="0" rtlCol="0" anchor="t"/>
          <a:lstStyle/>
          <a:p>
            <a:pPr marL="0" indent="0" algn="l">
              <a:lnSpc>
                <a:spcPct val="104000"/>
              </a:lnSpc>
              <a:buNone/>
            </a:pPr>
            <a:r>
              <a:rPr lang="en-US" sz="1500" dirty="0">
                <a:solidFill>
                  <a:srgbClr val="D6E5EF"/>
                </a:solidFill>
                <a:latin typeface="Roboto Slab" pitchFamily="34" charset="0"/>
                <a:ea typeface="Roboto Slab" pitchFamily="34" charset="-122"/>
                <a:cs typeface="Roboto Slab" pitchFamily="34" charset="-120"/>
              </a:rPr>
              <a:t>prod.tfvars — High Availability / Production</a:t>
            </a:r>
            <a:endParaRPr lang="en-US" sz="1500" dirty="0"/>
          </a:p>
        </p:txBody>
      </p:sp>
      <p:sp>
        <p:nvSpPr>
          <p:cNvPr id="15" name="Text 13"/>
          <p:cNvSpPr/>
          <p:nvPr/>
        </p:nvSpPr>
        <p:spPr>
          <a:xfrm>
            <a:off x="6252907" y="3371255"/>
            <a:ext cx="5120155" cy="1440954"/>
          </a:xfrm>
          <a:prstGeom prst="rect">
            <a:avLst/>
          </a:prstGeom>
          <a:noFill/>
          <a:ln/>
        </p:spPr>
        <p:txBody>
          <a:bodyPr wrap="square" lIns="0" tIns="0" rIns="0" bIns="0" rtlCol="0" anchor="t">
            <a:normAutofit/>
          </a:bodyPr>
          <a:lstStyle/>
          <a:p>
            <a:pPr marL="342900" indent="-342900" algn="l">
              <a:lnSpc>
                <a:spcPct val="130000"/>
              </a:lnSpc>
              <a:buSzPct val="100000"/>
              <a:buChar char="•"/>
            </a:pPr>
            <a:r>
              <a:rPr lang="en-US" sz="1200" b="1" dirty="0">
                <a:solidFill>
                  <a:srgbClr val="D6E5EF"/>
                </a:solidFill>
                <a:latin typeface="Roboto" pitchFamily="34" charset="0"/>
                <a:ea typeface="Roboto" pitchFamily="34" charset="-122"/>
                <a:cs typeface="Roboto" pitchFamily="34" charset="-120"/>
              </a:rPr>
              <a:t>VM SKU:</a:t>
            </a:r>
            <a:r>
              <a:rPr lang="en-US" sz="1200" dirty="0">
                <a:solidFill>
                  <a:srgbClr val="D6E5EF"/>
                </a:solidFill>
                <a:latin typeface="Roboto" pitchFamily="34" charset="0"/>
                <a:ea typeface="Roboto" pitchFamily="34" charset="-122"/>
                <a:cs typeface="Roboto" pitchFamily="34" charset="-120"/>
              </a:rPr>
              <a:t> Memory-Optimised (e.g., </a:t>
            </a:r>
            <a:r>
              <a:rPr lang="en-US" sz="1200" dirty="0">
                <a:solidFill>
                  <a:srgbClr val="D6E5EF"/>
                </a:solidFill>
                <a:highlight>
                  <a:srgbClr val="2D3440"/>
                </a:highlight>
                <a:latin typeface="Consolas" pitchFamily="34" charset="0"/>
                <a:ea typeface="Consolas" pitchFamily="34" charset="-122"/>
                <a:cs typeface="Consolas" pitchFamily="34" charset="-120"/>
              </a:rPr>
              <a:t>D4s_v3</a:t>
            </a:r>
            <a:r>
              <a:rPr lang="en-US" sz="1200" dirty="0">
                <a:solidFill>
                  <a:srgbClr val="D6E5EF"/>
                </a:solidFill>
                <a:latin typeface="Roboto" pitchFamily="34" charset="0"/>
                <a:ea typeface="Roboto" pitchFamily="34" charset="-122"/>
                <a:cs typeface="Roboto" pitchFamily="34" charset="-120"/>
              </a:rPr>
              <a:t>)</a:t>
            </a:r>
            <a:endParaRPr lang="en-US" sz="1200" dirty="0"/>
          </a:p>
          <a:p>
            <a:pPr marL="342900" indent="-342900" algn="l">
              <a:lnSpc>
                <a:spcPct val="130000"/>
              </a:lnSpc>
              <a:buSzPct val="100000"/>
              <a:buChar char="•"/>
            </a:pPr>
            <a:r>
              <a:rPr lang="en-US" sz="1200" b="1" dirty="0">
                <a:solidFill>
                  <a:srgbClr val="D6E5EF"/>
                </a:solidFill>
                <a:latin typeface="Roboto" pitchFamily="34" charset="0"/>
                <a:ea typeface="Roboto" pitchFamily="34" charset="-122"/>
                <a:cs typeface="Roboto" pitchFamily="34" charset="-120"/>
              </a:rPr>
              <a:t>PostgreSQL:</a:t>
            </a:r>
            <a:r>
              <a:rPr lang="en-US" sz="1200" dirty="0">
                <a:solidFill>
                  <a:srgbClr val="D6E5EF"/>
                </a:solidFill>
                <a:latin typeface="Roboto" pitchFamily="34" charset="0"/>
                <a:ea typeface="Roboto" pitchFamily="34" charset="-122"/>
                <a:cs typeface="Roboto" pitchFamily="34" charset="-120"/>
              </a:rPr>
              <a:t> GP SKU, Zone-Redundant</a:t>
            </a:r>
            <a:endParaRPr lang="en-US" sz="1200" dirty="0"/>
          </a:p>
          <a:p>
            <a:pPr marL="342900" indent="-342900" algn="l">
              <a:lnSpc>
                <a:spcPct val="130000"/>
              </a:lnSpc>
              <a:buSzPct val="100000"/>
              <a:buChar char="•"/>
            </a:pPr>
            <a:r>
              <a:rPr lang="en-US" sz="1200" b="1" dirty="0">
                <a:solidFill>
                  <a:srgbClr val="D6E5EF"/>
                </a:solidFill>
                <a:latin typeface="Roboto" pitchFamily="34" charset="0"/>
                <a:ea typeface="Roboto" pitchFamily="34" charset="-122"/>
                <a:cs typeface="Roboto" pitchFamily="34" charset="-120"/>
              </a:rPr>
              <a:t>Storage:</a:t>
            </a:r>
            <a:r>
              <a:rPr lang="en-US" sz="1200" dirty="0">
                <a:solidFill>
                  <a:srgbClr val="D6E5EF"/>
                </a:solidFill>
                <a:latin typeface="Roboto" pitchFamily="34" charset="0"/>
                <a:ea typeface="Roboto" pitchFamily="34" charset="-122"/>
                <a:cs typeface="Roboto" pitchFamily="34" charset="-120"/>
              </a:rPr>
              <a:t> Zone Redundant Storage (ZRS)</a:t>
            </a:r>
            <a:endParaRPr lang="en-US" sz="1200" dirty="0"/>
          </a:p>
          <a:p>
            <a:pPr marL="342900" indent="-342900" algn="l">
              <a:lnSpc>
                <a:spcPct val="130000"/>
              </a:lnSpc>
              <a:buSzPct val="100000"/>
              <a:buChar char="•"/>
            </a:pPr>
            <a:r>
              <a:rPr lang="en-US" sz="1200" b="1" dirty="0">
                <a:solidFill>
                  <a:srgbClr val="D6E5EF"/>
                </a:solidFill>
                <a:latin typeface="Roboto" pitchFamily="34" charset="0"/>
                <a:ea typeface="Roboto" pitchFamily="34" charset="-122"/>
                <a:cs typeface="Roboto" pitchFamily="34" charset="-120"/>
              </a:rPr>
              <a:t>ACR:</a:t>
            </a:r>
            <a:r>
              <a:rPr lang="en-US" sz="1200" dirty="0">
                <a:solidFill>
                  <a:srgbClr val="D6E5EF"/>
                </a:solidFill>
                <a:latin typeface="Roboto" pitchFamily="34" charset="0"/>
                <a:ea typeface="Roboto" pitchFamily="34" charset="-122"/>
                <a:cs typeface="Roboto" pitchFamily="34" charset="-120"/>
              </a:rPr>
              <a:t> Geo-replicated, Premium tier</a:t>
            </a:r>
            <a:endParaRPr lang="en-US" sz="1200" dirty="0"/>
          </a:p>
          <a:p>
            <a:pPr marL="342900" indent="-342900" algn="l">
              <a:lnSpc>
                <a:spcPct val="130000"/>
              </a:lnSpc>
              <a:buSzPct val="100000"/>
              <a:buChar char="•"/>
            </a:pPr>
            <a:r>
              <a:rPr lang="en-US" sz="1200" b="1" dirty="0">
                <a:solidFill>
                  <a:srgbClr val="D6E5EF"/>
                </a:solidFill>
                <a:latin typeface="Roboto" pitchFamily="34" charset="0"/>
                <a:ea typeface="Roboto" pitchFamily="34" charset="-122"/>
                <a:cs typeface="Roboto" pitchFamily="34" charset="-120"/>
              </a:rPr>
              <a:t>AKS:</a:t>
            </a:r>
            <a:r>
              <a:rPr lang="en-US" sz="1200" dirty="0">
                <a:solidFill>
                  <a:srgbClr val="D6E5EF"/>
                </a:solidFill>
                <a:latin typeface="Roboto" pitchFamily="34" charset="0"/>
                <a:ea typeface="Roboto" pitchFamily="34" charset="-122"/>
                <a:cs typeface="Roboto" pitchFamily="34" charset="-120"/>
              </a:rPr>
              <a:t> Multi-node pool with autoscaling</a:t>
            </a:r>
            <a:endParaRPr lang="en-US" sz="1200" dirty="0"/>
          </a:p>
        </p:txBody>
      </p:sp>
      <p:sp>
        <p:nvSpPr>
          <p:cNvPr id="16" name="Shape 14"/>
          <p:cNvSpPr/>
          <p:nvPr/>
        </p:nvSpPr>
        <p:spPr>
          <a:xfrm>
            <a:off x="661574" y="5137150"/>
            <a:ext cx="10868547" cy="598587"/>
          </a:xfrm>
          <a:prstGeom prst="roundRect">
            <a:avLst>
              <a:gd name="adj" fmla="val 3937"/>
            </a:avLst>
          </a:prstGeom>
          <a:solidFill>
            <a:srgbClr val="082545"/>
          </a:solidFill>
          <a:ln/>
        </p:spPr>
        <p:txBody>
          <a:bodyPr/>
          <a:lstStyle/>
          <a:p>
            <a:endParaRPr lang="en-IN"/>
          </a:p>
        </p:txBody>
      </p:sp>
      <p:pic>
        <p:nvPicPr>
          <p:cNvPr id="17" name="Image 0" descr="preencoded.png"/>
          <p:cNvPicPr>
            <a:picLocks noChangeAspect="1"/>
          </p:cNvPicPr>
          <p:nvPr/>
        </p:nvPicPr>
        <p:blipFill>
          <a:blip r:embed="rId3"/>
          <a:stretch>
            <a:fillRect/>
          </a:stretch>
        </p:blipFill>
        <p:spPr>
          <a:xfrm>
            <a:off x="818633" y="5360987"/>
            <a:ext cx="196349" cy="157063"/>
          </a:xfrm>
          <a:prstGeom prst="rect">
            <a:avLst/>
          </a:prstGeom>
        </p:spPr>
      </p:pic>
      <p:sp>
        <p:nvSpPr>
          <p:cNvPr id="18" name="Text 15"/>
          <p:cNvSpPr/>
          <p:nvPr/>
        </p:nvSpPr>
        <p:spPr>
          <a:xfrm>
            <a:off x="1172042" y="5310684"/>
            <a:ext cx="10810605" cy="251520"/>
          </a:xfrm>
          <a:prstGeom prst="rect">
            <a:avLst/>
          </a:prstGeom>
          <a:noFill/>
          <a:ln/>
        </p:spPr>
        <p:txBody>
          <a:bodyPr wrap="none" lIns="0" tIns="0" rIns="0" bIns="0" rtlCol="0" anchor="t"/>
          <a:lstStyle/>
          <a:p>
            <a:pPr marL="0" indent="0" algn="l">
              <a:lnSpc>
                <a:spcPct val="130000"/>
              </a:lnSpc>
              <a:buNone/>
            </a:pPr>
            <a:r>
              <a:rPr lang="en-US" sz="1200" dirty="0">
                <a:solidFill>
                  <a:srgbClr val="FFFFFF"/>
                </a:solidFill>
                <a:latin typeface="Roboto" pitchFamily="34" charset="0"/>
                <a:ea typeface="Roboto" pitchFamily="34" charset="-122"/>
                <a:cs typeface="Roboto" pitchFamily="34" charset="-120"/>
              </a:rPr>
              <a:t>Switching environments requires only a flag change: </a:t>
            </a:r>
            <a:r>
              <a:rPr lang="en-US" sz="1200" dirty="0">
                <a:solidFill>
                  <a:srgbClr val="FFFFFF"/>
                </a:solidFill>
                <a:highlight>
                  <a:srgbClr val="2D3440"/>
                </a:highlight>
                <a:latin typeface="Consolas" pitchFamily="34" charset="0"/>
                <a:ea typeface="Consolas" pitchFamily="34" charset="-122"/>
                <a:cs typeface="Consolas" pitchFamily="34" charset="-120"/>
              </a:rPr>
              <a:t>terraform apply -var-file=prod.tfvars</a:t>
            </a:r>
            <a:r>
              <a:rPr lang="en-US" sz="1200" dirty="0">
                <a:solidFill>
                  <a:srgbClr val="FFFFFF"/>
                </a:solidFill>
                <a:latin typeface="Roboto" pitchFamily="34" charset="0"/>
                <a:ea typeface="Roboto" pitchFamily="34" charset="-122"/>
                <a:cs typeface="Roboto" pitchFamily="34" charset="-120"/>
              </a:rPr>
              <a:t>. No code modifications are necessary.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574" y="547291"/>
            <a:ext cx="9836102" cy="490934"/>
          </a:xfrm>
          <a:prstGeom prst="rect">
            <a:avLst/>
          </a:prstGeom>
          <a:noFill/>
          <a:ln/>
        </p:spPr>
        <p:txBody>
          <a:bodyPr wrap="none" lIns="0" tIns="0" rIns="0" bIns="0" rtlCol="0" anchor="t"/>
          <a:lstStyle/>
          <a:p>
            <a:pPr marL="0" indent="0" algn="l">
              <a:lnSpc>
                <a:spcPct val="104000"/>
              </a:lnSpc>
              <a:buNone/>
            </a:pPr>
            <a:r>
              <a:rPr lang="en-US" sz="3050" dirty="0">
                <a:solidFill>
                  <a:srgbClr val="76B9FF"/>
                </a:solidFill>
                <a:latin typeface="Roboto Slab" pitchFamily="34" charset="0"/>
                <a:ea typeface="Roboto Slab" pitchFamily="34" charset="-122"/>
                <a:cs typeface="Roboto Slab" pitchFamily="34" charset="-120"/>
              </a:rPr>
              <a:t>Isolated Environments via Terraform Workspaces</a:t>
            </a:r>
            <a:endParaRPr lang="en-US" sz="3050" dirty="0"/>
          </a:p>
        </p:txBody>
      </p:sp>
      <p:sp>
        <p:nvSpPr>
          <p:cNvPr id="3" name="Text 1"/>
          <p:cNvSpPr/>
          <p:nvPr/>
        </p:nvSpPr>
        <p:spPr>
          <a:xfrm>
            <a:off x="661574" y="1411287"/>
            <a:ext cx="2573571" cy="245566"/>
          </a:xfrm>
          <a:prstGeom prst="rect">
            <a:avLst/>
          </a:prstGeom>
          <a:noFill/>
          <a:ln/>
        </p:spPr>
        <p:txBody>
          <a:bodyPr wrap="none" lIns="0" tIns="0" rIns="0" bIns="0" rtlCol="0" anchor="t"/>
          <a:lstStyle/>
          <a:p>
            <a:pPr marL="0" indent="0" algn="l">
              <a:lnSpc>
                <a:spcPct val="104000"/>
              </a:lnSpc>
              <a:buNone/>
            </a:pPr>
            <a:r>
              <a:rPr lang="en-US" sz="1500" dirty="0">
                <a:solidFill>
                  <a:srgbClr val="76B9FF"/>
                </a:solidFill>
                <a:latin typeface="Roboto Slab" pitchFamily="34" charset="0"/>
                <a:ea typeface="Roboto Slab" pitchFamily="34" charset="-122"/>
                <a:cs typeface="Roboto Slab" pitchFamily="34" charset="-120"/>
              </a:rPr>
              <a:t>State Isolation</a:t>
            </a:r>
            <a:endParaRPr lang="en-US" sz="1500" dirty="0"/>
          </a:p>
        </p:txBody>
      </p:sp>
      <p:sp>
        <p:nvSpPr>
          <p:cNvPr id="4" name="Text 2"/>
          <p:cNvSpPr/>
          <p:nvPr/>
        </p:nvSpPr>
        <p:spPr>
          <a:xfrm>
            <a:off x="661574" y="1806079"/>
            <a:ext cx="5242588" cy="74185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D6E5EF"/>
                </a:solidFill>
                <a:latin typeface="Roboto" pitchFamily="34" charset="0"/>
                <a:ea typeface="Roboto" pitchFamily="34" charset="-122"/>
                <a:cs typeface="Roboto" pitchFamily="34" charset="-120"/>
              </a:rPr>
              <a:t>Terraform Workspaces maintain completely separate state files per environment. </a:t>
            </a:r>
            <a:r>
              <a:rPr lang="en-US" sz="1200" dirty="0">
                <a:solidFill>
                  <a:srgbClr val="D6E5EF"/>
                </a:solidFill>
                <a:highlight>
                  <a:srgbClr val="2D3440"/>
                </a:highlight>
                <a:latin typeface="Consolas" pitchFamily="34" charset="0"/>
                <a:ea typeface="Consolas" pitchFamily="34" charset="-122"/>
                <a:cs typeface="Consolas" pitchFamily="34" charset="-120"/>
              </a:rPr>
              <a:t>dev</a:t>
            </a:r>
            <a:r>
              <a:rPr lang="en-US" sz="1200" dirty="0">
                <a:solidFill>
                  <a:srgbClr val="D6E5EF"/>
                </a:solidFill>
                <a:latin typeface="Roboto" pitchFamily="34" charset="0"/>
                <a:ea typeface="Roboto" pitchFamily="34" charset="-122"/>
                <a:cs typeface="Roboto" pitchFamily="34" charset="-120"/>
              </a:rPr>
              <a:t> and </a:t>
            </a:r>
            <a:r>
              <a:rPr lang="en-US" sz="1200" dirty="0">
                <a:solidFill>
                  <a:srgbClr val="D6E5EF"/>
                </a:solidFill>
                <a:highlight>
                  <a:srgbClr val="2D3440"/>
                </a:highlight>
                <a:latin typeface="Consolas" pitchFamily="34" charset="0"/>
                <a:ea typeface="Consolas" pitchFamily="34" charset="-122"/>
                <a:cs typeface="Consolas" pitchFamily="34" charset="-120"/>
              </a:rPr>
              <a:t>prod</a:t>
            </a:r>
            <a:r>
              <a:rPr lang="en-US" sz="1200" dirty="0">
                <a:solidFill>
                  <a:srgbClr val="D6E5EF"/>
                </a:solidFill>
                <a:latin typeface="Roboto" pitchFamily="34" charset="0"/>
                <a:ea typeface="Roboto" pitchFamily="34" charset="-122"/>
                <a:cs typeface="Roboto" pitchFamily="34" charset="-120"/>
              </a:rPr>
              <a:t> operate in total isolation within a single subscription, preventing accidental cross-environment contamination.</a:t>
            </a:r>
            <a:endParaRPr lang="en-US" sz="1200" dirty="0"/>
          </a:p>
        </p:txBody>
      </p:sp>
      <p:sp>
        <p:nvSpPr>
          <p:cNvPr id="5" name="Shape 3"/>
          <p:cNvSpPr/>
          <p:nvPr/>
        </p:nvSpPr>
        <p:spPr>
          <a:xfrm>
            <a:off x="661574" y="2715816"/>
            <a:ext cx="353508" cy="353516"/>
          </a:xfrm>
          <a:prstGeom prst="roundRect">
            <a:avLst>
              <a:gd name="adj" fmla="val 6667"/>
            </a:avLst>
          </a:prstGeom>
          <a:solidFill>
            <a:srgbClr val="3F4652"/>
          </a:solidFill>
          <a:ln/>
        </p:spPr>
        <p:txBody>
          <a:bodyPr/>
          <a:lstStyle/>
          <a:p>
            <a:endParaRPr lang="en-IN"/>
          </a:p>
        </p:txBody>
      </p:sp>
      <p:sp>
        <p:nvSpPr>
          <p:cNvPr id="6" name="Text 4"/>
          <p:cNvSpPr/>
          <p:nvPr/>
        </p:nvSpPr>
        <p:spPr>
          <a:xfrm>
            <a:off x="720459" y="2745234"/>
            <a:ext cx="235639" cy="294580"/>
          </a:xfrm>
          <a:prstGeom prst="rect">
            <a:avLst/>
          </a:prstGeom>
          <a:noFill/>
          <a:ln/>
        </p:spPr>
        <p:txBody>
          <a:bodyPr wrap="none" lIns="0" tIns="0" rIns="0" bIns="0" rtlCol="0" anchor="ctr"/>
          <a:lstStyle/>
          <a:p>
            <a:pPr marL="0" indent="0" algn="ctr">
              <a:lnSpc>
                <a:spcPct val="100000"/>
              </a:lnSpc>
              <a:buNone/>
            </a:pPr>
            <a:r>
              <a:rPr lang="en-US" sz="1850" dirty="0">
                <a:solidFill>
                  <a:srgbClr val="D6E5EF"/>
                </a:solidFill>
                <a:latin typeface="Roboto Slab" pitchFamily="34" charset="0"/>
                <a:ea typeface="Roboto Slab" pitchFamily="34" charset="-122"/>
                <a:cs typeface="Roboto Slab" pitchFamily="34" charset="-120"/>
              </a:rPr>
              <a:t>1</a:t>
            </a:r>
            <a:endParaRPr lang="en-US" sz="1850" dirty="0"/>
          </a:p>
        </p:txBody>
      </p:sp>
      <p:sp>
        <p:nvSpPr>
          <p:cNvPr id="7" name="Text 5"/>
          <p:cNvSpPr/>
          <p:nvPr/>
        </p:nvSpPr>
        <p:spPr>
          <a:xfrm>
            <a:off x="1164303" y="2769791"/>
            <a:ext cx="1963986" cy="245566"/>
          </a:xfrm>
          <a:prstGeom prst="rect">
            <a:avLst/>
          </a:prstGeom>
          <a:noFill/>
          <a:ln/>
        </p:spPr>
        <p:txBody>
          <a:bodyPr wrap="none" lIns="0" tIns="0" rIns="0" bIns="0" rtlCol="0" anchor="t"/>
          <a:lstStyle/>
          <a:p>
            <a:pPr marL="0" indent="0" algn="l">
              <a:lnSpc>
                <a:spcPct val="104000"/>
              </a:lnSpc>
              <a:buNone/>
            </a:pPr>
            <a:r>
              <a:rPr lang="en-US" sz="1500" dirty="0">
                <a:solidFill>
                  <a:srgbClr val="D6E5EF"/>
                </a:solidFill>
                <a:latin typeface="Roboto Slab" pitchFamily="34" charset="0"/>
                <a:ea typeface="Roboto Slab" pitchFamily="34" charset="-122"/>
                <a:cs typeface="Roboto Slab" pitchFamily="34" charset="-120"/>
              </a:rPr>
              <a:t>Separate State Files</a:t>
            </a:r>
            <a:endParaRPr lang="en-US" sz="1500" dirty="0"/>
          </a:p>
        </p:txBody>
      </p:sp>
      <p:sp>
        <p:nvSpPr>
          <p:cNvPr id="8" name="Text 6"/>
          <p:cNvSpPr/>
          <p:nvPr/>
        </p:nvSpPr>
        <p:spPr>
          <a:xfrm>
            <a:off x="1164303" y="3164582"/>
            <a:ext cx="4739859" cy="49668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D6E5EF"/>
                </a:solidFill>
                <a:latin typeface="Roboto" pitchFamily="34" charset="0"/>
                <a:ea typeface="Roboto" pitchFamily="34" charset="-122"/>
                <a:cs typeface="Roboto" pitchFamily="34" charset="-120"/>
              </a:rPr>
              <a:t>Each workspace writes to its own </a:t>
            </a:r>
            <a:r>
              <a:rPr lang="en-US" sz="1200" dirty="0">
                <a:solidFill>
                  <a:srgbClr val="D6E5EF"/>
                </a:solidFill>
                <a:highlight>
                  <a:srgbClr val="2D3440"/>
                </a:highlight>
                <a:latin typeface="Consolas" pitchFamily="34" charset="0"/>
                <a:ea typeface="Consolas" pitchFamily="34" charset="-122"/>
                <a:cs typeface="Consolas" pitchFamily="34" charset="-120"/>
              </a:rPr>
              <a:t>.tfstate</a:t>
            </a:r>
            <a:r>
              <a:rPr lang="en-US" sz="1200" dirty="0">
                <a:solidFill>
                  <a:srgbClr val="D6E5EF"/>
                </a:solidFill>
                <a:latin typeface="Roboto" pitchFamily="34" charset="0"/>
                <a:ea typeface="Roboto" pitchFamily="34" charset="-122"/>
                <a:cs typeface="Roboto" pitchFamily="34" charset="-120"/>
              </a:rPr>
              <a:t>, eliminating risk of shared-state conflicts.</a:t>
            </a:r>
            <a:endParaRPr lang="en-US" sz="1200" dirty="0"/>
          </a:p>
        </p:txBody>
      </p:sp>
      <p:sp>
        <p:nvSpPr>
          <p:cNvPr id="9" name="Shape 7"/>
          <p:cNvSpPr/>
          <p:nvPr/>
        </p:nvSpPr>
        <p:spPr>
          <a:xfrm>
            <a:off x="661574" y="3959721"/>
            <a:ext cx="353508" cy="353516"/>
          </a:xfrm>
          <a:prstGeom prst="roundRect">
            <a:avLst>
              <a:gd name="adj" fmla="val 6667"/>
            </a:avLst>
          </a:prstGeom>
          <a:solidFill>
            <a:srgbClr val="3F4652"/>
          </a:solidFill>
          <a:ln/>
        </p:spPr>
        <p:txBody>
          <a:bodyPr/>
          <a:lstStyle/>
          <a:p>
            <a:endParaRPr lang="en-IN"/>
          </a:p>
        </p:txBody>
      </p:sp>
      <p:sp>
        <p:nvSpPr>
          <p:cNvPr id="10" name="Text 8"/>
          <p:cNvSpPr/>
          <p:nvPr/>
        </p:nvSpPr>
        <p:spPr>
          <a:xfrm>
            <a:off x="720459" y="3989139"/>
            <a:ext cx="235639" cy="294580"/>
          </a:xfrm>
          <a:prstGeom prst="rect">
            <a:avLst/>
          </a:prstGeom>
          <a:noFill/>
          <a:ln/>
        </p:spPr>
        <p:txBody>
          <a:bodyPr wrap="none" lIns="0" tIns="0" rIns="0" bIns="0" rtlCol="0" anchor="ctr"/>
          <a:lstStyle/>
          <a:p>
            <a:pPr marL="0" indent="0" algn="ctr">
              <a:lnSpc>
                <a:spcPct val="100000"/>
              </a:lnSpc>
              <a:buNone/>
            </a:pPr>
            <a:r>
              <a:rPr lang="en-US" sz="1850" dirty="0">
                <a:solidFill>
                  <a:srgbClr val="D6E5EF"/>
                </a:solidFill>
                <a:latin typeface="Roboto Slab" pitchFamily="34" charset="0"/>
                <a:ea typeface="Roboto Slab" pitchFamily="34" charset="-122"/>
                <a:cs typeface="Roboto Slab" pitchFamily="34" charset="-120"/>
              </a:rPr>
              <a:t>2</a:t>
            </a:r>
            <a:endParaRPr lang="en-US" sz="1850" dirty="0"/>
          </a:p>
        </p:txBody>
      </p:sp>
      <p:sp>
        <p:nvSpPr>
          <p:cNvPr id="11" name="Text 9"/>
          <p:cNvSpPr/>
          <p:nvPr/>
        </p:nvSpPr>
        <p:spPr>
          <a:xfrm>
            <a:off x="1164303" y="4013696"/>
            <a:ext cx="1963986" cy="245566"/>
          </a:xfrm>
          <a:prstGeom prst="rect">
            <a:avLst/>
          </a:prstGeom>
          <a:noFill/>
          <a:ln/>
        </p:spPr>
        <p:txBody>
          <a:bodyPr wrap="none" lIns="0" tIns="0" rIns="0" bIns="0" rtlCol="0" anchor="t"/>
          <a:lstStyle/>
          <a:p>
            <a:pPr marL="0" indent="0" algn="l">
              <a:lnSpc>
                <a:spcPct val="104000"/>
              </a:lnSpc>
              <a:buNone/>
            </a:pPr>
            <a:r>
              <a:rPr lang="en-US" sz="1500" dirty="0">
                <a:solidFill>
                  <a:srgbClr val="D6E5EF"/>
                </a:solidFill>
                <a:latin typeface="Roboto Slab" pitchFamily="34" charset="0"/>
                <a:ea typeface="Roboto Slab" pitchFamily="34" charset="-122"/>
                <a:cs typeface="Roboto Slab" pitchFamily="34" charset="-120"/>
              </a:rPr>
              <a:t>Dynamic Naming</a:t>
            </a:r>
            <a:endParaRPr lang="en-US" sz="1500" dirty="0"/>
          </a:p>
        </p:txBody>
      </p:sp>
      <p:sp>
        <p:nvSpPr>
          <p:cNvPr id="12" name="Text 10"/>
          <p:cNvSpPr/>
          <p:nvPr/>
        </p:nvSpPr>
        <p:spPr>
          <a:xfrm>
            <a:off x="1164303" y="4408488"/>
            <a:ext cx="4739859" cy="49668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D6E5EF"/>
                </a:solidFill>
                <a:latin typeface="Roboto" pitchFamily="34" charset="0"/>
                <a:ea typeface="Roboto" pitchFamily="34" charset="-122"/>
                <a:cs typeface="Roboto" pitchFamily="34" charset="-120"/>
              </a:rPr>
              <a:t>Resource names incorporate </a:t>
            </a:r>
            <a:r>
              <a:rPr lang="en-US" sz="1200" dirty="0">
                <a:solidFill>
                  <a:srgbClr val="D6E5EF"/>
                </a:solidFill>
                <a:highlight>
                  <a:srgbClr val="2D3440"/>
                </a:highlight>
                <a:latin typeface="Consolas" pitchFamily="34" charset="0"/>
                <a:ea typeface="Consolas" pitchFamily="34" charset="-122"/>
                <a:cs typeface="Consolas" pitchFamily="34" charset="-120"/>
              </a:rPr>
              <a:t>${terraform.workspace}</a:t>
            </a:r>
            <a:r>
              <a:rPr lang="en-US" sz="1200" dirty="0">
                <a:solidFill>
                  <a:srgbClr val="D6E5EF"/>
                </a:solidFill>
                <a:latin typeface="Roboto" pitchFamily="34" charset="0"/>
                <a:ea typeface="Roboto" pitchFamily="34" charset="-122"/>
                <a:cs typeface="Roboto" pitchFamily="34" charset="-120"/>
              </a:rPr>
              <a:t>, preventing naming collisions across environments.</a:t>
            </a:r>
            <a:endParaRPr lang="en-US" sz="1200" dirty="0"/>
          </a:p>
        </p:txBody>
      </p:sp>
      <p:sp>
        <p:nvSpPr>
          <p:cNvPr id="13" name="Shape 11"/>
          <p:cNvSpPr/>
          <p:nvPr/>
        </p:nvSpPr>
        <p:spPr>
          <a:xfrm>
            <a:off x="661574" y="5203627"/>
            <a:ext cx="353508" cy="353516"/>
          </a:xfrm>
          <a:prstGeom prst="roundRect">
            <a:avLst>
              <a:gd name="adj" fmla="val 6667"/>
            </a:avLst>
          </a:prstGeom>
          <a:solidFill>
            <a:srgbClr val="3F4652"/>
          </a:solidFill>
          <a:ln/>
        </p:spPr>
        <p:txBody>
          <a:bodyPr/>
          <a:lstStyle/>
          <a:p>
            <a:endParaRPr lang="en-IN"/>
          </a:p>
        </p:txBody>
      </p:sp>
      <p:sp>
        <p:nvSpPr>
          <p:cNvPr id="14" name="Text 12"/>
          <p:cNvSpPr/>
          <p:nvPr/>
        </p:nvSpPr>
        <p:spPr>
          <a:xfrm>
            <a:off x="720459" y="5233045"/>
            <a:ext cx="235639" cy="294580"/>
          </a:xfrm>
          <a:prstGeom prst="rect">
            <a:avLst/>
          </a:prstGeom>
          <a:noFill/>
          <a:ln/>
        </p:spPr>
        <p:txBody>
          <a:bodyPr wrap="none" lIns="0" tIns="0" rIns="0" bIns="0" rtlCol="0" anchor="ctr"/>
          <a:lstStyle/>
          <a:p>
            <a:pPr marL="0" indent="0" algn="ctr">
              <a:lnSpc>
                <a:spcPct val="100000"/>
              </a:lnSpc>
              <a:buNone/>
            </a:pPr>
            <a:r>
              <a:rPr lang="en-US" sz="1850" dirty="0">
                <a:solidFill>
                  <a:srgbClr val="D6E5EF"/>
                </a:solidFill>
                <a:latin typeface="Roboto Slab" pitchFamily="34" charset="0"/>
                <a:ea typeface="Roboto Slab" pitchFamily="34" charset="-122"/>
                <a:cs typeface="Roboto Slab" pitchFamily="34" charset="-120"/>
              </a:rPr>
              <a:t>3</a:t>
            </a:r>
            <a:endParaRPr lang="en-US" sz="1850" dirty="0"/>
          </a:p>
        </p:txBody>
      </p:sp>
      <p:sp>
        <p:nvSpPr>
          <p:cNvPr id="15" name="Text 13"/>
          <p:cNvSpPr/>
          <p:nvPr/>
        </p:nvSpPr>
        <p:spPr>
          <a:xfrm>
            <a:off x="1164303" y="5257602"/>
            <a:ext cx="1963986" cy="245566"/>
          </a:xfrm>
          <a:prstGeom prst="rect">
            <a:avLst/>
          </a:prstGeom>
          <a:noFill/>
          <a:ln/>
        </p:spPr>
        <p:txBody>
          <a:bodyPr wrap="none" lIns="0" tIns="0" rIns="0" bIns="0" rtlCol="0" anchor="t"/>
          <a:lstStyle/>
          <a:p>
            <a:pPr marL="0" indent="0" algn="l">
              <a:lnSpc>
                <a:spcPct val="104000"/>
              </a:lnSpc>
              <a:buNone/>
            </a:pPr>
            <a:r>
              <a:rPr lang="en-US" sz="1500" dirty="0">
                <a:solidFill>
                  <a:srgbClr val="D6E5EF"/>
                </a:solidFill>
                <a:latin typeface="Roboto Slab" pitchFamily="34" charset="0"/>
                <a:ea typeface="Roboto Slab" pitchFamily="34" charset="-122"/>
                <a:cs typeface="Roboto Slab" pitchFamily="34" charset="-120"/>
              </a:rPr>
              <a:t>Single Subscription</a:t>
            </a:r>
            <a:endParaRPr lang="en-US" sz="1500" dirty="0"/>
          </a:p>
        </p:txBody>
      </p:sp>
      <p:sp>
        <p:nvSpPr>
          <p:cNvPr id="16" name="Text 14"/>
          <p:cNvSpPr/>
          <p:nvPr/>
        </p:nvSpPr>
        <p:spPr>
          <a:xfrm>
            <a:off x="1164303" y="5652393"/>
            <a:ext cx="4739859" cy="49033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D6E5EF"/>
                </a:solidFill>
                <a:latin typeface="Roboto" pitchFamily="34" charset="0"/>
                <a:ea typeface="Roboto" pitchFamily="34" charset="-122"/>
                <a:cs typeface="Roboto" pitchFamily="34" charset="-120"/>
              </a:rPr>
              <a:t>Both environments share one Azure subscription, reducing management overhead while maintaining strict logical separation.</a:t>
            </a:r>
            <a:endParaRPr lang="en-US" sz="1200" dirty="0"/>
          </a:p>
        </p:txBody>
      </p:sp>
      <p:sp>
        <p:nvSpPr>
          <p:cNvPr id="17" name="Shape 15"/>
          <p:cNvSpPr/>
          <p:nvPr/>
        </p:nvSpPr>
        <p:spPr>
          <a:xfrm>
            <a:off x="6180677" y="1262063"/>
            <a:ext cx="5468999" cy="5048548"/>
          </a:xfrm>
          <a:prstGeom prst="roundRect">
            <a:avLst>
              <a:gd name="adj" fmla="val 467"/>
            </a:avLst>
          </a:prstGeom>
          <a:solidFill>
            <a:srgbClr val="202733"/>
          </a:solidFill>
          <a:ln/>
        </p:spPr>
        <p:txBody>
          <a:bodyPr/>
          <a:lstStyle/>
          <a:p>
            <a:endParaRPr lang="en-IN"/>
          </a:p>
        </p:txBody>
      </p:sp>
      <p:sp>
        <p:nvSpPr>
          <p:cNvPr id="18" name="Text 16"/>
          <p:cNvSpPr/>
          <p:nvPr/>
        </p:nvSpPr>
        <p:spPr>
          <a:xfrm>
            <a:off x="6337737" y="1411287"/>
            <a:ext cx="3122733" cy="245566"/>
          </a:xfrm>
          <a:prstGeom prst="rect">
            <a:avLst/>
          </a:prstGeom>
          <a:noFill/>
          <a:ln/>
        </p:spPr>
        <p:txBody>
          <a:bodyPr wrap="none" lIns="0" tIns="0" rIns="0" bIns="0" rtlCol="0" anchor="t"/>
          <a:lstStyle/>
          <a:p>
            <a:pPr marL="0" indent="0" algn="l">
              <a:lnSpc>
                <a:spcPct val="104000"/>
              </a:lnSpc>
              <a:buNone/>
            </a:pPr>
            <a:r>
              <a:rPr lang="en-US" sz="1500" dirty="0">
                <a:solidFill>
                  <a:srgbClr val="76B9FF"/>
                </a:solidFill>
                <a:latin typeface="Roboto Slab" pitchFamily="34" charset="0"/>
                <a:ea typeface="Roboto Slab" pitchFamily="34" charset="-122"/>
                <a:cs typeface="Roboto Slab" pitchFamily="34" charset="-120"/>
              </a:rPr>
              <a:t>Workspace-Aware Naming</a:t>
            </a:r>
            <a:endParaRPr lang="en-US" sz="1500" dirty="0"/>
          </a:p>
        </p:txBody>
      </p:sp>
      <p:sp>
        <p:nvSpPr>
          <p:cNvPr id="19" name="Shape 17"/>
          <p:cNvSpPr/>
          <p:nvPr/>
        </p:nvSpPr>
        <p:spPr>
          <a:xfrm>
            <a:off x="6337737" y="1824732"/>
            <a:ext cx="5154880" cy="3010991"/>
          </a:xfrm>
          <a:prstGeom prst="roundRect">
            <a:avLst>
              <a:gd name="adj" fmla="val 783"/>
            </a:avLst>
          </a:prstGeom>
          <a:solidFill>
            <a:srgbClr val="2D3440"/>
          </a:solidFill>
          <a:ln/>
        </p:spPr>
        <p:txBody>
          <a:bodyPr/>
          <a:lstStyle/>
          <a:p>
            <a:endParaRPr lang="en-IN"/>
          </a:p>
        </p:txBody>
      </p:sp>
      <p:sp>
        <p:nvSpPr>
          <p:cNvPr id="20" name="Shape 18"/>
          <p:cNvSpPr/>
          <p:nvPr/>
        </p:nvSpPr>
        <p:spPr>
          <a:xfrm>
            <a:off x="6329899" y="1824732"/>
            <a:ext cx="5170557" cy="3010991"/>
          </a:xfrm>
          <a:prstGeom prst="roundRect">
            <a:avLst>
              <a:gd name="adj" fmla="val 783"/>
            </a:avLst>
          </a:prstGeom>
          <a:solidFill>
            <a:srgbClr val="2D3440"/>
          </a:solidFill>
          <a:ln/>
        </p:spPr>
        <p:txBody>
          <a:bodyPr/>
          <a:lstStyle/>
          <a:p>
            <a:endParaRPr lang="en-IN"/>
          </a:p>
        </p:txBody>
      </p:sp>
      <p:sp>
        <p:nvSpPr>
          <p:cNvPr id="21" name="Text 19"/>
          <p:cNvSpPr/>
          <p:nvPr/>
        </p:nvSpPr>
        <p:spPr>
          <a:xfrm>
            <a:off x="6526248" y="1981795"/>
            <a:ext cx="4777859" cy="2696865"/>
          </a:xfrm>
          <a:prstGeom prst="rect">
            <a:avLst/>
          </a:prstGeom>
          <a:noFill/>
          <a:ln/>
        </p:spPr>
        <p:txBody>
          <a:bodyPr wrap="square" lIns="0" tIns="0" rIns="0" bIns="0" rtlCol="0" anchor="t">
            <a:normAutofit lnSpcReduction="10000"/>
          </a:bodyPr>
          <a:lstStyle/>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resource "azurerm_kubernetes_cluster" "aks" {</a:t>
            </a:r>
            <a:endParaRPr lang="en-US" sz="1200" dirty="0"/>
          </a:p>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  name                = "aks-medishift-${terraform.workspace}"</a:t>
            </a:r>
            <a:endParaRPr lang="en-US" sz="1200" dirty="0"/>
          </a:p>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  location            = var.location</a:t>
            </a:r>
            <a:endParaRPr lang="en-US" sz="1200" dirty="0"/>
          </a:p>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  kubernetes_version  = var.k8s_version</a:t>
            </a:r>
            <a:endParaRPr lang="en-US" sz="1200" dirty="0"/>
          </a:p>
          <a:p>
            <a:pPr marL="0" indent="0" algn="l">
              <a:lnSpc>
                <a:spcPct val="130000"/>
              </a:lnSpc>
              <a:buNone/>
            </a:pPr>
            <a:endParaRPr lang="en-US" sz="1200" dirty="0"/>
          </a:p>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  default_node_pool {</a:t>
            </a:r>
            <a:endParaRPr lang="en-US" sz="1200" dirty="0"/>
          </a:p>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    name       = "default"</a:t>
            </a:r>
            <a:endParaRPr lang="en-US" sz="1200" dirty="0"/>
          </a:p>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    node_count = var.node_count</a:t>
            </a:r>
            <a:endParaRPr lang="en-US" sz="1200" dirty="0"/>
          </a:p>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    vm_size    = var.vm_size</a:t>
            </a:r>
            <a:endParaRPr lang="en-US" sz="1200" dirty="0"/>
          </a:p>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  }</a:t>
            </a:r>
            <a:endParaRPr lang="en-US" sz="1200" dirty="0"/>
          </a:p>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a:t>
            </a:r>
            <a:endParaRPr lang="en-US" sz="1200" dirty="0"/>
          </a:p>
        </p:txBody>
      </p:sp>
      <p:sp>
        <p:nvSpPr>
          <p:cNvPr id="22" name="Text 20"/>
          <p:cNvSpPr/>
          <p:nvPr/>
        </p:nvSpPr>
        <p:spPr>
          <a:xfrm>
            <a:off x="6337737" y="5003602"/>
            <a:ext cx="5154880" cy="49668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D6E5EF"/>
                </a:solidFill>
                <a:latin typeface="Roboto" pitchFamily="34" charset="0"/>
                <a:ea typeface="Roboto" pitchFamily="34" charset="-122"/>
                <a:cs typeface="Roboto" pitchFamily="34" charset="-120"/>
              </a:rPr>
              <a:t>Switching workspace with </a:t>
            </a:r>
            <a:r>
              <a:rPr lang="en-US" sz="1200" dirty="0">
                <a:solidFill>
                  <a:srgbClr val="D6E5EF"/>
                </a:solidFill>
                <a:highlight>
                  <a:srgbClr val="2D3440"/>
                </a:highlight>
                <a:latin typeface="Consolas" pitchFamily="34" charset="0"/>
                <a:ea typeface="Consolas" pitchFamily="34" charset="-122"/>
                <a:cs typeface="Consolas" pitchFamily="34" charset="-120"/>
              </a:rPr>
              <a:t>terraform workspace select dev</a:t>
            </a:r>
            <a:r>
              <a:rPr lang="en-US" sz="1200" dirty="0">
                <a:solidFill>
                  <a:srgbClr val="D6E5EF"/>
                </a:solidFill>
                <a:latin typeface="Roboto" pitchFamily="34" charset="0"/>
                <a:ea typeface="Roboto" pitchFamily="34" charset="-122"/>
                <a:cs typeface="Roboto" pitchFamily="34" charset="-120"/>
              </a:rPr>
              <a:t> automatically applies the correct naming convention and variable set.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574" y="488851"/>
            <a:ext cx="8430902" cy="465138"/>
          </a:xfrm>
          <a:prstGeom prst="rect">
            <a:avLst/>
          </a:prstGeom>
          <a:noFill/>
          <a:ln/>
        </p:spPr>
        <p:txBody>
          <a:bodyPr wrap="none" lIns="0" tIns="0" rIns="0" bIns="0" rtlCol="0" anchor="t"/>
          <a:lstStyle/>
          <a:p>
            <a:pPr marL="0" indent="0" algn="l">
              <a:lnSpc>
                <a:spcPct val="104000"/>
              </a:lnSpc>
              <a:buNone/>
            </a:pPr>
            <a:r>
              <a:rPr lang="en-US" sz="2900" dirty="0">
                <a:solidFill>
                  <a:srgbClr val="76B9FF"/>
                </a:solidFill>
                <a:latin typeface="Roboto Slab" pitchFamily="34" charset="0"/>
                <a:ea typeface="Roboto Slab" pitchFamily="34" charset="-122"/>
                <a:cs typeface="Roboto Slab" pitchFamily="34" charset="-120"/>
              </a:rPr>
              <a:t>Implicit and Explicit Resource Dependencies</a:t>
            </a:r>
            <a:endParaRPr lang="en-US" sz="2900" dirty="0"/>
          </a:p>
        </p:txBody>
      </p:sp>
      <p:sp>
        <p:nvSpPr>
          <p:cNvPr id="3" name="Text 1"/>
          <p:cNvSpPr/>
          <p:nvPr/>
        </p:nvSpPr>
        <p:spPr>
          <a:xfrm>
            <a:off x="661574" y="1221879"/>
            <a:ext cx="10868547" cy="835720"/>
          </a:xfrm>
          <a:prstGeom prst="rect">
            <a:avLst/>
          </a:prstGeom>
          <a:noFill/>
          <a:ln/>
        </p:spPr>
        <p:txBody>
          <a:bodyPr wrap="square" lIns="0" tIns="0" rIns="0" bIns="0" rtlCol="0" anchor="t"/>
          <a:lstStyle/>
          <a:p>
            <a:pPr marL="0" indent="0" algn="l">
              <a:lnSpc>
                <a:spcPct val="127000"/>
              </a:lnSpc>
              <a:buNone/>
            </a:pPr>
            <a:endParaRPr lang="en-US" sz="1150" dirty="0">
              <a:solidFill>
                <a:srgbClr val="D6E5EF"/>
              </a:solidFill>
              <a:latin typeface="Roboto" pitchFamily="34" charset="0"/>
              <a:ea typeface="Roboto" pitchFamily="34" charset="-122"/>
              <a:cs typeface="Roboto" pitchFamily="34" charset="-120"/>
            </a:endParaRPr>
          </a:p>
          <a:p>
            <a:pPr marL="0" indent="0" algn="l">
              <a:lnSpc>
                <a:spcPct val="127000"/>
              </a:lnSpc>
              <a:buNone/>
            </a:pPr>
            <a:r>
              <a:rPr lang="en-US" sz="1150" dirty="0" err="1">
                <a:solidFill>
                  <a:srgbClr val="D6E5EF"/>
                </a:solidFill>
                <a:latin typeface="Roboto" pitchFamily="34" charset="0"/>
                <a:ea typeface="Roboto" pitchFamily="34" charset="-122"/>
                <a:cs typeface="Roboto" pitchFamily="34" charset="-120"/>
              </a:rPr>
              <a:t>Terraform's</a:t>
            </a:r>
            <a:r>
              <a:rPr lang="en-US" sz="1150" dirty="0">
                <a:solidFill>
                  <a:srgbClr val="D6E5EF"/>
                </a:solidFill>
                <a:latin typeface="Roboto" pitchFamily="34" charset="0"/>
                <a:ea typeface="Roboto" pitchFamily="34" charset="-122"/>
                <a:cs typeface="Roboto" pitchFamily="34" charset="-120"/>
              </a:rPr>
              <a:t> dependency graph ensures resources are created in the correct order. MediShift leverages both </a:t>
            </a:r>
            <a:r>
              <a:rPr lang="en-US" sz="1150" b="1" dirty="0">
                <a:solidFill>
                  <a:srgbClr val="D6E5EF"/>
                </a:solidFill>
                <a:latin typeface="Roboto" pitchFamily="34" charset="0"/>
                <a:ea typeface="Roboto" pitchFamily="34" charset="-122"/>
                <a:cs typeface="Roboto" pitchFamily="34" charset="-120"/>
              </a:rPr>
              <a:t>implicit dependencies</a:t>
            </a:r>
            <a:r>
              <a:rPr lang="en-US" sz="1150" dirty="0">
                <a:solidFill>
                  <a:srgbClr val="D6E5EF"/>
                </a:solidFill>
                <a:latin typeface="Roboto" pitchFamily="34" charset="0"/>
                <a:ea typeface="Roboto" pitchFamily="34" charset="-122"/>
                <a:cs typeface="Roboto" pitchFamily="34" charset="-120"/>
              </a:rPr>
              <a:t> (derived from attribute references) and </a:t>
            </a:r>
            <a:r>
              <a:rPr lang="en-US" sz="1150" b="1" dirty="0">
                <a:solidFill>
                  <a:srgbClr val="D6E5EF"/>
                </a:solidFill>
                <a:latin typeface="Roboto" pitchFamily="34" charset="0"/>
                <a:ea typeface="Roboto" pitchFamily="34" charset="-122"/>
                <a:cs typeface="Roboto" pitchFamily="34" charset="-120"/>
              </a:rPr>
              <a:t>explicit dependencies</a:t>
            </a:r>
            <a:r>
              <a:rPr lang="en-US" sz="1150" dirty="0">
                <a:solidFill>
                  <a:srgbClr val="D6E5EF"/>
                </a:solidFill>
                <a:latin typeface="Roboto" pitchFamily="34" charset="0"/>
                <a:ea typeface="Roboto" pitchFamily="34" charset="-122"/>
                <a:cs typeface="Roboto" pitchFamily="34" charset="-120"/>
              </a:rPr>
              <a:t> (declared via </a:t>
            </a:r>
            <a:r>
              <a:rPr lang="en-US" sz="1150" dirty="0">
                <a:solidFill>
                  <a:srgbClr val="D6E5EF"/>
                </a:solidFill>
                <a:highlight>
                  <a:srgbClr val="2D3440"/>
                </a:highlight>
                <a:latin typeface="Consolas" pitchFamily="34" charset="0"/>
                <a:ea typeface="Consolas" pitchFamily="34" charset="-122"/>
                <a:cs typeface="Consolas" pitchFamily="34" charset="-120"/>
              </a:rPr>
              <a:t>depends_on</a:t>
            </a:r>
            <a:r>
              <a:rPr lang="en-US" sz="1150" dirty="0">
                <a:solidFill>
                  <a:srgbClr val="D6E5EF"/>
                </a:solidFill>
                <a:latin typeface="Roboto" pitchFamily="34" charset="0"/>
                <a:ea typeface="Roboto" pitchFamily="34" charset="-122"/>
                <a:cs typeface="Roboto" pitchFamily="34" charset="-120"/>
              </a:rPr>
              <a:t>) to guarantee safe, deterministic provisioning.</a:t>
            </a:r>
            <a:endParaRPr lang="en-US" sz="1150" dirty="0"/>
          </a:p>
        </p:txBody>
      </p:sp>
      <p:sp>
        <p:nvSpPr>
          <p:cNvPr id="4" name="Text 2"/>
          <p:cNvSpPr/>
          <p:nvPr/>
        </p:nvSpPr>
        <p:spPr>
          <a:xfrm>
            <a:off x="661574" y="2342257"/>
            <a:ext cx="3684595" cy="232470"/>
          </a:xfrm>
          <a:prstGeom prst="rect">
            <a:avLst/>
          </a:prstGeom>
          <a:noFill/>
          <a:ln/>
        </p:spPr>
        <p:txBody>
          <a:bodyPr wrap="none" lIns="0" tIns="0" rIns="0" bIns="0" rtlCol="0" anchor="t"/>
          <a:lstStyle/>
          <a:p>
            <a:pPr marL="0" indent="0" algn="l">
              <a:lnSpc>
                <a:spcPct val="104000"/>
              </a:lnSpc>
              <a:buNone/>
            </a:pPr>
            <a:r>
              <a:rPr lang="en-US" sz="1450" dirty="0">
                <a:solidFill>
                  <a:srgbClr val="76B9FF"/>
                </a:solidFill>
                <a:latin typeface="Roboto Slab" pitchFamily="34" charset="0"/>
                <a:ea typeface="Roboto Slab" pitchFamily="34" charset="-122"/>
                <a:cs typeface="Roboto Slab" pitchFamily="34" charset="-120"/>
              </a:rPr>
              <a:t>Implicit Dependencies — Data Flow</a:t>
            </a:r>
            <a:endParaRPr lang="en-US" sz="1450" dirty="0"/>
          </a:p>
        </p:txBody>
      </p:sp>
      <p:sp>
        <p:nvSpPr>
          <p:cNvPr id="5" name="Text 3"/>
          <p:cNvSpPr/>
          <p:nvPr/>
        </p:nvSpPr>
        <p:spPr>
          <a:xfrm>
            <a:off x="661574" y="2708672"/>
            <a:ext cx="5252708"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D6E5EF"/>
                </a:solidFill>
                <a:latin typeface="Roboto" pitchFamily="34" charset="0"/>
                <a:ea typeface="Roboto" pitchFamily="34" charset="-122"/>
                <a:cs typeface="Roboto" pitchFamily="34" charset="-120"/>
              </a:rPr>
              <a:t>When a resource references an attribute from another, Terraform automatically infers the dependency and orders creation accordingly.</a:t>
            </a:r>
            <a:endParaRPr lang="en-US" sz="1150" dirty="0"/>
          </a:p>
        </p:txBody>
      </p:sp>
      <p:sp>
        <p:nvSpPr>
          <p:cNvPr id="6" name="Shape 4"/>
          <p:cNvSpPr/>
          <p:nvPr/>
        </p:nvSpPr>
        <p:spPr>
          <a:xfrm>
            <a:off x="661574" y="3311823"/>
            <a:ext cx="5252708" cy="1654969"/>
          </a:xfrm>
          <a:prstGeom prst="roundRect">
            <a:avLst>
              <a:gd name="adj" fmla="val 1349"/>
            </a:avLst>
          </a:prstGeom>
          <a:solidFill>
            <a:srgbClr val="2D3440"/>
          </a:solidFill>
          <a:ln/>
        </p:spPr>
        <p:txBody>
          <a:bodyPr/>
          <a:lstStyle/>
          <a:p>
            <a:endParaRPr lang="en-IN"/>
          </a:p>
        </p:txBody>
      </p:sp>
      <p:sp>
        <p:nvSpPr>
          <p:cNvPr id="7" name="Shape 5"/>
          <p:cNvSpPr/>
          <p:nvPr/>
        </p:nvSpPr>
        <p:spPr>
          <a:xfrm>
            <a:off x="654133" y="3311823"/>
            <a:ext cx="5267590" cy="1654969"/>
          </a:xfrm>
          <a:prstGeom prst="roundRect">
            <a:avLst>
              <a:gd name="adj" fmla="val 1349"/>
            </a:avLst>
          </a:prstGeom>
          <a:solidFill>
            <a:srgbClr val="2D3440"/>
          </a:solidFill>
          <a:ln/>
        </p:spPr>
        <p:txBody>
          <a:bodyPr/>
          <a:lstStyle/>
          <a:p>
            <a:endParaRPr lang="en-IN"/>
          </a:p>
        </p:txBody>
      </p:sp>
      <p:sp>
        <p:nvSpPr>
          <p:cNvPr id="8" name="Text 6"/>
          <p:cNvSpPr/>
          <p:nvPr/>
        </p:nvSpPr>
        <p:spPr>
          <a:xfrm>
            <a:off x="840163" y="3460651"/>
            <a:ext cx="4895529" cy="1357313"/>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D6E5EF"/>
                </a:solidFill>
                <a:latin typeface="Consolas" pitchFamily="34" charset="0"/>
                <a:ea typeface="Consolas" pitchFamily="34" charset="-122"/>
                <a:cs typeface="Consolas" pitchFamily="34" charset="-120"/>
              </a:rPr>
              <a:t>resource "azurerm_kubernetes_cluster" "aks" {</a:t>
            </a:r>
            <a:endParaRPr lang="en-US" sz="1150" dirty="0"/>
          </a:p>
          <a:p>
            <a:pPr marL="0" indent="0" algn="l">
              <a:lnSpc>
                <a:spcPct val="127000"/>
              </a:lnSpc>
              <a:buNone/>
            </a:pPr>
            <a:r>
              <a:rPr lang="en-US" sz="1150" dirty="0">
                <a:solidFill>
                  <a:srgbClr val="D6E5EF"/>
                </a:solidFill>
                <a:latin typeface="Consolas" pitchFamily="34" charset="0"/>
                <a:ea typeface="Consolas" pitchFamily="34" charset="-122"/>
                <a:cs typeface="Consolas" pitchFamily="34" charset="-120"/>
              </a:rPr>
              <a:t>  # Implicitly depends on subnet creation</a:t>
            </a:r>
            <a:endParaRPr lang="en-US" sz="1150" dirty="0"/>
          </a:p>
          <a:p>
            <a:pPr marL="0" indent="0" algn="l">
              <a:lnSpc>
                <a:spcPct val="127000"/>
              </a:lnSpc>
              <a:buNone/>
            </a:pPr>
            <a:r>
              <a:rPr lang="en-US" sz="1150" dirty="0">
                <a:solidFill>
                  <a:srgbClr val="D6E5EF"/>
                </a:solidFill>
                <a:latin typeface="Consolas" pitchFamily="34" charset="0"/>
                <a:ea typeface="Consolas" pitchFamily="34" charset="-122"/>
                <a:cs typeface="Consolas" pitchFamily="34" charset="-120"/>
              </a:rPr>
              <a:t>  default_node_pool {</a:t>
            </a:r>
            <a:endParaRPr lang="en-US" sz="1150" dirty="0"/>
          </a:p>
          <a:p>
            <a:pPr marL="0" indent="0" algn="l">
              <a:lnSpc>
                <a:spcPct val="127000"/>
              </a:lnSpc>
              <a:buNone/>
            </a:pPr>
            <a:r>
              <a:rPr lang="en-US" sz="1150" dirty="0">
                <a:solidFill>
                  <a:srgbClr val="D6E5EF"/>
                </a:solidFill>
                <a:latin typeface="Consolas" pitchFamily="34" charset="0"/>
                <a:ea typeface="Consolas" pitchFamily="34" charset="-122"/>
                <a:cs typeface="Consolas" pitchFamily="34" charset="-120"/>
              </a:rPr>
              <a:t>    vnet_subnet_id = azurerm_subnet.aks_subnet.id</a:t>
            </a:r>
            <a:endParaRPr lang="en-US" sz="1150" dirty="0"/>
          </a:p>
          <a:p>
            <a:pPr marL="0" indent="0" algn="l">
              <a:lnSpc>
                <a:spcPct val="127000"/>
              </a:lnSpc>
              <a:buNone/>
            </a:pPr>
            <a:r>
              <a:rPr lang="en-US" sz="1150" dirty="0">
                <a:solidFill>
                  <a:srgbClr val="D6E5EF"/>
                </a:solidFill>
                <a:latin typeface="Consolas" pitchFamily="34" charset="0"/>
                <a:ea typeface="Consolas" pitchFamily="34" charset="-122"/>
                <a:cs typeface="Consolas" pitchFamily="34" charset="-120"/>
              </a:rPr>
              <a:t>  }</a:t>
            </a:r>
            <a:endParaRPr lang="en-US" sz="1150" dirty="0"/>
          </a:p>
          <a:p>
            <a:pPr marL="0" indent="0" algn="l">
              <a:lnSpc>
                <a:spcPct val="127000"/>
              </a:lnSpc>
              <a:buNone/>
            </a:pPr>
            <a:r>
              <a:rPr lang="en-US" sz="1150" dirty="0">
                <a:solidFill>
                  <a:srgbClr val="D6E5EF"/>
                </a:solidFill>
                <a:latin typeface="Consolas" pitchFamily="34" charset="0"/>
                <a:ea typeface="Consolas" pitchFamily="34" charset="-122"/>
                <a:cs typeface="Consolas" pitchFamily="34" charset="-120"/>
              </a:rPr>
              <a:t>}</a:t>
            </a:r>
            <a:endParaRPr lang="en-US" sz="1150" dirty="0"/>
          </a:p>
        </p:txBody>
      </p:sp>
      <p:sp>
        <p:nvSpPr>
          <p:cNvPr id="9" name="Text 7"/>
          <p:cNvSpPr/>
          <p:nvPr/>
        </p:nvSpPr>
        <p:spPr>
          <a:xfrm>
            <a:off x="661574" y="5117505"/>
            <a:ext cx="5252708"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D6E5EF"/>
                </a:solidFill>
                <a:latin typeface="Roboto" pitchFamily="34" charset="0"/>
                <a:ea typeface="Roboto" pitchFamily="34" charset="-122"/>
                <a:cs typeface="Roboto" pitchFamily="34" charset="-120"/>
              </a:rPr>
              <a:t>The AKS node pool cannot be created until the subnet exists — Terraform resolves this automatically.</a:t>
            </a:r>
            <a:endParaRPr lang="en-US" sz="1150" dirty="0"/>
          </a:p>
        </p:txBody>
      </p:sp>
      <p:sp>
        <p:nvSpPr>
          <p:cNvPr id="10" name="Shape 8"/>
          <p:cNvSpPr/>
          <p:nvPr/>
        </p:nvSpPr>
        <p:spPr>
          <a:xfrm>
            <a:off x="6176610" y="2208312"/>
            <a:ext cx="5467015" cy="4160838"/>
          </a:xfrm>
          <a:prstGeom prst="roundRect">
            <a:avLst>
              <a:gd name="adj" fmla="val 537"/>
            </a:avLst>
          </a:prstGeom>
          <a:solidFill>
            <a:srgbClr val="202733"/>
          </a:solidFill>
          <a:ln/>
        </p:spPr>
        <p:txBody>
          <a:bodyPr/>
          <a:lstStyle/>
          <a:p>
            <a:endParaRPr lang="en-IN"/>
          </a:p>
        </p:txBody>
      </p:sp>
      <p:sp>
        <p:nvSpPr>
          <p:cNvPr id="11" name="Text 9"/>
          <p:cNvSpPr/>
          <p:nvPr/>
        </p:nvSpPr>
        <p:spPr>
          <a:xfrm>
            <a:off x="6325434" y="2342257"/>
            <a:ext cx="3854254" cy="232470"/>
          </a:xfrm>
          <a:prstGeom prst="rect">
            <a:avLst/>
          </a:prstGeom>
          <a:noFill/>
          <a:ln/>
        </p:spPr>
        <p:txBody>
          <a:bodyPr wrap="none" lIns="0" tIns="0" rIns="0" bIns="0" rtlCol="0" anchor="t"/>
          <a:lstStyle/>
          <a:p>
            <a:pPr marL="0" indent="0" algn="l">
              <a:lnSpc>
                <a:spcPct val="104000"/>
              </a:lnSpc>
              <a:buNone/>
            </a:pPr>
            <a:r>
              <a:rPr lang="en-US" sz="1450" dirty="0">
                <a:solidFill>
                  <a:srgbClr val="76B9FF"/>
                </a:solidFill>
                <a:latin typeface="Roboto Slab" pitchFamily="34" charset="0"/>
                <a:ea typeface="Roboto Slab" pitchFamily="34" charset="-122"/>
                <a:cs typeface="Roboto Slab" pitchFamily="34" charset="-120"/>
              </a:rPr>
              <a:t>Explicit Dependencies — </a:t>
            </a:r>
            <a:r>
              <a:rPr lang="en-US" sz="1450" dirty="0">
                <a:solidFill>
                  <a:srgbClr val="D6E5EF"/>
                </a:solidFill>
                <a:highlight>
                  <a:srgbClr val="2D3440"/>
                </a:highlight>
                <a:latin typeface="Consolas" pitchFamily="34" charset="0"/>
                <a:ea typeface="Consolas" pitchFamily="34" charset="-122"/>
                <a:cs typeface="Consolas" pitchFamily="34" charset="-120"/>
              </a:rPr>
              <a:t>depends_on</a:t>
            </a:r>
            <a:endParaRPr lang="en-US" sz="1450" dirty="0"/>
          </a:p>
        </p:txBody>
      </p:sp>
      <p:sp>
        <p:nvSpPr>
          <p:cNvPr id="12" name="Text 10"/>
          <p:cNvSpPr/>
          <p:nvPr/>
        </p:nvSpPr>
        <p:spPr>
          <a:xfrm>
            <a:off x="6325434" y="2708672"/>
            <a:ext cx="5169366" cy="678656"/>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D6E5EF"/>
                </a:solidFill>
                <a:latin typeface="Roboto" pitchFamily="34" charset="0"/>
                <a:ea typeface="Roboto" pitchFamily="34" charset="-122"/>
                <a:cs typeface="Roboto" pitchFamily="34" charset="-120"/>
              </a:rPr>
              <a:t>Some ordering requirements cannot be inferred from attribute references alone. The Application Gateway must wait for the NGINX Ingress Controller to allocate its internal load balancer IP before it can be configured.</a:t>
            </a:r>
            <a:endParaRPr lang="en-US" sz="1150" dirty="0"/>
          </a:p>
        </p:txBody>
      </p:sp>
      <p:sp>
        <p:nvSpPr>
          <p:cNvPr id="13" name="Shape 11"/>
          <p:cNvSpPr/>
          <p:nvPr/>
        </p:nvSpPr>
        <p:spPr>
          <a:xfrm>
            <a:off x="6325434" y="3538041"/>
            <a:ext cx="5169366" cy="2107406"/>
          </a:xfrm>
          <a:prstGeom prst="roundRect">
            <a:avLst>
              <a:gd name="adj" fmla="val 1059"/>
            </a:avLst>
          </a:prstGeom>
          <a:solidFill>
            <a:srgbClr val="2D3440"/>
          </a:solidFill>
          <a:ln/>
        </p:spPr>
        <p:txBody>
          <a:bodyPr/>
          <a:lstStyle/>
          <a:p>
            <a:endParaRPr lang="en-IN"/>
          </a:p>
        </p:txBody>
      </p:sp>
      <p:sp>
        <p:nvSpPr>
          <p:cNvPr id="14" name="Shape 12"/>
          <p:cNvSpPr/>
          <p:nvPr/>
        </p:nvSpPr>
        <p:spPr>
          <a:xfrm>
            <a:off x="6317993" y="3538041"/>
            <a:ext cx="5184248" cy="2107406"/>
          </a:xfrm>
          <a:prstGeom prst="roundRect">
            <a:avLst>
              <a:gd name="adj" fmla="val 1059"/>
            </a:avLst>
          </a:prstGeom>
          <a:solidFill>
            <a:srgbClr val="2D3440"/>
          </a:solidFill>
          <a:ln/>
        </p:spPr>
        <p:txBody>
          <a:bodyPr/>
          <a:lstStyle/>
          <a:p>
            <a:endParaRPr lang="en-IN"/>
          </a:p>
        </p:txBody>
      </p:sp>
      <p:sp>
        <p:nvSpPr>
          <p:cNvPr id="15" name="Text 13"/>
          <p:cNvSpPr/>
          <p:nvPr/>
        </p:nvSpPr>
        <p:spPr>
          <a:xfrm>
            <a:off x="6504023" y="3686870"/>
            <a:ext cx="4812187" cy="1809750"/>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D6E5EF"/>
                </a:solidFill>
                <a:highlight>
                  <a:srgbClr val="2D3440"/>
                </a:highlight>
                <a:latin typeface="Consolas" pitchFamily="34" charset="0"/>
                <a:ea typeface="Consolas" pitchFamily="34" charset="-122"/>
                <a:cs typeface="Consolas" pitchFamily="34" charset="-120"/>
              </a:rPr>
              <a:t>resource "azurerm_application_gateway" "gateway" {</a:t>
            </a:r>
            <a:endParaRPr lang="en-US" sz="1150" dirty="0"/>
          </a:p>
          <a:p>
            <a:pPr marL="0" indent="0" algn="l">
              <a:lnSpc>
                <a:spcPct val="127000"/>
              </a:lnSpc>
              <a:buNone/>
            </a:pPr>
            <a:r>
              <a:rPr lang="en-US" sz="1150" dirty="0">
                <a:solidFill>
                  <a:srgbClr val="D6E5EF"/>
                </a:solidFill>
                <a:highlight>
                  <a:srgbClr val="2D3440"/>
                </a:highlight>
                <a:latin typeface="Consolas" pitchFamily="34" charset="0"/>
                <a:ea typeface="Consolas" pitchFamily="34" charset="-122"/>
                <a:cs typeface="Consolas" pitchFamily="34" charset="-120"/>
              </a:rPr>
              <a:t>  name                = "appgw-medishift"</a:t>
            </a:r>
            <a:endParaRPr lang="en-US" sz="1150" dirty="0"/>
          </a:p>
          <a:p>
            <a:pPr marL="0" indent="0" algn="l">
              <a:lnSpc>
                <a:spcPct val="127000"/>
              </a:lnSpc>
              <a:buNone/>
            </a:pPr>
            <a:r>
              <a:rPr lang="en-US" sz="1150" dirty="0">
                <a:solidFill>
                  <a:srgbClr val="D6E5EF"/>
                </a:solidFill>
                <a:highlight>
                  <a:srgbClr val="2D3440"/>
                </a:highlight>
                <a:latin typeface="Consolas" pitchFamily="34" charset="0"/>
                <a:ea typeface="Consolas" pitchFamily="34" charset="-122"/>
                <a:cs typeface="Consolas" pitchFamily="34" charset="-120"/>
              </a:rPr>
              <a:t>  location            = azurerm_resource_group.rg.location</a:t>
            </a:r>
            <a:endParaRPr lang="en-US" sz="1150" dirty="0"/>
          </a:p>
          <a:p>
            <a:pPr marL="0" indent="0" algn="l">
              <a:lnSpc>
                <a:spcPct val="127000"/>
              </a:lnSpc>
              <a:buNone/>
            </a:pPr>
            <a:endParaRPr lang="en-US" sz="1150" dirty="0"/>
          </a:p>
          <a:p>
            <a:pPr marL="0" indent="0" algn="l">
              <a:lnSpc>
                <a:spcPct val="127000"/>
              </a:lnSpc>
              <a:buNone/>
            </a:pPr>
            <a:r>
              <a:rPr lang="en-US" sz="1150" dirty="0">
                <a:solidFill>
                  <a:srgbClr val="D6E5EF"/>
                </a:solidFill>
                <a:highlight>
                  <a:srgbClr val="2D3440"/>
                </a:highlight>
                <a:latin typeface="Consolas" pitchFamily="34" charset="0"/>
                <a:ea typeface="Consolas" pitchFamily="34" charset="-122"/>
                <a:cs typeface="Consolas" pitchFamily="34" charset="-120"/>
              </a:rPr>
              <a:t>  depends_on = [</a:t>
            </a:r>
            <a:endParaRPr lang="en-US" sz="1150" dirty="0"/>
          </a:p>
          <a:p>
            <a:pPr marL="0" indent="0" algn="l">
              <a:lnSpc>
                <a:spcPct val="127000"/>
              </a:lnSpc>
              <a:buNone/>
            </a:pPr>
            <a:r>
              <a:rPr lang="en-US" sz="1150" dirty="0">
                <a:solidFill>
                  <a:srgbClr val="D6E5EF"/>
                </a:solidFill>
                <a:highlight>
                  <a:srgbClr val="2D3440"/>
                </a:highlight>
                <a:latin typeface="Consolas" pitchFamily="34" charset="0"/>
                <a:ea typeface="Consolas" pitchFamily="34" charset="-122"/>
                <a:cs typeface="Consolas" pitchFamily="34" charset="-120"/>
              </a:rPr>
              <a:t>    helm_release.nginx_ingress</a:t>
            </a:r>
            <a:endParaRPr lang="en-US" sz="1150" dirty="0"/>
          </a:p>
          <a:p>
            <a:pPr marL="0" indent="0" algn="l">
              <a:lnSpc>
                <a:spcPct val="127000"/>
              </a:lnSpc>
              <a:buNone/>
            </a:pPr>
            <a:r>
              <a:rPr lang="en-US" sz="1150" dirty="0">
                <a:solidFill>
                  <a:srgbClr val="D6E5EF"/>
                </a:solidFill>
                <a:highlight>
                  <a:srgbClr val="2D3440"/>
                </a:highlight>
                <a:latin typeface="Consolas" pitchFamily="34" charset="0"/>
                <a:ea typeface="Consolas" pitchFamily="34" charset="-122"/>
                <a:cs typeface="Consolas" pitchFamily="34" charset="-120"/>
              </a:rPr>
              <a:t>  ]</a:t>
            </a:r>
            <a:endParaRPr lang="en-US" sz="1150" dirty="0"/>
          </a:p>
          <a:p>
            <a:pPr marL="0" indent="0" algn="l">
              <a:lnSpc>
                <a:spcPct val="127000"/>
              </a:lnSpc>
              <a:buNone/>
            </a:pPr>
            <a:r>
              <a:rPr lang="en-US" sz="1150" dirty="0">
                <a:solidFill>
                  <a:srgbClr val="D6E5EF"/>
                </a:solidFill>
                <a:highlight>
                  <a:srgbClr val="2D3440"/>
                </a:highlight>
                <a:latin typeface="Consolas" pitchFamily="34" charset="0"/>
                <a:ea typeface="Consolas" pitchFamily="34" charset="-122"/>
                <a:cs typeface="Consolas" pitchFamily="34" charset="-120"/>
              </a:rPr>
              <a:t>}</a:t>
            </a:r>
            <a:endParaRPr lang="en-US" sz="1150" dirty="0"/>
          </a:p>
        </p:txBody>
      </p:sp>
      <p:sp>
        <p:nvSpPr>
          <p:cNvPr id="16" name="Text 14"/>
          <p:cNvSpPr/>
          <p:nvPr/>
        </p:nvSpPr>
        <p:spPr>
          <a:xfrm>
            <a:off x="6325434" y="5796161"/>
            <a:ext cx="5169366"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D6E5EF"/>
                </a:solidFill>
                <a:latin typeface="Roboto" pitchFamily="34" charset="0"/>
                <a:ea typeface="Roboto" pitchFamily="34" charset="-122"/>
                <a:cs typeface="Roboto" pitchFamily="34" charset="-120"/>
              </a:rPr>
              <a:t>Without this explicit declaration, Terraform may attempt parallel creation, causing intermittent provisioning failures.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574" y="551458"/>
            <a:ext cx="7987902" cy="516731"/>
          </a:xfrm>
          <a:prstGeom prst="rect">
            <a:avLst/>
          </a:prstGeom>
          <a:noFill/>
          <a:ln/>
        </p:spPr>
        <p:txBody>
          <a:bodyPr wrap="none" lIns="0" tIns="0" rIns="0" bIns="0" rtlCol="0" anchor="t"/>
          <a:lstStyle/>
          <a:p>
            <a:pPr marL="0" indent="0" algn="l">
              <a:lnSpc>
                <a:spcPct val="104000"/>
              </a:lnSpc>
              <a:buNone/>
            </a:pPr>
            <a:r>
              <a:rPr lang="en-US" sz="3250" dirty="0">
                <a:solidFill>
                  <a:srgbClr val="76B9FF"/>
                </a:solidFill>
                <a:latin typeface="Roboto Slab" pitchFamily="34" charset="0"/>
                <a:ea typeface="Roboto Slab" pitchFamily="34" charset="-122"/>
                <a:cs typeface="Roboto Slab" pitchFamily="34" charset="-120"/>
              </a:rPr>
              <a:t>Solving PgBouncer &amp; SKU Limitations</a:t>
            </a:r>
            <a:endParaRPr lang="en-US" sz="3250" dirty="0"/>
          </a:p>
        </p:txBody>
      </p:sp>
      <p:sp>
        <p:nvSpPr>
          <p:cNvPr id="3" name="Text 1"/>
          <p:cNvSpPr/>
          <p:nvPr/>
        </p:nvSpPr>
        <p:spPr>
          <a:xfrm>
            <a:off x="661574" y="1398885"/>
            <a:ext cx="10868547"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6E5EF"/>
                </a:solidFill>
                <a:latin typeface="Roboto" pitchFamily="34" charset="0"/>
                <a:ea typeface="Roboto" pitchFamily="34" charset="-122"/>
                <a:cs typeface="Roboto" pitchFamily="34" charset="-120"/>
              </a:rPr>
              <a:t>Azure's burstable PostgreSQL SKUs (B-series) do not support PgBouncer. Terraform conditional logic dynamically excludes PgBouncer from the deployment when a burstable SKU is detected, preventing apply-time failures.</a:t>
            </a:r>
            <a:endParaRPr lang="en-US" sz="1300" dirty="0"/>
          </a:p>
        </p:txBody>
      </p:sp>
      <p:sp>
        <p:nvSpPr>
          <p:cNvPr id="4" name="Text 2"/>
          <p:cNvSpPr/>
          <p:nvPr/>
        </p:nvSpPr>
        <p:spPr>
          <a:xfrm>
            <a:off x="661574" y="2279452"/>
            <a:ext cx="3546585" cy="258465"/>
          </a:xfrm>
          <a:prstGeom prst="rect">
            <a:avLst/>
          </a:prstGeom>
          <a:noFill/>
          <a:ln/>
        </p:spPr>
        <p:txBody>
          <a:bodyPr wrap="none" lIns="0" tIns="0" rIns="0" bIns="0" rtlCol="0" anchor="t"/>
          <a:lstStyle/>
          <a:p>
            <a:pPr marL="0" indent="0" algn="l">
              <a:lnSpc>
                <a:spcPct val="104000"/>
              </a:lnSpc>
              <a:buNone/>
            </a:pPr>
            <a:r>
              <a:rPr lang="en-US" sz="1600" dirty="0">
                <a:solidFill>
                  <a:srgbClr val="76B9FF"/>
                </a:solidFill>
                <a:latin typeface="Roboto Slab" pitchFamily="34" charset="0"/>
                <a:ea typeface="Roboto Slab" pitchFamily="34" charset="-122"/>
                <a:cs typeface="Roboto Slab" pitchFamily="34" charset="-120"/>
              </a:rPr>
              <a:t>Conditional Deployment Logic</a:t>
            </a:r>
            <a:endParaRPr lang="en-US" sz="1600" dirty="0"/>
          </a:p>
        </p:txBody>
      </p:sp>
      <p:sp>
        <p:nvSpPr>
          <p:cNvPr id="5" name="Shape 3"/>
          <p:cNvSpPr/>
          <p:nvPr/>
        </p:nvSpPr>
        <p:spPr>
          <a:xfrm>
            <a:off x="661574" y="2723952"/>
            <a:ext cx="5007048" cy="2712145"/>
          </a:xfrm>
          <a:prstGeom prst="roundRect">
            <a:avLst>
              <a:gd name="adj" fmla="val 915"/>
            </a:avLst>
          </a:prstGeom>
          <a:solidFill>
            <a:srgbClr val="2D3440"/>
          </a:solidFill>
          <a:ln/>
        </p:spPr>
        <p:txBody>
          <a:bodyPr/>
          <a:lstStyle/>
          <a:p>
            <a:endParaRPr lang="en-IN"/>
          </a:p>
        </p:txBody>
      </p:sp>
      <p:sp>
        <p:nvSpPr>
          <p:cNvPr id="6" name="Shape 4"/>
          <p:cNvSpPr/>
          <p:nvPr/>
        </p:nvSpPr>
        <p:spPr>
          <a:xfrm>
            <a:off x="653339" y="2723952"/>
            <a:ext cx="5023518" cy="2712145"/>
          </a:xfrm>
          <a:prstGeom prst="roundRect">
            <a:avLst>
              <a:gd name="adj" fmla="val 915"/>
            </a:avLst>
          </a:prstGeom>
          <a:solidFill>
            <a:srgbClr val="2D3440"/>
          </a:solidFill>
          <a:ln/>
        </p:spPr>
        <p:txBody>
          <a:bodyPr/>
          <a:lstStyle/>
          <a:p>
            <a:endParaRPr lang="en-IN"/>
          </a:p>
        </p:txBody>
      </p:sp>
      <p:sp>
        <p:nvSpPr>
          <p:cNvPr id="7" name="Text 5"/>
          <p:cNvSpPr/>
          <p:nvPr/>
        </p:nvSpPr>
        <p:spPr>
          <a:xfrm>
            <a:off x="860007" y="2889250"/>
            <a:ext cx="4610183" cy="2381548"/>
          </a:xfrm>
          <a:prstGeom prst="rect">
            <a:avLst/>
          </a:prstGeom>
          <a:noFill/>
          <a:ln/>
        </p:spPr>
        <p:txBody>
          <a:bodyPr wrap="square" lIns="0" tIns="0" rIns="0" bIns="0" rtlCol="0" anchor="t">
            <a:normAutofit fontScale="92500" lnSpcReduction="10000"/>
          </a:bodyPr>
          <a:lstStyle/>
          <a:p>
            <a:pPr marL="0" indent="0" algn="l">
              <a:lnSpc>
                <a:spcPct val="133000"/>
              </a:lnSpc>
              <a:buNone/>
            </a:pPr>
            <a:r>
              <a:rPr lang="en-US" sz="1300" dirty="0">
                <a:solidFill>
                  <a:srgbClr val="D6E5EF"/>
                </a:solidFill>
                <a:latin typeface="Consolas" pitchFamily="34" charset="0"/>
                <a:ea typeface="Consolas" pitchFamily="34" charset="-122"/>
                <a:cs typeface="Consolas" pitchFamily="34" charset="-120"/>
              </a:rPr>
              <a:t>resource "kubernetes_deployment" "pgbouncer" {</a:t>
            </a:r>
            <a:endParaRPr lang="en-US" sz="1300" dirty="0"/>
          </a:p>
          <a:p>
            <a:pPr marL="0" indent="0" algn="l">
              <a:lnSpc>
                <a:spcPct val="133000"/>
              </a:lnSpc>
              <a:buNone/>
            </a:pPr>
            <a:r>
              <a:rPr lang="en-US" sz="1300" dirty="0">
                <a:solidFill>
                  <a:srgbClr val="D6E5EF"/>
                </a:solidFill>
                <a:latin typeface="Consolas" pitchFamily="34" charset="0"/>
                <a:ea typeface="Consolas" pitchFamily="34" charset="-122"/>
                <a:cs typeface="Consolas" pitchFamily="34" charset="-120"/>
              </a:rPr>
              <a:t>  count = startswith(var.postgres_sku_name, "B_") ? 0 : 1</a:t>
            </a:r>
            <a:endParaRPr lang="en-US" sz="1300" dirty="0"/>
          </a:p>
          <a:p>
            <a:pPr marL="0" indent="0" algn="l">
              <a:lnSpc>
                <a:spcPct val="133000"/>
              </a:lnSpc>
              <a:buNone/>
            </a:pPr>
            <a:endParaRPr lang="en-US" sz="1300" dirty="0"/>
          </a:p>
          <a:p>
            <a:pPr marL="0" indent="0" algn="l">
              <a:lnSpc>
                <a:spcPct val="133000"/>
              </a:lnSpc>
              <a:buNone/>
            </a:pPr>
            <a:r>
              <a:rPr lang="en-US" sz="1300" dirty="0">
                <a:solidFill>
                  <a:srgbClr val="D6E5EF"/>
                </a:solidFill>
                <a:latin typeface="Consolas" pitchFamily="34" charset="0"/>
                <a:ea typeface="Consolas" pitchFamily="34" charset="-122"/>
                <a:cs typeface="Consolas" pitchFamily="34" charset="-120"/>
              </a:rPr>
              <a:t>  metadata {</a:t>
            </a:r>
            <a:endParaRPr lang="en-US" sz="1300" dirty="0"/>
          </a:p>
          <a:p>
            <a:pPr marL="0" indent="0" algn="l">
              <a:lnSpc>
                <a:spcPct val="133000"/>
              </a:lnSpc>
              <a:buNone/>
            </a:pPr>
            <a:r>
              <a:rPr lang="en-US" sz="1300" dirty="0">
                <a:solidFill>
                  <a:srgbClr val="D6E5EF"/>
                </a:solidFill>
                <a:latin typeface="Consolas" pitchFamily="34" charset="0"/>
                <a:ea typeface="Consolas" pitchFamily="34" charset="-122"/>
                <a:cs typeface="Consolas" pitchFamily="34" charset="-120"/>
              </a:rPr>
              <a:t>    name      = "pgbouncer"</a:t>
            </a:r>
            <a:endParaRPr lang="en-US" sz="1300" dirty="0"/>
          </a:p>
          <a:p>
            <a:pPr marL="0" indent="0" algn="l">
              <a:lnSpc>
                <a:spcPct val="133000"/>
              </a:lnSpc>
              <a:buNone/>
            </a:pPr>
            <a:r>
              <a:rPr lang="en-US" sz="1300" dirty="0">
                <a:solidFill>
                  <a:srgbClr val="D6E5EF"/>
                </a:solidFill>
                <a:latin typeface="Consolas" pitchFamily="34" charset="0"/>
                <a:ea typeface="Consolas" pitchFamily="34" charset="-122"/>
                <a:cs typeface="Consolas" pitchFamily="34" charset="-120"/>
              </a:rPr>
              <a:t>    namespace = "database"</a:t>
            </a:r>
            <a:endParaRPr lang="en-US" sz="1300" dirty="0"/>
          </a:p>
          <a:p>
            <a:pPr marL="0" indent="0" algn="l">
              <a:lnSpc>
                <a:spcPct val="133000"/>
              </a:lnSpc>
              <a:buNone/>
            </a:pPr>
            <a:r>
              <a:rPr lang="en-US" sz="1300" dirty="0">
                <a:solidFill>
                  <a:srgbClr val="D6E5EF"/>
                </a:solidFill>
                <a:latin typeface="Consolas" pitchFamily="34" charset="0"/>
                <a:ea typeface="Consolas" pitchFamily="34" charset="-122"/>
                <a:cs typeface="Consolas" pitchFamily="34" charset="-120"/>
              </a:rPr>
              <a:t>  }</a:t>
            </a:r>
            <a:endParaRPr lang="en-US" sz="1300" dirty="0"/>
          </a:p>
          <a:p>
            <a:pPr marL="0" indent="0" algn="l">
              <a:lnSpc>
                <a:spcPct val="133000"/>
              </a:lnSpc>
              <a:buNone/>
            </a:pPr>
            <a:r>
              <a:rPr lang="en-US" sz="1300" dirty="0">
                <a:solidFill>
                  <a:srgbClr val="D6E5EF"/>
                </a:solidFill>
                <a:latin typeface="Consolas" pitchFamily="34" charset="0"/>
                <a:ea typeface="Consolas" pitchFamily="34" charset="-122"/>
                <a:cs typeface="Consolas" pitchFamily="34" charset="-120"/>
              </a:rPr>
              <a:t>  # ... deployment spec</a:t>
            </a:r>
            <a:endParaRPr lang="en-US" sz="1300" dirty="0"/>
          </a:p>
          <a:p>
            <a:pPr marL="0" indent="0" algn="l">
              <a:lnSpc>
                <a:spcPct val="133000"/>
              </a:lnSpc>
              <a:buNone/>
            </a:pPr>
            <a:r>
              <a:rPr lang="en-US" sz="1300" dirty="0">
                <a:solidFill>
                  <a:srgbClr val="D6E5EF"/>
                </a:solidFill>
                <a:latin typeface="Consolas" pitchFamily="34" charset="0"/>
                <a:ea typeface="Consolas" pitchFamily="34" charset="-122"/>
                <a:cs typeface="Consolas" pitchFamily="34" charset="-120"/>
              </a:rPr>
              <a:t>}</a:t>
            </a:r>
            <a:endParaRPr lang="en-US" sz="1300" dirty="0"/>
          </a:p>
        </p:txBody>
      </p:sp>
      <p:sp>
        <p:nvSpPr>
          <p:cNvPr id="8" name="Text 6"/>
          <p:cNvSpPr/>
          <p:nvPr/>
        </p:nvSpPr>
        <p:spPr>
          <a:xfrm>
            <a:off x="661574" y="5622131"/>
            <a:ext cx="5007048" cy="53558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6E5EF"/>
                </a:solidFill>
                <a:latin typeface="Roboto" pitchFamily="34" charset="0"/>
                <a:ea typeface="Roboto" pitchFamily="34" charset="-122"/>
                <a:cs typeface="Roboto" pitchFamily="34" charset="-120"/>
              </a:rPr>
              <a:t>When </a:t>
            </a:r>
            <a:r>
              <a:rPr lang="en-US" sz="1300" dirty="0">
                <a:solidFill>
                  <a:srgbClr val="D6E5EF"/>
                </a:solidFill>
                <a:highlight>
                  <a:srgbClr val="2D3440"/>
                </a:highlight>
                <a:latin typeface="Consolas" pitchFamily="34" charset="0"/>
                <a:ea typeface="Consolas" pitchFamily="34" charset="-122"/>
                <a:cs typeface="Consolas" pitchFamily="34" charset="-120"/>
              </a:rPr>
              <a:t>count = 0</a:t>
            </a:r>
            <a:r>
              <a:rPr lang="en-US" sz="1300" dirty="0">
                <a:solidFill>
                  <a:srgbClr val="D6E5EF"/>
                </a:solidFill>
                <a:latin typeface="Roboto" pitchFamily="34" charset="0"/>
                <a:ea typeface="Roboto" pitchFamily="34" charset="-122"/>
                <a:cs typeface="Roboto" pitchFamily="34" charset="-120"/>
              </a:rPr>
              <a:t>, the resource is silently skipped. Production SKUs receive PgBouncer; dev burstable SKUs do not.</a:t>
            </a:r>
            <a:endParaRPr lang="en-US" sz="1300" dirty="0"/>
          </a:p>
        </p:txBody>
      </p:sp>
      <p:sp>
        <p:nvSpPr>
          <p:cNvPr id="9" name="Shape 7"/>
          <p:cNvSpPr/>
          <p:nvPr/>
        </p:nvSpPr>
        <p:spPr>
          <a:xfrm>
            <a:off x="5959326" y="2114153"/>
            <a:ext cx="5696105" cy="4192389"/>
          </a:xfrm>
          <a:prstGeom prst="roundRect">
            <a:avLst>
              <a:gd name="adj" fmla="val 592"/>
            </a:avLst>
          </a:prstGeom>
          <a:solidFill>
            <a:srgbClr val="202733"/>
          </a:solidFill>
          <a:ln/>
        </p:spPr>
        <p:txBody>
          <a:bodyPr/>
          <a:lstStyle/>
          <a:p>
            <a:endParaRPr lang="en-IN"/>
          </a:p>
        </p:txBody>
      </p:sp>
      <p:sp>
        <p:nvSpPr>
          <p:cNvPr id="10" name="Text 8"/>
          <p:cNvSpPr/>
          <p:nvPr/>
        </p:nvSpPr>
        <p:spPr>
          <a:xfrm>
            <a:off x="6124620" y="2279452"/>
            <a:ext cx="2870426" cy="258465"/>
          </a:xfrm>
          <a:prstGeom prst="rect">
            <a:avLst/>
          </a:prstGeom>
          <a:noFill/>
          <a:ln/>
        </p:spPr>
        <p:txBody>
          <a:bodyPr wrap="none" lIns="0" tIns="0" rIns="0" bIns="0" rtlCol="0" anchor="t"/>
          <a:lstStyle/>
          <a:p>
            <a:pPr marL="0" indent="0" algn="l">
              <a:lnSpc>
                <a:spcPct val="104000"/>
              </a:lnSpc>
              <a:buNone/>
            </a:pPr>
            <a:r>
              <a:rPr lang="en-US" sz="1600" dirty="0">
                <a:solidFill>
                  <a:srgbClr val="76B9FF"/>
                </a:solidFill>
                <a:latin typeface="Roboto Slab" pitchFamily="34" charset="0"/>
                <a:ea typeface="Roboto Slab" pitchFamily="34" charset="-122"/>
                <a:cs typeface="Roboto Slab" pitchFamily="34" charset="-120"/>
              </a:rPr>
              <a:t>Dynamic Port Mapping</a:t>
            </a:r>
            <a:endParaRPr lang="en-US" sz="1600" dirty="0"/>
          </a:p>
        </p:txBody>
      </p:sp>
      <p:sp>
        <p:nvSpPr>
          <p:cNvPr id="11" name="Shape 9"/>
          <p:cNvSpPr/>
          <p:nvPr/>
        </p:nvSpPr>
        <p:spPr>
          <a:xfrm>
            <a:off x="6124620" y="2723952"/>
            <a:ext cx="2600062" cy="1812826"/>
          </a:xfrm>
          <a:prstGeom prst="roundRect">
            <a:avLst>
              <a:gd name="adj" fmla="val 1369"/>
            </a:avLst>
          </a:prstGeom>
          <a:solidFill>
            <a:srgbClr val="3F4652"/>
          </a:solidFill>
          <a:ln/>
        </p:spPr>
        <p:txBody>
          <a:bodyPr/>
          <a:lstStyle/>
          <a:p>
            <a:endParaRPr lang="en-IN"/>
          </a:p>
        </p:txBody>
      </p:sp>
      <p:sp>
        <p:nvSpPr>
          <p:cNvPr id="12" name="Text 10"/>
          <p:cNvSpPr/>
          <p:nvPr/>
        </p:nvSpPr>
        <p:spPr>
          <a:xfrm>
            <a:off x="6289915" y="2889250"/>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D6E5EF"/>
                </a:solidFill>
                <a:latin typeface="Roboto Slab" pitchFamily="34" charset="0"/>
                <a:ea typeface="Roboto Slab" pitchFamily="34" charset="-122"/>
                <a:cs typeface="Roboto Slab" pitchFamily="34" charset="-120"/>
              </a:rPr>
              <a:t>Port 5432</a:t>
            </a:r>
            <a:endParaRPr lang="en-US" sz="1600" dirty="0"/>
          </a:p>
        </p:txBody>
      </p:sp>
      <p:sp>
        <p:nvSpPr>
          <p:cNvPr id="13" name="Text 11"/>
          <p:cNvSpPr/>
          <p:nvPr/>
        </p:nvSpPr>
        <p:spPr>
          <a:xfrm>
            <a:off x="6289915" y="3313013"/>
            <a:ext cx="2269473"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6E5EF"/>
                </a:solidFill>
                <a:latin typeface="Roboto" pitchFamily="34" charset="0"/>
                <a:ea typeface="Roboto" pitchFamily="34" charset="-122"/>
                <a:cs typeface="Roboto" pitchFamily="34" charset="-120"/>
              </a:rPr>
              <a:t>Direct PostgreSQL connection — always available, used by burstable SKUs without PgBouncer.</a:t>
            </a:r>
            <a:endParaRPr lang="en-US" sz="1300" dirty="0"/>
          </a:p>
        </p:txBody>
      </p:sp>
      <p:sp>
        <p:nvSpPr>
          <p:cNvPr id="14" name="Shape 12"/>
          <p:cNvSpPr/>
          <p:nvPr/>
        </p:nvSpPr>
        <p:spPr>
          <a:xfrm>
            <a:off x="8889976" y="2723952"/>
            <a:ext cx="2600161" cy="1812826"/>
          </a:xfrm>
          <a:prstGeom prst="roundRect">
            <a:avLst>
              <a:gd name="adj" fmla="val 1369"/>
            </a:avLst>
          </a:prstGeom>
          <a:solidFill>
            <a:srgbClr val="3F4652"/>
          </a:solidFill>
          <a:ln/>
        </p:spPr>
        <p:txBody>
          <a:bodyPr/>
          <a:lstStyle/>
          <a:p>
            <a:endParaRPr lang="en-IN"/>
          </a:p>
        </p:txBody>
      </p:sp>
      <p:sp>
        <p:nvSpPr>
          <p:cNvPr id="15" name="Text 13"/>
          <p:cNvSpPr/>
          <p:nvPr/>
        </p:nvSpPr>
        <p:spPr>
          <a:xfrm>
            <a:off x="9055270" y="2889250"/>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D6E5EF"/>
                </a:solidFill>
                <a:latin typeface="Roboto Slab" pitchFamily="34" charset="0"/>
                <a:ea typeface="Roboto Slab" pitchFamily="34" charset="-122"/>
                <a:cs typeface="Roboto Slab" pitchFamily="34" charset="-120"/>
              </a:rPr>
              <a:t>Port 6432</a:t>
            </a:r>
            <a:endParaRPr lang="en-US" sz="1600" dirty="0"/>
          </a:p>
        </p:txBody>
      </p:sp>
      <p:sp>
        <p:nvSpPr>
          <p:cNvPr id="16" name="Text 14"/>
          <p:cNvSpPr/>
          <p:nvPr/>
        </p:nvSpPr>
        <p:spPr>
          <a:xfrm>
            <a:off x="9055270" y="3313013"/>
            <a:ext cx="2269572"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6E5EF"/>
                </a:solidFill>
                <a:latin typeface="Roboto" pitchFamily="34" charset="0"/>
                <a:ea typeface="Roboto" pitchFamily="34" charset="-122"/>
                <a:cs typeface="Roboto" pitchFamily="34" charset="-120"/>
              </a:rPr>
              <a:t>PgBouncer proxy port — active only on production SKUs, enabling connection pooling for high-throughput workloads.</a:t>
            </a:r>
            <a:endParaRPr lang="en-US" sz="1300" dirty="0"/>
          </a:p>
        </p:txBody>
      </p:sp>
      <p:sp>
        <p:nvSpPr>
          <p:cNvPr id="17" name="Text 15"/>
          <p:cNvSpPr/>
          <p:nvPr/>
        </p:nvSpPr>
        <p:spPr>
          <a:xfrm>
            <a:off x="6124620" y="4722813"/>
            <a:ext cx="5365517"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6E5EF"/>
                </a:solidFill>
                <a:latin typeface="Roboto" pitchFamily="34" charset="0"/>
                <a:ea typeface="Roboto" pitchFamily="34" charset="-122"/>
                <a:cs typeface="Roboto" pitchFamily="34" charset="-120"/>
              </a:rPr>
              <a:t>Application connection strings are parameterised to reference the correct port based on the active SKU, ensuring seamless connectivity across all environments.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574" y="551160"/>
            <a:ext cx="8344386" cy="490934"/>
          </a:xfrm>
          <a:prstGeom prst="rect">
            <a:avLst/>
          </a:prstGeom>
          <a:noFill/>
          <a:ln/>
        </p:spPr>
        <p:txBody>
          <a:bodyPr wrap="none" lIns="0" tIns="0" rIns="0" bIns="0" rtlCol="0" anchor="t"/>
          <a:lstStyle/>
          <a:p>
            <a:pPr marL="0" indent="0" algn="l">
              <a:lnSpc>
                <a:spcPct val="104000"/>
              </a:lnSpc>
              <a:buNone/>
            </a:pPr>
            <a:r>
              <a:rPr lang="en-US" sz="3050" dirty="0">
                <a:solidFill>
                  <a:srgbClr val="76B9FF"/>
                </a:solidFill>
                <a:latin typeface="Roboto Slab" pitchFamily="34" charset="0"/>
                <a:ea typeface="Roboto Slab" pitchFamily="34" charset="-122"/>
                <a:cs typeface="Roboto Slab" pitchFamily="34" charset="-120"/>
              </a:rPr>
              <a:t>Resolving Node CPU Capacity Constraints</a:t>
            </a:r>
            <a:endParaRPr lang="en-US" sz="3050" dirty="0"/>
          </a:p>
        </p:txBody>
      </p:sp>
      <p:sp>
        <p:nvSpPr>
          <p:cNvPr id="3" name="Text 1"/>
          <p:cNvSpPr/>
          <p:nvPr/>
        </p:nvSpPr>
        <p:spPr>
          <a:xfrm>
            <a:off x="661574" y="1340545"/>
            <a:ext cx="10868547" cy="909737"/>
          </a:xfrm>
          <a:prstGeom prst="rect">
            <a:avLst/>
          </a:prstGeom>
          <a:noFill/>
          <a:ln/>
        </p:spPr>
        <p:txBody>
          <a:bodyPr wrap="square" lIns="0" tIns="0" rIns="0" bIns="0" rtlCol="0" anchor="t"/>
          <a:lstStyle/>
          <a:p>
            <a:pPr marL="0" indent="0" algn="l">
              <a:lnSpc>
                <a:spcPct val="130000"/>
              </a:lnSpc>
              <a:spcAft>
                <a:spcPts val="3250"/>
              </a:spcAft>
              <a:buNone/>
            </a:pPr>
            <a:endParaRPr lang="en-US" sz="1200" dirty="0"/>
          </a:p>
          <a:p>
            <a:pPr marL="0" indent="0" algn="l">
              <a:lnSpc>
                <a:spcPct val="130000"/>
              </a:lnSpc>
              <a:buNone/>
            </a:pPr>
            <a:r>
              <a:rPr lang="en-US" sz="1200" dirty="0">
                <a:solidFill>
                  <a:srgbClr val="D6E5EF"/>
                </a:solidFill>
                <a:latin typeface="Roboto" pitchFamily="34" charset="0"/>
                <a:ea typeface="Roboto" pitchFamily="34" charset="-122"/>
                <a:cs typeface="Roboto" pitchFamily="34" charset="-120"/>
              </a:rPr>
              <a:t>During initial deployment, the single-node AKS pool in the </a:t>
            </a:r>
            <a:r>
              <a:rPr lang="en-US" sz="1200" dirty="0">
                <a:solidFill>
                  <a:srgbClr val="D6E5EF"/>
                </a:solidFill>
                <a:highlight>
                  <a:srgbClr val="2D3440"/>
                </a:highlight>
                <a:latin typeface="Consolas" pitchFamily="34" charset="0"/>
                <a:ea typeface="Consolas" pitchFamily="34" charset="-122"/>
                <a:cs typeface="Consolas" pitchFamily="34" charset="-120"/>
              </a:rPr>
              <a:t>dev</a:t>
            </a:r>
            <a:r>
              <a:rPr lang="en-US" sz="1200" dirty="0">
                <a:solidFill>
                  <a:srgbClr val="D6E5EF"/>
                </a:solidFill>
                <a:latin typeface="Roboto" pitchFamily="34" charset="0"/>
                <a:ea typeface="Roboto" pitchFamily="34" charset="-122"/>
                <a:cs typeface="Roboto" pitchFamily="34" charset="-120"/>
              </a:rPr>
              <a:t> environment was rapidly exhausted by system overhead — logging agents, metrics server, CSI drivers, workload identity components, and the ingress controller collectively consumed available CPU, leaving workload pods unschedulable.</a:t>
            </a:r>
            <a:endParaRPr lang="en-US" sz="1200" dirty="0"/>
          </a:p>
        </p:txBody>
      </p:sp>
      <p:sp>
        <p:nvSpPr>
          <p:cNvPr id="4" name="Text 2"/>
          <p:cNvSpPr/>
          <p:nvPr/>
        </p:nvSpPr>
        <p:spPr>
          <a:xfrm>
            <a:off x="661574" y="2567384"/>
            <a:ext cx="3667728" cy="245566"/>
          </a:xfrm>
          <a:prstGeom prst="rect">
            <a:avLst/>
          </a:prstGeom>
          <a:noFill/>
          <a:ln/>
        </p:spPr>
        <p:txBody>
          <a:bodyPr wrap="none" lIns="0" tIns="0" rIns="0" bIns="0" rtlCol="0" anchor="t"/>
          <a:lstStyle/>
          <a:p>
            <a:pPr marL="0" indent="0" algn="l">
              <a:lnSpc>
                <a:spcPct val="104000"/>
              </a:lnSpc>
              <a:buNone/>
            </a:pPr>
            <a:r>
              <a:rPr lang="en-US" sz="1500" dirty="0">
                <a:solidFill>
                  <a:srgbClr val="76B9FF"/>
                </a:solidFill>
                <a:latin typeface="Roboto Slab" pitchFamily="34" charset="0"/>
                <a:ea typeface="Roboto Slab" pitchFamily="34" charset="-122"/>
                <a:cs typeface="Roboto Slab" pitchFamily="34" charset="-120"/>
              </a:rPr>
              <a:t>Before — Single Node Exhaustion</a:t>
            </a:r>
            <a:endParaRPr lang="en-US" sz="15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525" y="2980829"/>
            <a:ext cx="2565733" cy="1979613"/>
          </a:xfrm>
          <a:prstGeom prst="rect">
            <a:avLst/>
          </a:prstGeom>
        </p:spPr>
      </p:pic>
      <p:sp>
        <p:nvSpPr>
          <p:cNvPr id="6" name="Text 3"/>
          <p:cNvSpPr/>
          <p:nvPr/>
        </p:nvSpPr>
        <p:spPr>
          <a:xfrm>
            <a:off x="894832" y="3156942"/>
            <a:ext cx="2137317" cy="491133"/>
          </a:xfrm>
          <a:prstGeom prst="rect">
            <a:avLst/>
          </a:prstGeom>
          <a:noFill/>
          <a:ln/>
        </p:spPr>
        <p:txBody>
          <a:bodyPr wrap="square" lIns="0" tIns="0" rIns="0" bIns="0" rtlCol="0" anchor="t">
            <a:normAutofit/>
          </a:bodyPr>
          <a:lstStyle/>
          <a:p>
            <a:pPr marL="0" indent="0" algn="l">
              <a:lnSpc>
                <a:spcPct val="104000"/>
              </a:lnSpc>
              <a:buNone/>
            </a:pPr>
            <a:r>
              <a:rPr lang="en-US" sz="1500" dirty="0">
                <a:solidFill>
                  <a:srgbClr val="D6E5EF"/>
                </a:solidFill>
                <a:latin typeface="Roboto Slab" pitchFamily="34" charset="0"/>
                <a:ea typeface="Roboto Slab" pitchFamily="34" charset="-122"/>
                <a:cs typeface="Roboto Slab" pitchFamily="34" charset="-120"/>
              </a:rPr>
              <a:t>System Overhead (~85% CPU)</a:t>
            </a:r>
            <a:endParaRPr lang="en-US" sz="1500" dirty="0"/>
          </a:p>
        </p:txBody>
      </p:sp>
      <p:sp>
        <p:nvSpPr>
          <p:cNvPr id="7" name="Text 4"/>
          <p:cNvSpPr/>
          <p:nvPr/>
        </p:nvSpPr>
        <p:spPr>
          <a:xfrm>
            <a:off x="894832" y="3797300"/>
            <a:ext cx="2137317" cy="73550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D6E5EF"/>
                </a:solidFill>
                <a:latin typeface="Roboto" pitchFamily="34" charset="0"/>
                <a:ea typeface="Roboto" pitchFamily="34" charset="-122"/>
                <a:cs typeface="Roboto" pitchFamily="34" charset="-120"/>
              </a:rPr>
              <a:t>Logging agents · Metrics Server · CSI Drivers · Workload Identity · Ingress Controller</a:t>
            </a:r>
            <a:endParaRPr lang="en-US" sz="12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8429" y="2980829"/>
            <a:ext cx="2565733" cy="1979613"/>
          </a:xfrm>
          <a:prstGeom prst="rect">
            <a:avLst/>
          </a:prstGeom>
        </p:spPr>
      </p:pic>
      <p:sp>
        <p:nvSpPr>
          <p:cNvPr id="9" name="Text 5"/>
          <p:cNvSpPr/>
          <p:nvPr/>
        </p:nvSpPr>
        <p:spPr>
          <a:xfrm>
            <a:off x="3590736" y="3156942"/>
            <a:ext cx="2137317" cy="491133"/>
          </a:xfrm>
          <a:prstGeom prst="rect">
            <a:avLst/>
          </a:prstGeom>
          <a:noFill/>
          <a:ln/>
        </p:spPr>
        <p:txBody>
          <a:bodyPr wrap="square" lIns="0" tIns="0" rIns="0" bIns="0" rtlCol="0" anchor="t">
            <a:normAutofit/>
          </a:bodyPr>
          <a:lstStyle/>
          <a:p>
            <a:pPr marL="0" indent="0" algn="l">
              <a:lnSpc>
                <a:spcPct val="104000"/>
              </a:lnSpc>
              <a:buNone/>
            </a:pPr>
            <a:r>
              <a:rPr lang="en-US" sz="1500" dirty="0">
                <a:solidFill>
                  <a:srgbClr val="D6E5EF"/>
                </a:solidFill>
                <a:latin typeface="Roboto Slab" pitchFamily="34" charset="0"/>
                <a:ea typeface="Roboto Slab" pitchFamily="34" charset="-122"/>
                <a:cs typeface="Roboto Slab" pitchFamily="34" charset="-120"/>
              </a:rPr>
              <a:t>Remaining Capacity (~15%)</a:t>
            </a:r>
            <a:endParaRPr lang="en-US" sz="1500" dirty="0"/>
          </a:p>
        </p:txBody>
      </p:sp>
      <p:sp>
        <p:nvSpPr>
          <p:cNvPr id="10" name="Text 6"/>
          <p:cNvSpPr/>
          <p:nvPr/>
        </p:nvSpPr>
        <p:spPr>
          <a:xfrm>
            <a:off x="3590736" y="3797300"/>
            <a:ext cx="2137317" cy="987028"/>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D6E5EF"/>
                </a:solidFill>
                <a:latin typeface="Roboto" pitchFamily="34" charset="0"/>
                <a:ea typeface="Roboto" pitchFamily="34" charset="-122"/>
                <a:cs typeface="Roboto" pitchFamily="34" charset="-120"/>
              </a:rPr>
              <a:t>Insufficient for application pods — ingress controller pods entered </a:t>
            </a:r>
            <a:r>
              <a:rPr lang="en-US" sz="1200" dirty="0">
                <a:solidFill>
                  <a:srgbClr val="D6E5EF"/>
                </a:solidFill>
                <a:highlight>
                  <a:srgbClr val="2D3440"/>
                </a:highlight>
                <a:latin typeface="Consolas" pitchFamily="34" charset="0"/>
                <a:ea typeface="Consolas" pitchFamily="34" charset="-122"/>
                <a:cs typeface="Consolas" pitchFamily="34" charset="-120"/>
              </a:rPr>
              <a:t>Pending</a:t>
            </a:r>
            <a:r>
              <a:rPr lang="en-US" sz="1200" dirty="0">
                <a:solidFill>
                  <a:srgbClr val="D6E5EF"/>
                </a:solidFill>
                <a:latin typeface="Roboto" pitchFamily="34" charset="0"/>
                <a:ea typeface="Roboto" pitchFamily="34" charset="-122"/>
                <a:cs typeface="Roboto" pitchFamily="34" charset="-120"/>
              </a:rPr>
              <a:t> state indefinitely.</a:t>
            </a:r>
            <a:endParaRPr lang="en-US" sz="1200" dirty="0"/>
          </a:p>
        </p:txBody>
      </p:sp>
      <p:sp>
        <p:nvSpPr>
          <p:cNvPr id="11" name="Shape 7"/>
          <p:cNvSpPr/>
          <p:nvPr/>
        </p:nvSpPr>
        <p:spPr>
          <a:xfrm>
            <a:off x="6180677" y="2418159"/>
            <a:ext cx="5468999" cy="3888581"/>
          </a:xfrm>
          <a:prstGeom prst="roundRect">
            <a:avLst>
              <a:gd name="adj" fmla="val 606"/>
            </a:avLst>
          </a:prstGeom>
          <a:solidFill>
            <a:srgbClr val="202733"/>
          </a:solidFill>
          <a:ln/>
        </p:spPr>
        <p:txBody>
          <a:bodyPr/>
          <a:lstStyle/>
          <a:p>
            <a:endParaRPr lang="en-IN"/>
          </a:p>
        </p:txBody>
      </p:sp>
      <p:sp>
        <p:nvSpPr>
          <p:cNvPr id="12" name="Text 8"/>
          <p:cNvSpPr/>
          <p:nvPr/>
        </p:nvSpPr>
        <p:spPr>
          <a:xfrm>
            <a:off x="6337737" y="2567384"/>
            <a:ext cx="3722793" cy="245566"/>
          </a:xfrm>
          <a:prstGeom prst="rect">
            <a:avLst/>
          </a:prstGeom>
          <a:noFill/>
          <a:ln/>
        </p:spPr>
        <p:txBody>
          <a:bodyPr wrap="none" lIns="0" tIns="0" rIns="0" bIns="0" rtlCol="0" anchor="t"/>
          <a:lstStyle/>
          <a:p>
            <a:pPr marL="0" indent="0" algn="l">
              <a:lnSpc>
                <a:spcPct val="104000"/>
              </a:lnSpc>
              <a:buNone/>
            </a:pPr>
            <a:r>
              <a:rPr lang="en-US" sz="1500" dirty="0">
                <a:solidFill>
                  <a:srgbClr val="76B9FF"/>
                </a:solidFill>
                <a:latin typeface="Roboto Slab" pitchFamily="34" charset="0"/>
                <a:ea typeface="Roboto Slab" pitchFamily="34" charset="-122"/>
                <a:cs typeface="Roboto Slab" pitchFamily="34" charset="-120"/>
              </a:rPr>
              <a:t>Terraform Fix — Applied Changes</a:t>
            </a:r>
            <a:endParaRPr lang="en-US" sz="1500" dirty="0"/>
          </a:p>
        </p:txBody>
      </p:sp>
      <p:sp>
        <p:nvSpPr>
          <p:cNvPr id="13" name="Shape 9"/>
          <p:cNvSpPr/>
          <p:nvPr/>
        </p:nvSpPr>
        <p:spPr>
          <a:xfrm>
            <a:off x="6337737" y="2980829"/>
            <a:ext cx="5154880" cy="2275483"/>
          </a:xfrm>
          <a:prstGeom prst="roundRect">
            <a:avLst>
              <a:gd name="adj" fmla="val 1036"/>
            </a:avLst>
          </a:prstGeom>
          <a:solidFill>
            <a:srgbClr val="2D3440"/>
          </a:solidFill>
          <a:ln/>
        </p:spPr>
        <p:txBody>
          <a:bodyPr/>
          <a:lstStyle/>
          <a:p>
            <a:endParaRPr lang="en-IN"/>
          </a:p>
        </p:txBody>
      </p:sp>
      <p:sp>
        <p:nvSpPr>
          <p:cNvPr id="14" name="Shape 10"/>
          <p:cNvSpPr/>
          <p:nvPr/>
        </p:nvSpPr>
        <p:spPr>
          <a:xfrm>
            <a:off x="6329899" y="2980829"/>
            <a:ext cx="5170557" cy="2275483"/>
          </a:xfrm>
          <a:prstGeom prst="roundRect">
            <a:avLst>
              <a:gd name="adj" fmla="val 1036"/>
            </a:avLst>
          </a:prstGeom>
          <a:solidFill>
            <a:srgbClr val="2D3440"/>
          </a:solidFill>
          <a:ln/>
        </p:spPr>
        <p:txBody>
          <a:bodyPr/>
          <a:lstStyle/>
          <a:p>
            <a:endParaRPr lang="en-IN"/>
          </a:p>
        </p:txBody>
      </p:sp>
      <p:sp>
        <p:nvSpPr>
          <p:cNvPr id="15" name="Text 11"/>
          <p:cNvSpPr/>
          <p:nvPr/>
        </p:nvSpPr>
        <p:spPr>
          <a:xfrm>
            <a:off x="6526248" y="3137892"/>
            <a:ext cx="4777859" cy="1961356"/>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default_node_pool {</a:t>
            </a:r>
            <a:endParaRPr lang="en-US" sz="1200" dirty="0"/>
          </a:p>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  name       = "default"</a:t>
            </a:r>
            <a:endParaRPr lang="en-US" sz="1200" dirty="0"/>
          </a:p>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  node_count = var.node_count  # Changed: 1 → 2</a:t>
            </a:r>
            <a:endParaRPr lang="en-US" sz="1200" dirty="0"/>
          </a:p>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  vm_size    = var.vm_size</a:t>
            </a:r>
            <a:endParaRPr lang="en-US" sz="1200" dirty="0"/>
          </a:p>
          <a:p>
            <a:pPr marL="0" indent="0" algn="l">
              <a:lnSpc>
                <a:spcPct val="130000"/>
              </a:lnSpc>
              <a:buNone/>
            </a:pPr>
            <a:endParaRPr lang="en-US" sz="1200" dirty="0"/>
          </a:p>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  # Removed: lifecycle { ignore_changes = [node_count] }</a:t>
            </a:r>
            <a:endParaRPr lang="en-US" sz="1200" dirty="0"/>
          </a:p>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  # Terraform now enforces scaling policy</a:t>
            </a:r>
            <a:endParaRPr lang="en-US" sz="1200" dirty="0"/>
          </a:p>
          <a:p>
            <a:pPr marL="0" indent="0" algn="l">
              <a:lnSpc>
                <a:spcPct val="130000"/>
              </a:lnSpc>
              <a:buNone/>
            </a:pPr>
            <a:r>
              <a:rPr lang="en-US" sz="1200" dirty="0">
                <a:solidFill>
                  <a:srgbClr val="D6E5EF"/>
                </a:solidFill>
                <a:highlight>
                  <a:srgbClr val="2D3440"/>
                </a:highlight>
                <a:latin typeface="Consolas" pitchFamily="34" charset="0"/>
                <a:ea typeface="Consolas" pitchFamily="34" charset="-122"/>
                <a:cs typeface="Consolas" pitchFamily="34" charset="-120"/>
              </a:rPr>
              <a:t>}</a:t>
            </a:r>
            <a:endParaRPr lang="en-US" sz="1200" dirty="0"/>
          </a:p>
        </p:txBody>
      </p:sp>
      <p:sp>
        <p:nvSpPr>
          <p:cNvPr id="16" name="Text 12"/>
          <p:cNvSpPr/>
          <p:nvPr/>
        </p:nvSpPr>
        <p:spPr>
          <a:xfrm>
            <a:off x="6337737" y="5424190"/>
            <a:ext cx="5154880" cy="74820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D6E5EF"/>
                </a:solidFill>
                <a:latin typeface="Roboto" pitchFamily="34" charset="0"/>
                <a:ea typeface="Roboto" pitchFamily="34" charset="-122"/>
                <a:cs typeface="Roboto" pitchFamily="34" charset="-120"/>
              </a:rPr>
              <a:t>Increasing </a:t>
            </a:r>
            <a:r>
              <a:rPr lang="en-US" sz="1200" dirty="0">
                <a:solidFill>
                  <a:srgbClr val="D6E5EF"/>
                </a:solidFill>
                <a:highlight>
                  <a:srgbClr val="2D3440"/>
                </a:highlight>
                <a:latin typeface="Consolas" pitchFamily="34" charset="0"/>
                <a:ea typeface="Consolas" pitchFamily="34" charset="-122"/>
                <a:cs typeface="Consolas" pitchFamily="34" charset="-120"/>
              </a:rPr>
              <a:t>node_count</a:t>
            </a:r>
            <a:r>
              <a:rPr lang="en-US" sz="1200" dirty="0">
                <a:solidFill>
                  <a:srgbClr val="D6E5EF"/>
                </a:solidFill>
                <a:latin typeface="Roboto" pitchFamily="34" charset="0"/>
                <a:ea typeface="Roboto" pitchFamily="34" charset="-122"/>
                <a:cs typeface="Roboto" pitchFamily="34" charset="-120"/>
              </a:rPr>
              <a:t> to </a:t>
            </a:r>
            <a:r>
              <a:rPr lang="en-US" sz="1200" dirty="0">
                <a:solidFill>
                  <a:srgbClr val="D6E5EF"/>
                </a:solidFill>
                <a:highlight>
                  <a:srgbClr val="2D3440"/>
                </a:highlight>
                <a:latin typeface="Consolas" pitchFamily="34" charset="0"/>
                <a:ea typeface="Consolas" pitchFamily="34" charset="-122"/>
                <a:cs typeface="Consolas" pitchFamily="34" charset="-120"/>
              </a:rPr>
              <a:t>2</a:t>
            </a:r>
            <a:r>
              <a:rPr lang="en-US" sz="1200" dirty="0">
                <a:solidFill>
                  <a:srgbClr val="D6E5EF"/>
                </a:solidFill>
                <a:latin typeface="Roboto" pitchFamily="34" charset="0"/>
                <a:ea typeface="Roboto" pitchFamily="34" charset="-122"/>
                <a:cs typeface="Roboto" pitchFamily="34" charset="-120"/>
              </a:rPr>
              <a:t> in </a:t>
            </a:r>
            <a:r>
              <a:rPr lang="en-US" sz="1200" dirty="0">
                <a:solidFill>
                  <a:srgbClr val="D6E5EF"/>
                </a:solidFill>
                <a:highlight>
                  <a:srgbClr val="2D3440"/>
                </a:highlight>
                <a:latin typeface="Consolas" pitchFamily="34" charset="0"/>
                <a:ea typeface="Consolas" pitchFamily="34" charset="-122"/>
                <a:cs typeface="Consolas" pitchFamily="34" charset="-120"/>
              </a:rPr>
              <a:t>dev.tfvars</a:t>
            </a:r>
            <a:r>
              <a:rPr lang="en-US" sz="1200" dirty="0">
                <a:solidFill>
                  <a:srgbClr val="D6E5EF"/>
                </a:solidFill>
                <a:latin typeface="Roboto" pitchFamily="34" charset="0"/>
                <a:ea typeface="Roboto" pitchFamily="34" charset="-122"/>
                <a:cs typeface="Roboto" pitchFamily="34" charset="-120"/>
              </a:rPr>
              <a:t> restored scheduling headroom. Removing </a:t>
            </a:r>
            <a:r>
              <a:rPr lang="en-US" sz="1200" dirty="0">
                <a:solidFill>
                  <a:srgbClr val="D6E5EF"/>
                </a:solidFill>
                <a:highlight>
                  <a:srgbClr val="2D3440"/>
                </a:highlight>
                <a:latin typeface="Consolas" pitchFamily="34" charset="0"/>
                <a:ea typeface="Consolas" pitchFamily="34" charset="-122"/>
                <a:cs typeface="Consolas" pitchFamily="34" charset="-120"/>
              </a:rPr>
              <a:t>lifecycle.ignore_changes</a:t>
            </a:r>
            <a:r>
              <a:rPr lang="en-US" sz="1200" dirty="0">
                <a:solidFill>
                  <a:srgbClr val="D6E5EF"/>
                </a:solidFill>
                <a:latin typeface="Roboto" pitchFamily="34" charset="0"/>
                <a:ea typeface="Roboto" pitchFamily="34" charset="-122"/>
                <a:cs typeface="Roboto" pitchFamily="34" charset="-120"/>
              </a:rPr>
              <a:t> ensures Terraform actively manages node count going forward.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574" y="1098451"/>
            <a:ext cx="7161827" cy="516731"/>
          </a:xfrm>
          <a:prstGeom prst="rect">
            <a:avLst/>
          </a:prstGeom>
          <a:noFill/>
          <a:ln/>
        </p:spPr>
        <p:txBody>
          <a:bodyPr wrap="none" lIns="0" tIns="0" rIns="0" bIns="0" rtlCol="0" anchor="t"/>
          <a:lstStyle/>
          <a:p>
            <a:pPr marL="0" indent="0" algn="l">
              <a:lnSpc>
                <a:spcPct val="104000"/>
              </a:lnSpc>
              <a:buNone/>
            </a:pPr>
            <a:r>
              <a:rPr lang="en-US" sz="3250" dirty="0">
                <a:solidFill>
                  <a:srgbClr val="76B9FF"/>
                </a:solidFill>
                <a:latin typeface="Roboto Slab" pitchFamily="34" charset="0"/>
                <a:ea typeface="Roboto Slab" pitchFamily="34" charset="-122"/>
                <a:cs typeface="Roboto Slab" pitchFamily="34" charset="-120"/>
              </a:rPr>
              <a:t>Azure Blob Remote State Backend</a:t>
            </a:r>
            <a:endParaRPr lang="en-US" sz="3250" dirty="0"/>
          </a:p>
        </p:txBody>
      </p:sp>
      <p:sp>
        <p:nvSpPr>
          <p:cNvPr id="3" name="Shape 1"/>
          <p:cNvSpPr/>
          <p:nvPr/>
        </p:nvSpPr>
        <p:spPr>
          <a:xfrm>
            <a:off x="661574" y="2049264"/>
            <a:ext cx="5232567" cy="1708348"/>
          </a:xfrm>
          <a:prstGeom prst="roundRect">
            <a:avLst>
              <a:gd name="adj" fmla="val 1452"/>
            </a:avLst>
          </a:prstGeom>
          <a:solidFill>
            <a:srgbClr val="202733"/>
          </a:solidFill>
          <a:ln w="19050">
            <a:solidFill>
              <a:srgbClr val="585F6B"/>
            </a:solidFill>
            <a:prstDash val="solid"/>
          </a:ln>
        </p:spPr>
        <p:txBody>
          <a:bodyPr/>
          <a:lstStyle/>
          <a:p>
            <a:endParaRPr lang="en-IN"/>
          </a:p>
        </p:txBody>
      </p:sp>
      <p:sp>
        <p:nvSpPr>
          <p:cNvPr id="4" name="Text 2"/>
          <p:cNvSpPr/>
          <p:nvPr/>
        </p:nvSpPr>
        <p:spPr>
          <a:xfrm>
            <a:off x="845918" y="2233613"/>
            <a:ext cx="2067369" cy="258465"/>
          </a:xfrm>
          <a:prstGeom prst="rect">
            <a:avLst/>
          </a:prstGeom>
          <a:noFill/>
          <a:ln/>
        </p:spPr>
        <p:txBody>
          <a:bodyPr wrap="none" lIns="0" tIns="0" rIns="0" bIns="0" rtlCol="0" anchor="t"/>
          <a:lstStyle/>
          <a:p>
            <a:pPr marL="0" indent="0" algn="l">
              <a:lnSpc>
                <a:spcPct val="104000"/>
              </a:lnSpc>
              <a:buNone/>
            </a:pPr>
            <a:r>
              <a:rPr lang="en-US" sz="1600" dirty="0">
                <a:solidFill>
                  <a:srgbClr val="D6E5EF"/>
                </a:solidFill>
                <a:latin typeface="Roboto Slab" pitchFamily="34" charset="0"/>
                <a:ea typeface="Roboto Slab" pitchFamily="34" charset="-122"/>
                <a:cs typeface="Roboto Slab" pitchFamily="34" charset="-120"/>
              </a:rPr>
              <a:t>Secure Storage</a:t>
            </a:r>
            <a:endParaRPr lang="en-US" sz="1600" dirty="0"/>
          </a:p>
        </p:txBody>
      </p:sp>
      <p:sp>
        <p:nvSpPr>
          <p:cNvPr id="5" name="Text 3"/>
          <p:cNvSpPr/>
          <p:nvPr/>
        </p:nvSpPr>
        <p:spPr>
          <a:xfrm>
            <a:off x="845918" y="2657376"/>
            <a:ext cx="4863879" cy="915888"/>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300" dirty="0">
                <a:solidFill>
                  <a:srgbClr val="D6E5EF"/>
                </a:solidFill>
                <a:latin typeface="Roboto" pitchFamily="34" charset="0"/>
                <a:ea typeface="Roboto" pitchFamily="34" charset="-122"/>
                <a:cs typeface="Roboto" pitchFamily="34" charset="-120"/>
              </a:rPr>
              <a:t>Terraform state stored in encrypted Azure Blob container</a:t>
            </a:r>
            <a:endParaRPr lang="en-US" sz="1300" dirty="0"/>
          </a:p>
          <a:p>
            <a:pPr marL="342900" indent="-342900" algn="l">
              <a:lnSpc>
                <a:spcPct val="133000"/>
              </a:lnSpc>
              <a:buSzPct val="100000"/>
              <a:buChar char="•"/>
            </a:pPr>
            <a:r>
              <a:rPr lang="en-US" sz="1300" dirty="0">
                <a:solidFill>
                  <a:srgbClr val="D6E5EF"/>
                </a:solidFill>
                <a:latin typeface="Roboto" pitchFamily="34" charset="0"/>
                <a:ea typeface="Roboto" pitchFamily="34" charset="-122"/>
                <a:cs typeface="Roboto" pitchFamily="34" charset="-120"/>
              </a:rPr>
              <a:t>Storage account: </a:t>
            </a:r>
            <a:r>
              <a:rPr lang="en-US" sz="1300" dirty="0">
                <a:solidFill>
                  <a:srgbClr val="D6E5EF"/>
                </a:solidFill>
                <a:highlight>
                  <a:srgbClr val="2D3440"/>
                </a:highlight>
                <a:latin typeface="Consolas" pitchFamily="34" charset="0"/>
                <a:ea typeface="Consolas" pitchFamily="34" charset="-122"/>
                <a:cs typeface="Consolas" pitchFamily="34" charset="-120"/>
              </a:rPr>
              <a:t>stmedishifttfstate</a:t>
            </a:r>
            <a:endParaRPr lang="en-US" sz="1300" dirty="0"/>
          </a:p>
          <a:p>
            <a:pPr marL="342900" indent="-342900" algn="l">
              <a:lnSpc>
                <a:spcPct val="133000"/>
              </a:lnSpc>
              <a:buSzPct val="100000"/>
              <a:buChar char="•"/>
            </a:pPr>
            <a:r>
              <a:rPr lang="en-US" sz="1300" dirty="0">
                <a:solidFill>
                  <a:srgbClr val="D6E5EF"/>
                </a:solidFill>
                <a:latin typeface="Roboto" pitchFamily="34" charset="0"/>
                <a:ea typeface="Roboto" pitchFamily="34" charset="-122"/>
                <a:cs typeface="Roboto" pitchFamily="34" charset="-120"/>
              </a:rPr>
              <a:t>Centralized, remote, access-controlled backend</a:t>
            </a:r>
            <a:endParaRPr lang="en-US" sz="1300" dirty="0"/>
          </a:p>
        </p:txBody>
      </p:sp>
      <p:sp>
        <p:nvSpPr>
          <p:cNvPr id="6" name="Shape 4"/>
          <p:cNvSpPr/>
          <p:nvPr/>
        </p:nvSpPr>
        <p:spPr>
          <a:xfrm>
            <a:off x="661574" y="3922911"/>
            <a:ext cx="5232567" cy="1650504"/>
          </a:xfrm>
          <a:prstGeom prst="roundRect">
            <a:avLst>
              <a:gd name="adj" fmla="val 1503"/>
            </a:avLst>
          </a:prstGeom>
          <a:solidFill>
            <a:srgbClr val="202733"/>
          </a:solidFill>
          <a:ln w="19050">
            <a:solidFill>
              <a:srgbClr val="585F6B"/>
            </a:solidFill>
            <a:prstDash val="solid"/>
          </a:ln>
        </p:spPr>
        <p:txBody>
          <a:bodyPr/>
          <a:lstStyle/>
          <a:p>
            <a:endParaRPr lang="en-IN"/>
          </a:p>
        </p:txBody>
      </p:sp>
      <p:sp>
        <p:nvSpPr>
          <p:cNvPr id="7" name="Text 5"/>
          <p:cNvSpPr/>
          <p:nvPr/>
        </p:nvSpPr>
        <p:spPr>
          <a:xfrm>
            <a:off x="845918" y="4107259"/>
            <a:ext cx="2548767" cy="258465"/>
          </a:xfrm>
          <a:prstGeom prst="rect">
            <a:avLst/>
          </a:prstGeom>
          <a:noFill/>
          <a:ln/>
        </p:spPr>
        <p:txBody>
          <a:bodyPr wrap="none" lIns="0" tIns="0" rIns="0" bIns="0" rtlCol="0" anchor="t"/>
          <a:lstStyle/>
          <a:p>
            <a:pPr marL="0" indent="0" algn="l">
              <a:lnSpc>
                <a:spcPct val="104000"/>
              </a:lnSpc>
              <a:buNone/>
            </a:pPr>
            <a:r>
              <a:rPr lang="en-US" sz="1600" dirty="0">
                <a:solidFill>
                  <a:srgbClr val="D6E5EF"/>
                </a:solidFill>
                <a:latin typeface="Roboto Slab" pitchFamily="34" charset="0"/>
                <a:ea typeface="Roboto Slab" pitchFamily="34" charset="-122"/>
                <a:cs typeface="Roboto Slab" pitchFamily="34" charset="-120"/>
              </a:rPr>
              <a:t>Workspace Path Structure</a:t>
            </a:r>
            <a:endParaRPr lang="en-US" sz="1600" dirty="0"/>
          </a:p>
        </p:txBody>
      </p:sp>
      <p:sp>
        <p:nvSpPr>
          <p:cNvPr id="8" name="Text 6"/>
          <p:cNvSpPr/>
          <p:nvPr/>
        </p:nvSpPr>
        <p:spPr>
          <a:xfrm>
            <a:off x="845918" y="4531023"/>
            <a:ext cx="4863879" cy="85804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300" dirty="0">
                <a:solidFill>
                  <a:srgbClr val="D6E5EF"/>
                </a:solidFill>
                <a:latin typeface="Roboto" pitchFamily="34" charset="0"/>
                <a:ea typeface="Roboto" pitchFamily="34" charset="-122"/>
                <a:cs typeface="Roboto" pitchFamily="34" charset="-120"/>
              </a:rPr>
              <a:t>State path format: </a:t>
            </a:r>
            <a:r>
              <a:rPr lang="en-US" sz="1300" dirty="0">
                <a:solidFill>
                  <a:srgbClr val="D6E5EF"/>
                </a:solidFill>
                <a:highlight>
                  <a:srgbClr val="2D3440"/>
                </a:highlight>
                <a:latin typeface="Consolas" pitchFamily="34" charset="0"/>
                <a:ea typeface="Consolas" pitchFamily="34" charset="-122"/>
                <a:cs typeface="Consolas" pitchFamily="34" charset="-120"/>
              </a:rPr>
              <a:t>env:/&lt;workspace_name&gt;/medishift.terraform.tfstate</a:t>
            </a:r>
            <a:endParaRPr lang="en-US" sz="1300" dirty="0"/>
          </a:p>
          <a:p>
            <a:pPr marL="342900" indent="-342900" algn="l">
              <a:lnSpc>
                <a:spcPct val="133000"/>
              </a:lnSpc>
              <a:buSzPct val="100000"/>
              <a:buChar char="•"/>
            </a:pPr>
            <a:r>
              <a:rPr lang="en-US" sz="1300" dirty="0">
                <a:solidFill>
                  <a:srgbClr val="D6E5EF"/>
                </a:solidFill>
                <a:latin typeface="Roboto" pitchFamily="34" charset="0"/>
                <a:ea typeface="Roboto" pitchFamily="34" charset="-122"/>
                <a:cs typeface="Roboto" pitchFamily="34" charset="-120"/>
              </a:rPr>
              <a:t>Separate state isolation for: dev, prod</a:t>
            </a:r>
            <a:endParaRPr lang="en-US" sz="1300" dirty="0"/>
          </a:p>
        </p:txBody>
      </p:sp>
      <p:sp>
        <p:nvSpPr>
          <p:cNvPr id="9" name="Shape 7"/>
          <p:cNvSpPr/>
          <p:nvPr/>
        </p:nvSpPr>
        <p:spPr>
          <a:xfrm>
            <a:off x="6184844" y="1863229"/>
            <a:ext cx="5470686" cy="3896221"/>
          </a:xfrm>
          <a:prstGeom prst="roundRect">
            <a:avLst>
              <a:gd name="adj" fmla="val 637"/>
            </a:avLst>
          </a:prstGeom>
          <a:solidFill>
            <a:srgbClr val="202733"/>
          </a:solidFill>
          <a:ln/>
        </p:spPr>
        <p:txBody>
          <a:bodyPr/>
          <a:lstStyle/>
          <a:p>
            <a:endParaRPr lang="en-IN"/>
          </a:p>
        </p:txBody>
      </p:sp>
      <p:pic>
        <p:nvPicPr>
          <p:cNvPr id="10" name="Image 0" descr="preencoded.png"/>
          <p:cNvPicPr>
            <a:picLocks noChangeAspect="1"/>
          </p:cNvPicPr>
          <p:nvPr/>
        </p:nvPicPr>
        <p:blipFill>
          <a:blip r:embed="rId3"/>
          <a:stretch>
            <a:fillRect/>
          </a:stretch>
        </p:blipFill>
        <p:spPr>
          <a:xfrm>
            <a:off x="6350139" y="2049264"/>
            <a:ext cx="5140097" cy="28689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574" y="476349"/>
            <a:ext cx="6029869" cy="516731"/>
          </a:xfrm>
          <a:prstGeom prst="rect">
            <a:avLst/>
          </a:prstGeom>
          <a:noFill/>
          <a:ln/>
        </p:spPr>
        <p:txBody>
          <a:bodyPr wrap="none" lIns="0" tIns="0" rIns="0" bIns="0" rtlCol="0" anchor="t"/>
          <a:lstStyle/>
          <a:p>
            <a:pPr marL="0" indent="0" algn="l">
              <a:lnSpc>
                <a:spcPct val="104000"/>
              </a:lnSpc>
              <a:buNone/>
            </a:pPr>
            <a:r>
              <a:rPr lang="en-US" sz="3250" dirty="0">
                <a:solidFill>
                  <a:srgbClr val="76B9FF"/>
                </a:solidFill>
                <a:latin typeface="Roboto Slab" pitchFamily="34" charset="0"/>
                <a:ea typeface="Roboto Slab" pitchFamily="34" charset="-122"/>
                <a:cs typeface="Roboto Slab" pitchFamily="34" charset="-120"/>
              </a:rPr>
              <a:t>Preventing State Corruption</a:t>
            </a:r>
            <a:endParaRPr lang="en-US" sz="3250" dirty="0"/>
          </a:p>
        </p:txBody>
      </p:sp>
      <p:sp>
        <p:nvSpPr>
          <p:cNvPr id="3" name="Text 1"/>
          <p:cNvSpPr/>
          <p:nvPr/>
        </p:nvSpPr>
        <p:spPr>
          <a:xfrm>
            <a:off x="661574" y="1406426"/>
            <a:ext cx="2676954" cy="258465"/>
          </a:xfrm>
          <a:prstGeom prst="rect">
            <a:avLst/>
          </a:prstGeom>
          <a:noFill/>
          <a:ln/>
        </p:spPr>
        <p:txBody>
          <a:bodyPr wrap="none" lIns="0" tIns="0" rIns="0" bIns="0" rtlCol="0" anchor="t"/>
          <a:lstStyle/>
          <a:p>
            <a:pPr marL="0" indent="0" algn="l">
              <a:lnSpc>
                <a:spcPct val="104000"/>
              </a:lnSpc>
              <a:buNone/>
            </a:pPr>
            <a:r>
              <a:rPr lang="en-US" sz="1600" dirty="0">
                <a:solidFill>
                  <a:srgbClr val="76B9FF"/>
                </a:solidFill>
                <a:latin typeface="Roboto Slab" pitchFamily="34" charset="0"/>
                <a:ea typeface="Roboto Slab" pitchFamily="34" charset="-122"/>
                <a:cs typeface="Roboto Slab" pitchFamily="34" charset="-120"/>
              </a:rPr>
              <a:t>Blob Lease Locking</a:t>
            </a:r>
            <a:endParaRPr lang="en-US" sz="1600" dirty="0"/>
          </a:p>
        </p:txBody>
      </p:sp>
      <p:sp>
        <p:nvSpPr>
          <p:cNvPr id="4" name="Text 2"/>
          <p:cNvSpPr/>
          <p:nvPr/>
        </p:nvSpPr>
        <p:spPr>
          <a:xfrm>
            <a:off x="661574" y="1830189"/>
            <a:ext cx="5842152" cy="264616"/>
          </a:xfrm>
          <a:prstGeom prst="rect">
            <a:avLst/>
          </a:prstGeom>
          <a:noFill/>
          <a:ln/>
        </p:spPr>
        <p:txBody>
          <a:bodyPr wrap="none" lIns="0" tIns="0" rIns="0" bIns="0" rtlCol="0" anchor="t"/>
          <a:lstStyle/>
          <a:p>
            <a:pPr marL="0" indent="0" algn="l">
              <a:lnSpc>
                <a:spcPct val="133000"/>
              </a:lnSpc>
              <a:buNone/>
            </a:pPr>
            <a:r>
              <a:rPr lang="en-US" sz="1300" dirty="0">
                <a:solidFill>
                  <a:srgbClr val="D6E5EF"/>
                </a:solidFill>
                <a:latin typeface="Roboto" pitchFamily="34" charset="0"/>
                <a:ea typeface="Roboto" pitchFamily="34" charset="-122"/>
                <a:cs typeface="Roboto" pitchFamily="34" charset="-120"/>
              </a:rPr>
              <a:t>Azure Blob automatically applies a lease lock</a:t>
            </a:r>
            <a:endParaRPr lang="en-US" sz="1300" dirty="0"/>
          </a:p>
        </p:txBody>
      </p:sp>
      <p:sp>
        <p:nvSpPr>
          <p:cNvPr id="5" name="Text 3"/>
          <p:cNvSpPr/>
          <p:nvPr/>
        </p:nvSpPr>
        <p:spPr>
          <a:xfrm>
            <a:off x="661574" y="2243634"/>
            <a:ext cx="5232567" cy="123199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300" dirty="0">
                <a:solidFill>
                  <a:srgbClr val="D6E5EF"/>
                </a:solidFill>
                <a:latin typeface="Roboto" pitchFamily="34" charset="0"/>
                <a:ea typeface="Roboto" pitchFamily="34" charset="-122"/>
                <a:cs typeface="Roboto" pitchFamily="34" charset="-120"/>
              </a:rPr>
              <a:t>Lock active during:</a:t>
            </a:r>
            <a:endParaRPr lang="en-US" sz="1300" dirty="0"/>
          </a:p>
          <a:p>
            <a:pPr marL="685800" lvl="1" indent="-342900" algn="l">
              <a:lnSpc>
                <a:spcPct val="133000"/>
              </a:lnSpc>
              <a:buSzPct val="100000"/>
              <a:buChar char="◦"/>
            </a:pPr>
            <a:r>
              <a:rPr lang="en-US" sz="1300" dirty="0">
                <a:solidFill>
                  <a:srgbClr val="D6E5EF"/>
                </a:solidFill>
                <a:latin typeface="Roboto" pitchFamily="34" charset="0"/>
                <a:ea typeface="Roboto" pitchFamily="34" charset="-122"/>
                <a:cs typeface="Roboto" pitchFamily="34" charset="-120"/>
              </a:rPr>
              <a:t>terraform plan</a:t>
            </a:r>
            <a:endParaRPr lang="en-US" sz="1300" dirty="0"/>
          </a:p>
          <a:p>
            <a:pPr marL="685800" lvl="1" indent="-342900" algn="l">
              <a:lnSpc>
                <a:spcPct val="133000"/>
              </a:lnSpc>
              <a:buSzPct val="100000"/>
              <a:buChar char="◦"/>
            </a:pPr>
            <a:r>
              <a:rPr lang="en-US" sz="1300" dirty="0">
                <a:solidFill>
                  <a:srgbClr val="D6E5EF"/>
                </a:solidFill>
                <a:latin typeface="Roboto" pitchFamily="34" charset="0"/>
                <a:ea typeface="Roboto" pitchFamily="34" charset="-122"/>
                <a:cs typeface="Roboto" pitchFamily="34" charset="-120"/>
              </a:rPr>
              <a:t>terraform apply</a:t>
            </a:r>
            <a:endParaRPr lang="en-US" sz="1300" dirty="0"/>
          </a:p>
          <a:p>
            <a:pPr marL="685800" lvl="1" indent="-342900" algn="l">
              <a:lnSpc>
                <a:spcPct val="133000"/>
              </a:lnSpc>
              <a:buSzPct val="100000"/>
              <a:buChar char="◦"/>
            </a:pPr>
            <a:r>
              <a:rPr lang="en-US" sz="1300" dirty="0">
                <a:solidFill>
                  <a:srgbClr val="D6E5EF"/>
                </a:solidFill>
                <a:latin typeface="Roboto" pitchFamily="34" charset="0"/>
                <a:ea typeface="Roboto" pitchFamily="34" charset="-122"/>
                <a:cs typeface="Roboto" pitchFamily="34" charset="-120"/>
              </a:rPr>
              <a:t>terraform destroy</a:t>
            </a:r>
            <a:endParaRPr lang="en-US" sz="1300" dirty="0"/>
          </a:p>
        </p:txBody>
      </p:sp>
      <p:sp>
        <p:nvSpPr>
          <p:cNvPr id="6" name="Shape 4"/>
          <p:cNvSpPr/>
          <p:nvPr/>
        </p:nvSpPr>
        <p:spPr>
          <a:xfrm>
            <a:off x="6184844" y="1241127"/>
            <a:ext cx="5470686" cy="2187873"/>
          </a:xfrm>
          <a:prstGeom prst="roundRect">
            <a:avLst>
              <a:gd name="adj" fmla="val 483"/>
            </a:avLst>
          </a:prstGeom>
          <a:solidFill>
            <a:srgbClr val="202733"/>
          </a:solidFill>
          <a:ln/>
        </p:spPr>
        <p:txBody>
          <a:bodyPr/>
          <a:lstStyle/>
          <a:p>
            <a:endParaRPr lang="en-IN"/>
          </a:p>
        </p:txBody>
      </p:sp>
      <p:sp>
        <p:nvSpPr>
          <p:cNvPr id="7" name="Text 5"/>
          <p:cNvSpPr/>
          <p:nvPr/>
        </p:nvSpPr>
        <p:spPr>
          <a:xfrm>
            <a:off x="6350139" y="1406426"/>
            <a:ext cx="2919240" cy="258465"/>
          </a:xfrm>
          <a:prstGeom prst="rect">
            <a:avLst/>
          </a:prstGeom>
          <a:noFill/>
          <a:ln/>
        </p:spPr>
        <p:txBody>
          <a:bodyPr wrap="none" lIns="0" tIns="0" rIns="0" bIns="0" rtlCol="0" anchor="t"/>
          <a:lstStyle/>
          <a:p>
            <a:pPr marL="0" indent="0" algn="l">
              <a:lnSpc>
                <a:spcPct val="104000"/>
              </a:lnSpc>
              <a:buNone/>
            </a:pPr>
            <a:r>
              <a:rPr lang="en-US" sz="1600" dirty="0">
                <a:solidFill>
                  <a:srgbClr val="76B9FF"/>
                </a:solidFill>
                <a:latin typeface="Roboto Slab" pitchFamily="34" charset="0"/>
                <a:ea typeface="Roboto Slab" pitchFamily="34" charset="-122"/>
                <a:cs typeface="Roboto Slab" pitchFamily="34" charset="-120"/>
              </a:rPr>
              <a:t>Concurrency Protection</a:t>
            </a:r>
            <a:endParaRPr lang="en-US" sz="1600" dirty="0"/>
          </a:p>
        </p:txBody>
      </p:sp>
      <p:sp>
        <p:nvSpPr>
          <p:cNvPr id="8" name="Text 6"/>
          <p:cNvSpPr/>
          <p:nvPr/>
        </p:nvSpPr>
        <p:spPr>
          <a:xfrm>
            <a:off x="6350139" y="1830189"/>
            <a:ext cx="5749682" cy="264616"/>
          </a:xfrm>
          <a:prstGeom prst="rect">
            <a:avLst/>
          </a:prstGeom>
          <a:noFill/>
          <a:ln/>
        </p:spPr>
        <p:txBody>
          <a:bodyPr wrap="none" lIns="0" tIns="0" rIns="0" bIns="0" rtlCol="0" anchor="t"/>
          <a:lstStyle/>
          <a:p>
            <a:pPr marL="0" indent="0" algn="l">
              <a:lnSpc>
                <a:spcPct val="133000"/>
              </a:lnSpc>
              <a:buNone/>
            </a:pPr>
            <a:r>
              <a:rPr lang="en-US" sz="1300" dirty="0">
                <a:solidFill>
                  <a:srgbClr val="D6E5EF"/>
                </a:solidFill>
                <a:latin typeface="Roboto" pitchFamily="34" charset="0"/>
                <a:ea typeface="Roboto" pitchFamily="34" charset="-122"/>
                <a:cs typeface="Roboto" pitchFamily="34" charset="-120"/>
              </a:rPr>
              <a:t>Prevents parallel operations</a:t>
            </a:r>
            <a:endParaRPr lang="en-US" sz="1300" dirty="0"/>
          </a:p>
        </p:txBody>
      </p:sp>
      <p:sp>
        <p:nvSpPr>
          <p:cNvPr id="9" name="Shape 7"/>
          <p:cNvSpPr/>
          <p:nvPr/>
        </p:nvSpPr>
        <p:spPr>
          <a:xfrm>
            <a:off x="6350139" y="2280841"/>
            <a:ext cx="5140097" cy="859830"/>
          </a:xfrm>
          <a:prstGeom prst="roundRect">
            <a:avLst>
              <a:gd name="adj" fmla="val 2885"/>
            </a:avLst>
          </a:prstGeom>
          <a:solidFill>
            <a:srgbClr val="2D3440"/>
          </a:solidFill>
          <a:ln/>
        </p:spPr>
        <p:txBody>
          <a:bodyPr/>
          <a:lstStyle/>
          <a:p>
            <a:endParaRPr lang="en-IN"/>
          </a:p>
        </p:txBody>
      </p:sp>
      <p:sp>
        <p:nvSpPr>
          <p:cNvPr id="10" name="Shape 8"/>
          <p:cNvSpPr/>
          <p:nvPr/>
        </p:nvSpPr>
        <p:spPr>
          <a:xfrm>
            <a:off x="6341904" y="2280841"/>
            <a:ext cx="5156567" cy="859830"/>
          </a:xfrm>
          <a:prstGeom prst="roundRect">
            <a:avLst>
              <a:gd name="adj" fmla="val 2885"/>
            </a:avLst>
          </a:prstGeom>
          <a:solidFill>
            <a:srgbClr val="2D3440"/>
          </a:solidFill>
          <a:ln/>
        </p:spPr>
        <p:txBody>
          <a:bodyPr/>
          <a:lstStyle/>
          <a:p>
            <a:endParaRPr lang="en-IN"/>
          </a:p>
        </p:txBody>
      </p:sp>
      <p:sp>
        <p:nvSpPr>
          <p:cNvPr id="11" name="Text 9"/>
          <p:cNvSpPr/>
          <p:nvPr/>
        </p:nvSpPr>
        <p:spPr>
          <a:xfrm>
            <a:off x="6548571" y="2446139"/>
            <a:ext cx="4743232"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D6E5EF"/>
                </a:solidFill>
                <a:highlight>
                  <a:srgbClr val="2D3440"/>
                </a:highlight>
                <a:latin typeface="Consolas" pitchFamily="34" charset="0"/>
                <a:ea typeface="Consolas" pitchFamily="34" charset="-122"/>
                <a:cs typeface="Consolas" pitchFamily="34" charset="-120"/>
              </a:rPr>
              <a:t>ResourceConflict: There is already an outstanding lease on this blob.</a:t>
            </a:r>
            <a:endParaRPr lang="en-US" sz="1300" dirty="0"/>
          </a:p>
        </p:txBody>
      </p:sp>
      <p:pic>
        <p:nvPicPr>
          <p:cNvPr id="13" name="Image 0" descr="preencoded.png"/>
          <p:cNvPicPr>
            <a:picLocks noChangeAspect="1"/>
          </p:cNvPicPr>
          <p:nvPr/>
        </p:nvPicPr>
        <p:blipFill>
          <a:blip r:embed="rId3"/>
          <a:stretch>
            <a:fillRect/>
          </a:stretch>
        </p:blipFill>
        <p:spPr>
          <a:xfrm>
            <a:off x="2987179" y="3677047"/>
            <a:ext cx="5140097" cy="28689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574" y="479028"/>
            <a:ext cx="5925295" cy="387648"/>
          </a:xfrm>
          <a:prstGeom prst="rect">
            <a:avLst/>
          </a:prstGeom>
          <a:noFill/>
          <a:ln/>
        </p:spPr>
        <p:txBody>
          <a:bodyPr wrap="none" lIns="0" tIns="0" rIns="0" bIns="0" rtlCol="0" anchor="t"/>
          <a:lstStyle/>
          <a:p>
            <a:pPr marL="0" indent="0" algn="l">
              <a:lnSpc>
                <a:spcPct val="104000"/>
              </a:lnSpc>
              <a:buNone/>
            </a:pPr>
            <a:r>
              <a:rPr lang="en-US" sz="2400" dirty="0">
                <a:solidFill>
                  <a:srgbClr val="76B9FF"/>
                </a:solidFill>
                <a:latin typeface="Roboto Slab" pitchFamily="34" charset="0"/>
                <a:ea typeface="Roboto Slab" pitchFamily="34" charset="-122"/>
                <a:cs typeface="Roboto Slab" pitchFamily="34" charset="-120"/>
              </a:rPr>
              <a:t>Force-Recreating Specific Resources</a:t>
            </a:r>
            <a:endParaRPr lang="en-US" sz="2400" dirty="0"/>
          </a:p>
        </p:txBody>
      </p:sp>
      <p:sp>
        <p:nvSpPr>
          <p:cNvPr id="3" name="Text 1"/>
          <p:cNvSpPr/>
          <p:nvPr/>
        </p:nvSpPr>
        <p:spPr>
          <a:xfrm>
            <a:off x="661574" y="1052711"/>
            <a:ext cx="10868547" cy="451842"/>
          </a:xfrm>
          <a:prstGeom prst="rect">
            <a:avLst/>
          </a:prstGeom>
          <a:noFill/>
          <a:ln/>
        </p:spPr>
        <p:txBody>
          <a:bodyPr wrap="square" lIns="0" tIns="0" rIns="0" bIns="0" rtlCol="0" anchor="t"/>
          <a:lstStyle/>
          <a:p>
            <a:pPr marL="0" indent="0" algn="l">
              <a:lnSpc>
                <a:spcPct val="117000"/>
              </a:lnSpc>
              <a:buNone/>
            </a:pPr>
            <a:endParaRPr lang="en-US" sz="950" dirty="0">
              <a:solidFill>
                <a:srgbClr val="D6E5EF"/>
              </a:solidFill>
              <a:latin typeface="Roboto" pitchFamily="34" charset="0"/>
              <a:ea typeface="Roboto" pitchFamily="34" charset="-122"/>
              <a:cs typeface="Roboto" pitchFamily="34" charset="-120"/>
            </a:endParaRPr>
          </a:p>
          <a:p>
            <a:pPr marL="0" indent="0" algn="l">
              <a:lnSpc>
                <a:spcPct val="117000"/>
              </a:lnSpc>
              <a:buNone/>
            </a:pPr>
            <a:r>
              <a:rPr lang="en-US" sz="950" dirty="0">
                <a:solidFill>
                  <a:srgbClr val="D6E5EF"/>
                </a:solidFill>
                <a:latin typeface="Roboto" pitchFamily="34" charset="0"/>
                <a:ea typeface="Roboto" pitchFamily="34" charset="-122"/>
                <a:cs typeface="Roboto" pitchFamily="34" charset="-120"/>
              </a:rPr>
              <a:t>Targeted Recreation</a:t>
            </a:r>
            <a:endParaRPr lang="en-US" sz="9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8107" y="1615232"/>
            <a:ext cx="186031" cy="186035"/>
          </a:xfrm>
          <a:prstGeom prst="rect">
            <a:avLst/>
          </a:prstGeom>
        </p:spPr>
      </p:pic>
      <p:sp>
        <p:nvSpPr>
          <p:cNvPr id="5" name="Text 2"/>
          <p:cNvSpPr/>
          <p:nvPr/>
        </p:nvSpPr>
        <p:spPr>
          <a:xfrm>
            <a:off x="1064690" y="1609130"/>
            <a:ext cx="4973017" cy="173633"/>
          </a:xfrm>
          <a:prstGeom prst="rect">
            <a:avLst/>
          </a:prstGeom>
          <a:noFill/>
          <a:ln/>
        </p:spPr>
        <p:txBody>
          <a:bodyPr wrap="none" lIns="0" tIns="0" rIns="0" bIns="0" rtlCol="0" anchor="t"/>
          <a:lstStyle/>
          <a:p>
            <a:pPr marL="0" indent="0" algn="l">
              <a:lnSpc>
                <a:spcPct val="117000"/>
              </a:lnSpc>
              <a:buNone/>
            </a:pPr>
            <a:r>
              <a:rPr lang="en-US" sz="950" dirty="0">
                <a:solidFill>
                  <a:srgbClr val="D6E5EF"/>
                </a:solidFill>
                <a:latin typeface="Roboto" pitchFamily="34" charset="0"/>
                <a:ea typeface="Roboto" pitchFamily="34" charset="-122"/>
                <a:cs typeface="Roboto" pitchFamily="34" charset="-120"/>
              </a:rPr>
              <a:t>Recreate corrupted or misconfigured resources</a:t>
            </a:r>
            <a:endParaRPr lang="en-US" sz="9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00521" y="1615232"/>
            <a:ext cx="186031" cy="186035"/>
          </a:xfrm>
          <a:prstGeom prst="rect">
            <a:avLst/>
          </a:prstGeom>
        </p:spPr>
      </p:pic>
      <p:sp>
        <p:nvSpPr>
          <p:cNvPr id="7" name="Text 3"/>
          <p:cNvSpPr/>
          <p:nvPr/>
        </p:nvSpPr>
        <p:spPr>
          <a:xfrm>
            <a:off x="6557104" y="1609130"/>
            <a:ext cx="4973017" cy="173633"/>
          </a:xfrm>
          <a:prstGeom prst="rect">
            <a:avLst/>
          </a:prstGeom>
          <a:noFill/>
          <a:ln/>
        </p:spPr>
        <p:txBody>
          <a:bodyPr wrap="none" lIns="0" tIns="0" rIns="0" bIns="0" rtlCol="0" anchor="t"/>
          <a:lstStyle/>
          <a:p>
            <a:pPr marL="0" indent="0" algn="l">
              <a:lnSpc>
                <a:spcPct val="117000"/>
              </a:lnSpc>
              <a:buNone/>
            </a:pPr>
            <a:r>
              <a:rPr lang="en-US" sz="950" dirty="0">
                <a:solidFill>
                  <a:srgbClr val="D6E5EF"/>
                </a:solidFill>
                <a:latin typeface="Roboto" pitchFamily="34" charset="0"/>
                <a:ea typeface="Roboto" pitchFamily="34" charset="-122"/>
                <a:cs typeface="Roboto" pitchFamily="34" charset="-120"/>
              </a:rPr>
              <a:t>Avoid full infrastructure teardown</a:t>
            </a:r>
            <a:endParaRPr lang="en-US" sz="9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8107" y="2179588"/>
            <a:ext cx="186031" cy="186035"/>
          </a:xfrm>
          <a:prstGeom prst="rect">
            <a:avLst/>
          </a:prstGeom>
        </p:spPr>
      </p:pic>
      <p:sp>
        <p:nvSpPr>
          <p:cNvPr id="9" name="Text 4"/>
          <p:cNvSpPr/>
          <p:nvPr/>
        </p:nvSpPr>
        <p:spPr>
          <a:xfrm>
            <a:off x="1064690" y="2173486"/>
            <a:ext cx="4973017" cy="173633"/>
          </a:xfrm>
          <a:prstGeom prst="rect">
            <a:avLst/>
          </a:prstGeom>
          <a:noFill/>
          <a:ln/>
        </p:spPr>
        <p:txBody>
          <a:bodyPr wrap="none" lIns="0" tIns="0" rIns="0" bIns="0" rtlCol="0" anchor="t"/>
          <a:lstStyle/>
          <a:p>
            <a:pPr marL="0" indent="0" algn="l">
              <a:lnSpc>
                <a:spcPct val="117000"/>
              </a:lnSpc>
              <a:buNone/>
            </a:pPr>
            <a:r>
              <a:rPr lang="en-US" sz="950" dirty="0">
                <a:solidFill>
                  <a:srgbClr val="D6E5EF"/>
                </a:solidFill>
                <a:latin typeface="Roboto" pitchFamily="34" charset="0"/>
                <a:ea typeface="Roboto" pitchFamily="34" charset="-122"/>
                <a:cs typeface="Roboto" pitchFamily="34" charset="-120"/>
              </a:rPr>
              <a:t>Example resources: Key Vault secret, PostgreSQL server</a:t>
            </a:r>
            <a:endParaRPr lang="en-US" sz="95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00521" y="2179588"/>
            <a:ext cx="186031" cy="186035"/>
          </a:xfrm>
          <a:prstGeom prst="rect">
            <a:avLst/>
          </a:prstGeom>
        </p:spPr>
      </p:pic>
      <p:sp>
        <p:nvSpPr>
          <p:cNvPr id="11" name="Text 5"/>
          <p:cNvSpPr/>
          <p:nvPr/>
        </p:nvSpPr>
        <p:spPr>
          <a:xfrm>
            <a:off x="6557104" y="2173486"/>
            <a:ext cx="4973017" cy="179983"/>
          </a:xfrm>
          <a:prstGeom prst="rect">
            <a:avLst/>
          </a:prstGeom>
          <a:noFill/>
          <a:ln/>
        </p:spPr>
        <p:txBody>
          <a:bodyPr wrap="none" lIns="0" tIns="0" rIns="0" bIns="0" rtlCol="0" anchor="t"/>
          <a:lstStyle/>
          <a:p>
            <a:pPr marL="0" indent="0" algn="l">
              <a:lnSpc>
                <a:spcPct val="117000"/>
              </a:lnSpc>
              <a:buNone/>
            </a:pPr>
            <a:r>
              <a:rPr lang="en-US" sz="950" dirty="0">
                <a:solidFill>
                  <a:srgbClr val="D6E5EF"/>
                </a:solidFill>
                <a:latin typeface="Roboto" pitchFamily="34" charset="0"/>
                <a:ea typeface="Roboto" pitchFamily="34" charset="-122"/>
                <a:cs typeface="Roboto" pitchFamily="34" charset="-120"/>
              </a:rPr>
              <a:t>Modern Replacement Method: </a:t>
            </a:r>
            <a:r>
              <a:rPr lang="en-US" sz="950" dirty="0">
                <a:solidFill>
                  <a:srgbClr val="D6E5EF"/>
                </a:solidFill>
                <a:highlight>
                  <a:srgbClr val="2D3440"/>
                </a:highlight>
                <a:latin typeface="Consolas" pitchFamily="34" charset="0"/>
                <a:ea typeface="Consolas" pitchFamily="34" charset="-122"/>
                <a:cs typeface="Consolas" pitchFamily="34" charset="-120"/>
              </a:rPr>
              <a:t>terraform taint</a:t>
            </a:r>
            <a:r>
              <a:rPr lang="en-US" sz="950" dirty="0">
                <a:solidFill>
                  <a:srgbClr val="D6E5EF"/>
                </a:solidFill>
                <a:latin typeface="Roboto" pitchFamily="34" charset="0"/>
                <a:ea typeface="Roboto" pitchFamily="34" charset="-122"/>
                <a:cs typeface="Roboto" pitchFamily="34" charset="-120"/>
              </a:rPr>
              <a:t> is deprecated</a:t>
            </a:r>
            <a:endParaRPr lang="en-US" sz="950" dirty="0"/>
          </a:p>
        </p:txBody>
      </p:sp>
      <p:pic>
        <p:nvPicPr>
          <p:cNvPr id="12" name="Image 4" descr="preencoded.png"/>
          <p:cNvPicPr>
            <a:picLocks noChangeAspect="1"/>
          </p:cNvPicPr>
          <p:nvPr/>
        </p:nvPicPr>
        <p:blipFill>
          <a:blip r:embed="rId4"/>
          <a:stretch>
            <a:fillRect/>
          </a:stretch>
        </p:blipFill>
        <p:spPr>
          <a:xfrm>
            <a:off x="2020142" y="2656384"/>
            <a:ext cx="8151410" cy="2570857"/>
          </a:xfrm>
          <a:prstGeom prst="rect">
            <a:avLst/>
          </a:prstGeom>
        </p:spPr>
      </p:pic>
      <p:sp>
        <p:nvSpPr>
          <p:cNvPr id="13" name="Text 6"/>
          <p:cNvSpPr/>
          <p:nvPr/>
        </p:nvSpPr>
        <p:spPr>
          <a:xfrm>
            <a:off x="2486531" y="3535857"/>
            <a:ext cx="1427702" cy="440887"/>
          </a:xfrm>
          <a:prstGeom prst="rect">
            <a:avLst/>
          </a:prstGeom>
          <a:noFill/>
          <a:ln/>
        </p:spPr>
        <p:txBody>
          <a:bodyPr wrap="square" lIns="0" tIns="0" rIns="0" bIns="0" rtlCol="0" anchor="t">
            <a:normAutofit/>
          </a:bodyPr>
          <a:lstStyle/>
          <a:p>
            <a:pPr marL="0" indent="0" algn="ctr">
              <a:lnSpc>
                <a:spcPct val="104000"/>
              </a:lnSpc>
              <a:buNone/>
            </a:pPr>
            <a:r>
              <a:rPr lang="en-US" sz="1350" dirty="0">
                <a:solidFill>
                  <a:srgbClr val="76B9FF"/>
                </a:solidFill>
                <a:latin typeface="Roboto Slab" pitchFamily="34" charset="0"/>
                <a:ea typeface="Roboto Slab" pitchFamily="34" charset="-122"/>
                <a:cs typeface="Roboto Slab" pitchFamily="34" charset="-120"/>
              </a:rPr>
              <a:t>Resource Flagged</a:t>
            </a:r>
            <a:endParaRPr lang="en-US" sz="1350" dirty="0"/>
          </a:p>
        </p:txBody>
      </p:sp>
      <p:sp>
        <p:nvSpPr>
          <p:cNvPr id="14" name="Text 7"/>
          <p:cNvSpPr/>
          <p:nvPr/>
        </p:nvSpPr>
        <p:spPr>
          <a:xfrm>
            <a:off x="2486531" y="4039447"/>
            <a:ext cx="1427702" cy="308621"/>
          </a:xfrm>
          <a:prstGeom prst="rect">
            <a:avLst/>
          </a:prstGeom>
          <a:noFill/>
          <a:ln/>
        </p:spPr>
        <p:txBody>
          <a:bodyPr wrap="square" lIns="0" tIns="0" rIns="0" bIns="0" rtlCol="0" anchor="t">
            <a:normAutofit/>
          </a:bodyPr>
          <a:lstStyle/>
          <a:p>
            <a:pPr marL="0" indent="0" algn="ctr">
              <a:lnSpc>
                <a:spcPct val="91000"/>
              </a:lnSpc>
              <a:buNone/>
            </a:pPr>
            <a:r>
              <a:rPr lang="en-US" sz="1100" dirty="0">
                <a:solidFill>
                  <a:srgbClr val="D6E5EF"/>
                </a:solidFill>
                <a:latin typeface="Roboto" pitchFamily="34" charset="0"/>
                <a:ea typeface="Roboto" pitchFamily="34" charset="-122"/>
                <a:cs typeface="Roboto" pitchFamily="34" charset="-120"/>
              </a:rPr>
              <a:t>Identify and mark resources for review.</a:t>
            </a:r>
            <a:endParaRPr lang="en-US" sz="1100" dirty="0"/>
          </a:p>
        </p:txBody>
      </p:sp>
      <p:sp>
        <p:nvSpPr>
          <p:cNvPr id="15" name="Text 8"/>
          <p:cNvSpPr/>
          <p:nvPr/>
        </p:nvSpPr>
        <p:spPr>
          <a:xfrm>
            <a:off x="4438140" y="3568923"/>
            <a:ext cx="1427702" cy="220443"/>
          </a:xfrm>
          <a:prstGeom prst="rect">
            <a:avLst/>
          </a:prstGeom>
          <a:noFill/>
          <a:ln/>
        </p:spPr>
        <p:txBody>
          <a:bodyPr wrap="none" lIns="0" tIns="0" rIns="0" bIns="0" rtlCol="0" anchor="t"/>
          <a:lstStyle/>
          <a:p>
            <a:pPr marL="0" indent="0" algn="ctr">
              <a:lnSpc>
                <a:spcPct val="104000"/>
              </a:lnSpc>
              <a:buNone/>
            </a:pPr>
            <a:r>
              <a:rPr lang="en-US" sz="1350" dirty="0">
                <a:solidFill>
                  <a:srgbClr val="76B9FF"/>
                </a:solidFill>
                <a:latin typeface="Roboto Slab" pitchFamily="34" charset="0"/>
                <a:ea typeface="Roboto Slab" pitchFamily="34" charset="-122"/>
                <a:cs typeface="Roboto Slab" pitchFamily="34" charset="-120"/>
              </a:rPr>
              <a:t>Apply Update</a:t>
            </a:r>
            <a:endParaRPr lang="en-US" sz="1350" dirty="0"/>
          </a:p>
        </p:txBody>
      </p:sp>
      <p:sp>
        <p:nvSpPr>
          <p:cNvPr id="16" name="Text 9"/>
          <p:cNvSpPr/>
          <p:nvPr/>
        </p:nvSpPr>
        <p:spPr>
          <a:xfrm>
            <a:off x="4438140" y="3852070"/>
            <a:ext cx="1427702" cy="462931"/>
          </a:xfrm>
          <a:prstGeom prst="rect">
            <a:avLst/>
          </a:prstGeom>
          <a:noFill/>
          <a:ln/>
        </p:spPr>
        <p:txBody>
          <a:bodyPr wrap="square" lIns="0" tIns="0" rIns="0" bIns="0" rtlCol="0" anchor="t">
            <a:normAutofit/>
          </a:bodyPr>
          <a:lstStyle/>
          <a:p>
            <a:pPr marL="0" indent="0" algn="ctr">
              <a:lnSpc>
                <a:spcPct val="91000"/>
              </a:lnSpc>
              <a:buNone/>
            </a:pPr>
            <a:r>
              <a:rPr lang="en-US" sz="1100" dirty="0">
                <a:solidFill>
                  <a:srgbClr val="D6E5EF"/>
                </a:solidFill>
                <a:latin typeface="Roboto" pitchFamily="34" charset="0"/>
                <a:ea typeface="Roboto" pitchFamily="34" charset="-122"/>
                <a:cs typeface="Roboto" pitchFamily="34" charset="-120"/>
              </a:rPr>
              <a:t>Deploy necessary changes to the flagged items.</a:t>
            </a:r>
            <a:endParaRPr lang="en-US" sz="1100" dirty="0"/>
          </a:p>
        </p:txBody>
      </p:sp>
      <p:sp>
        <p:nvSpPr>
          <p:cNvPr id="17" name="Text 10"/>
          <p:cNvSpPr/>
          <p:nvPr/>
        </p:nvSpPr>
        <p:spPr>
          <a:xfrm>
            <a:off x="6334885" y="3568923"/>
            <a:ext cx="1427702" cy="220443"/>
          </a:xfrm>
          <a:prstGeom prst="rect">
            <a:avLst/>
          </a:prstGeom>
          <a:noFill/>
          <a:ln/>
        </p:spPr>
        <p:txBody>
          <a:bodyPr wrap="none" lIns="0" tIns="0" rIns="0" bIns="0" rtlCol="0" anchor="t"/>
          <a:lstStyle/>
          <a:p>
            <a:pPr marL="0" indent="0" algn="ctr">
              <a:lnSpc>
                <a:spcPct val="104000"/>
              </a:lnSpc>
              <a:buNone/>
            </a:pPr>
            <a:r>
              <a:rPr lang="en-US" sz="1350" dirty="0">
                <a:solidFill>
                  <a:srgbClr val="76B9FF"/>
                </a:solidFill>
                <a:latin typeface="Roboto Slab" pitchFamily="34" charset="0"/>
                <a:ea typeface="Roboto Slab" pitchFamily="34" charset="-122"/>
                <a:cs typeface="Roboto Slab" pitchFamily="34" charset="-120"/>
              </a:rPr>
              <a:t>Infra Unchanged</a:t>
            </a:r>
            <a:endParaRPr lang="en-US" sz="1350" dirty="0"/>
          </a:p>
        </p:txBody>
      </p:sp>
      <p:sp>
        <p:nvSpPr>
          <p:cNvPr id="18" name="Text 11"/>
          <p:cNvSpPr/>
          <p:nvPr/>
        </p:nvSpPr>
        <p:spPr>
          <a:xfrm>
            <a:off x="6334885" y="3852070"/>
            <a:ext cx="1427702" cy="462931"/>
          </a:xfrm>
          <a:prstGeom prst="rect">
            <a:avLst/>
          </a:prstGeom>
          <a:noFill/>
          <a:ln/>
        </p:spPr>
        <p:txBody>
          <a:bodyPr wrap="square" lIns="0" tIns="0" rIns="0" bIns="0" rtlCol="0" anchor="t">
            <a:normAutofit/>
          </a:bodyPr>
          <a:lstStyle/>
          <a:p>
            <a:pPr marL="0" indent="0" algn="ctr">
              <a:lnSpc>
                <a:spcPct val="91000"/>
              </a:lnSpc>
              <a:buNone/>
            </a:pPr>
            <a:r>
              <a:rPr lang="en-US" sz="1100" dirty="0">
                <a:solidFill>
                  <a:srgbClr val="D6E5EF"/>
                </a:solidFill>
                <a:latin typeface="Roboto" pitchFamily="34" charset="0"/>
                <a:ea typeface="Roboto" pitchFamily="34" charset="-122"/>
                <a:cs typeface="Roboto" pitchFamily="34" charset="-120"/>
              </a:rPr>
              <a:t>Confirm infrastructure remains stable post-update.</a:t>
            </a:r>
            <a:endParaRPr lang="en-US" sz="1100" dirty="0"/>
          </a:p>
        </p:txBody>
      </p:sp>
      <p:sp>
        <p:nvSpPr>
          <p:cNvPr id="19" name="Text 12"/>
          <p:cNvSpPr/>
          <p:nvPr/>
        </p:nvSpPr>
        <p:spPr>
          <a:xfrm>
            <a:off x="8262980" y="3646078"/>
            <a:ext cx="1427701" cy="220443"/>
          </a:xfrm>
          <a:prstGeom prst="rect">
            <a:avLst/>
          </a:prstGeom>
          <a:noFill/>
          <a:ln/>
        </p:spPr>
        <p:txBody>
          <a:bodyPr wrap="none" lIns="0" tIns="0" rIns="0" bIns="0" rtlCol="0" anchor="t"/>
          <a:lstStyle/>
          <a:p>
            <a:pPr marL="0" indent="0" algn="ctr">
              <a:lnSpc>
                <a:spcPct val="104000"/>
              </a:lnSpc>
              <a:buNone/>
            </a:pPr>
            <a:r>
              <a:rPr lang="en-US" sz="1350" dirty="0">
                <a:solidFill>
                  <a:srgbClr val="76B9FF"/>
                </a:solidFill>
                <a:latin typeface="Roboto Slab" pitchFamily="34" charset="0"/>
                <a:ea typeface="Roboto Slab" pitchFamily="34" charset="-122"/>
                <a:cs typeface="Roboto Slab" pitchFamily="34" charset="-120"/>
              </a:rPr>
              <a:t>Audit &amp; Verify</a:t>
            </a:r>
            <a:endParaRPr lang="en-US" sz="1350" dirty="0"/>
          </a:p>
        </p:txBody>
      </p:sp>
      <p:sp>
        <p:nvSpPr>
          <p:cNvPr id="20" name="Text 13"/>
          <p:cNvSpPr/>
          <p:nvPr/>
        </p:nvSpPr>
        <p:spPr>
          <a:xfrm>
            <a:off x="8262980" y="3929225"/>
            <a:ext cx="1427701" cy="308621"/>
          </a:xfrm>
          <a:prstGeom prst="rect">
            <a:avLst/>
          </a:prstGeom>
          <a:noFill/>
          <a:ln/>
        </p:spPr>
        <p:txBody>
          <a:bodyPr wrap="square" lIns="0" tIns="0" rIns="0" bIns="0" rtlCol="0" anchor="t">
            <a:normAutofit/>
          </a:bodyPr>
          <a:lstStyle/>
          <a:p>
            <a:pPr marL="0" indent="0" algn="ctr">
              <a:lnSpc>
                <a:spcPct val="91000"/>
              </a:lnSpc>
              <a:buNone/>
            </a:pPr>
            <a:r>
              <a:rPr lang="en-US" sz="1100" dirty="0">
                <a:solidFill>
                  <a:srgbClr val="D6E5EF"/>
                </a:solidFill>
                <a:latin typeface="Roboto" pitchFamily="34" charset="0"/>
                <a:ea typeface="Roboto" pitchFamily="34" charset="-122"/>
                <a:cs typeface="Roboto" pitchFamily="34" charset="-120"/>
              </a:rPr>
              <a:t>Conduct a final check to ensure compliance.</a:t>
            </a:r>
            <a:endParaRPr lang="en-US" sz="1100" dirty="0"/>
          </a:p>
        </p:txBody>
      </p:sp>
      <p:sp>
        <p:nvSpPr>
          <p:cNvPr id="21" name="Text 14"/>
          <p:cNvSpPr/>
          <p:nvPr/>
        </p:nvSpPr>
        <p:spPr>
          <a:xfrm>
            <a:off x="661574" y="5331817"/>
            <a:ext cx="11478132" cy="173633"/>
          </a:xfrm>
          <a:prstGeom prst="rect">
            <a:avLst/>
          </a:prstGeom>
          <a:noFill/>
          <a:ln/>
        </p:spPr>
        <p:txBody>
          <a:bodyPr wrap="none" lIns="0" tIns="0" rIns="0" bIns="0" rtlCol="0" anchor="t"/>
          <a:lstStyle/>
          <a:p>
            <a:pPr marL="0" indent="0" algn="l">
              <a:lnSpc>
                <a:spcPct val="117000"/>
              </a:lnSpc>
              <a:buNone/>
            </a:pPr>
            <a:r>
              <a:rPr lang="en-US" sz="950" dirty="0">
                <a:solidFill>
                  <a:srgbClr val="D6E5EF"/>
                </a:solidFill>
                <a:latin typeface="Roboto" pitchFamily="34" charset="0"/>
                <a:ea typeface="Roboto" pitchFamily="34" charset="-122"/>
                <a:cs typeface="Roboto" pitchFamily="34" charset="-120"/>
              </a:rPr>
              <a:t>Terminal command example in styled code box:</a:t>
            </a:r>
            <a:endParaRPr lang="en-US" sz="950" dirty="0"/>
          </a:p>
        </p:txBody>
      </p:sp>
      <p:sp>
        <p:nvSpPr>
          <p:cNvPr id="22" name="Shape 15"/>
          <p:cNvSpPr/>
          <p:nvPr/>
        </p:nvSpPr>
        <p:spPr>
          <a:xfrm>
            <a:off x="661574" y="5610027"/>
            <a:ext cx="10868547" cy="768945"/>
          </a:xfrm>
          <a:prstGeom prst="roundRect">
            <a:avLst>
              <a:gd name="adj" fmla="val 2420"/>
            </a:avLst>
          </a:prstGeom>
          <a:solidFill>
            <a:srgbClr val="2D3440"/>
          </a:solidFill>
          <a:ln/>
        </p:spPr>
        <p:txBody>
          <a:bodyPr/>
          <a:lstStyle/>
          <a:p>
            <a:endParaRPr lang="en-IN"/>
          </a:p>
        </p:txBody>
      </p:sp>
      <p:sp>
        <p:nvSpPr>
          <p:cNvPr id="23" name="Shape 16"/>
          <p:cNvSpPr/>
          <p:nvPr/>
        </p:nvSpPr>
        <p:spPr>
          <a:xfrm>
            <a:off x="655423" y="5610027"/>
            <a:ext cx="10880850" cy="768945"/>
          </a:xfrm>
          <a:prstGeom prst="roundRect">
            <a:avLst>
              <a:gd name="adj" fmla="val 2420"/>
            </a:avLst>
          </a:prstGeom>
          <a:solidFill>
            <a:srgbClr val="2D3440"/>
          </a:solidFill>
          <a:ln/>
        </p:spPr>
        <p:txBody>
          <a:bodyPr/>
          <a:lstStyle/>
          <a:p>
            <a:endParaRPr lang="en-IN"/>
          </a:p>
        </p:txBody>
      </p:sp>
      <p:sp>
        <p:nvSpPr>
          <p:cNvPr id="24" name="Text 17"/>
          <p:cNvSpPr/>
          <p:nvPr/>
        </p:nvSpPr>
        <p:spPr>
          <a:xfrm>
            <a:off x="810398" y="5734050"/>
            <a:ext cx="10570898" cy="520898"/>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D6E5EF"/>
                </a:solidFill>
                <a:latin typeface="Consolas" pitchFamily="34" charset="0"/>
                <a:ea typeface="Consolas" pitchFamily="34" charset="-122"/>
                <a:cs typeface="Consolas" pitchFamily="34" charset="-120"/>
              </a:rPr>
              <a:t>terraform apply -var-file="dev.tfvars" \</a:t>
            </a:r>
            <a:endParaRPr lang="en-US" sz="950" dirty="0"/>
          </a:p>
          <a:p>
            <a:pPr marL="0" indent="0" algn="l">
              <a:lnSpc>
                <a:spcPct val="117000"/>
              </a:lnSpc>
              <a:buNone/>
            </a:pPr>
            <a:r>
              <a:rPr lang="en-US" sz="950" dirty="0">
                <a:solidFill>
                  <a:srgbClr val="D6E5EF"/>
                </a:solidFill>
                <a:latin typeface="Consolas" pitchFamily="34" charset="0"/>
                <a:ea typeface="Consolas" pitchFamily="34" charset="-122"/>
                <a:cs typeface="Consolas" pitchFamily="34" charset="-120"/>
              </a:rPr>
              <a:t>  -replace="module.database.azurerm_postgresql_flexible_server.postgres"</a:t>
            </a:r>
            <a:endParaRPr lang="en-US" sz="950" dirty="0"/>
          </a:p>
          <a:p>
            <a:pPr marL="0" indent="0" algn="l">
              <a:lnSpc>
                <a:spcPct val="117000"/>
              </a:lnSpc>
              <a:buNone/>
            </a:pPr>
            <a:r>
              <a:rPr lang="en-US" sz="950" dirty="0">
                <a:solidFill>
                  <a:srgbClr val="D6E5EF"/>
                </a:solidFill>
                <a:latin typeface="Consolas" pitchFamily="34" charset="0"/>
                <a:ea typeface="Consolas" pitchFamily="34" charset="-122"/>
                <a:cs typeface="Consolas" pitchFamily="34" charset="-120"/>
              </a:rPr>
              <a:t>    </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574" y="471587"/>
            <a:ext cx="4330790" cy="465138"/>
          </a:xfrm>
          <a:prstGeom prst="rect">
            <a:avLst/>
          </a:prstGeom>
          <a:noFill/>
          <a:ln/>
        </p:spPr>
        <p:txBody>
          <a:bodyPr wrap="none" lIns="0" tIns="0" rIns="0" bIns="0" rtlCol="0" anchor="t"/>
          <a:lstStyle/>
          <a:p>
            <a:pPr marL="0" indent="0" algn="l">
              <a:lnSpc>
                <a:spcPct val="104000"/>
              </a:lnSpc>
              <a:buNone/>
            </a:pPr>
            <a:r>
              <a:rPr lang="en-US" sz="2900" dirty="0">
                <a:solidFill>
                  <a:srgbClr val="76B9FF"/>
                </a:solidFill>
                <a:latin typeface="Roboto Slab" pitchFamily="34" charset="0"/>
                <a:ea typeface="Roboto Slab" pitchFamily="34" charset="-122"/>
                <a:cs typeface="Roboto Slab" pitchFamily="34" charset="-120"/>
              </a:rPr>
              <a:t>Terraform Drift</a:t>
            </a:r>
            <a:endParaRPr lang="en-US" sz="2900" dirty="0"/>
          </a:p>
        </p:txBody>
      </p:sp>
      <p:sp>
        <p:nvSpPr>
          <p:cNvPr id="3" name="Text 1"/>
          <p:cNvSpPr/>
          <p:nvPr/>
        </p:nvSpPr>
        <p:spPr>
          <a:xfrm>
            <a:off x="661574" y="990302"/>
            <a:ext cx="2842348" cy="279003"/>
          </a:xfrm>
          <a:prstGeom prst="rect">
            <a:avLst/>
          </a:prstGeom>
          <a:noFill/>
          <a:ln/>
        </p:spPr>
        <p:txBody>
          <a:bodyPr wrap="none" lIns="0" tIns="0" rIns="0" bIns="0" rtlCol="0" anchor="t"/>
          <a:lstStyle/>
          <a:p>
            <a:pPr marL="0" indent="0" algn="l">
              <a:lnSpc>
                <a:spcPct val="104000"/>
              </a:lnSpc>
              <a:buNone/>
            </a:pPr>
            <a:endParaRPr lang="en-US" sz="1750" dirty="0"/>
          </a:p>
        </p:txBody>
      </p:sp>
      <p:sp>
        <p:nvSpPr>
          <p:cNvPr id="4" name="Text 2"/>
          <p:cNvSpPr/>
          <p:nvPr/>
        </p:nvSpPr>
        <p:spPr>
          <a:xfrm>
            <a:off x="661574" y="1470223"/>
            <a:ext cx="10868547" cy="499269"/>
          </a:xfrm>
          <a:prstGeom prst="rect">
            <a:avLst/>
          </a:prstGeom>
          <a:noFill/>
          <a:ln/>
        </p:spPr>
        <p:txBody>
          <a:bodyPr wrap="square" lIns="0" tIns="0" rIns="0" bIns="0" rtlCol="0" anchor="t">
            <a:normAutofit/>
          </a:bodyPr>
          <a:lstStyle/>
          <a:p>
            <a:pPr marL="342900" indent="-342900" algn="l">
              <a:lnSpc>
                <a:spcPct val="127000"/>
              </a:lnSpc>
              <a:buSzPct val="100000"/>
              <a:buChar char="•"/>
            </a:pPr>
            <a:r>
              <a:rPr lang="en-US" sz="1150" dirty="0">
                <a:solidFill>
                  <a:srgbClr val="D6E5EF"/>
                </a:solidFill>
                <a:latin typeface="Roboto" pitchFamily="34" charset="0"/>
                <a:ea typeface="Roboto" pitchFamily="34" charset="-122"/>
                <a:cs typeface="Roboto" pitchFamily="34" charset="-120"/>
              </a:rPr>
              <a:t>Manual Azure Portal changes</a:t>
            </a:r>
            <a:endParaRPr lang="en-US" sz="1150" dirty="0"/>
          </a:p>
          <a:p>
            <a:pPr marL="342900" indent="-342900" algn="l">
              <a:lnSpc>
                <a:spcPct val="127000"/>
              </a:lnSpc>
              <a:buSzPct val="100000"/>
              <a:buChar char="•"/>
            </a:pPr>
            <a:r>
              <a:rPr lang="en-US" sz="1150" dirty="0">
                <a:solidFill>
                  <a:srgbClr val="D6E5EF"/>
                </a:solidFill>
                <a:latin typeface="Roboto" pitchFamily="34" charset="0"/>
                <a:ea typeface="Roboto" pitchFamily="34" charset="-122"/>
                <a:cs typeface="Roboto" pitchFamily="34" charset="-120"/>
              </a:rPr>
              <a:t>Configuration no longer matches: Terraform state and .tf files</a:t>
            </a:r>
            <a:endParaRPr lang="en-US" sz="1150" dirty="0"/>
          </a:p>
        </p:txBody>
      </p:sp>
      <p:pic>
        <p:nvPicPr>
          <p:cNvPr id="5" name="Image 0" descr="preencoded.png"/>
          <p:cNvPicPr>
            <a:picLocks noChangeAspect="1"/>
          </p:cNvPicPr>
          <p:nvPr/>
        </p:nvPicPr>
        <p:blipFill>
          <a:blip r:embed="rId3"/>
          <a:stretch>
            <a:fillRect/>
          </a:stretch>
        </p:blipFill>
        <p:spPr>
          <a:xfrm>
            <a:off x="661574" y="2270919"/>
            <a:ext cx="6243581" cy="3484860"/>
          </a:xfrm>
          <a:prstGeom prst="rect">
            <a:avLst/>
          </a:prstGeom>
        </p:spPr>
      </p:pic>
      <p:sp>
        <p:nvSpPr>
          <p:cNvPr id="6" name="Text 3"/>
          <p:cNvSpPr/>
          <p:nvPr/>
        </p:nvSpPr>
        <p:spPr>
          <a:xfrm>
            <a:off x="7968455" y="2254151"/>
            <a:ext cx="2842348" cy="279003"/>
          </a:xfrm>
          <a:prstGeom prst="rect">
            <a:avLst/>
          </a:prstGeom>
          <a:noFill/>
          <a:ln/>
        </p:spPr>
        <p:txBody>
          <a:bodyPr wrap="none" lIns="0" tIns="0" rIns="0" bIns="0" rtlCol="0" anchor="t"/>
          <a:lstStyle/>
          <a:p>
            <a:pPr marL="0" indent="0" algn="l">
              <a:lnSpc>
                <a:spcPct val="104000"/>
              </a:lnSpc>
              <a:buNone/>
            </a:pPr>
            <a:r>
              <a:rPr lang="en-US" sz="1750" dirty="0">
                <a:solidFill>
                  <a:srgbClr val="76B9FF"/>
                </a:solidFill>
                <a:latin typeface="Roboto Slab" pitchFamily="34" charset="0"/>
                <a:ea typeface="Roboto Slab" pitchFamily="34" charset="-122"/>
                <a:cs typeface="Roboto Slab" pitchFamily="34" charset="-120"/>
              </a:rPr>
              <a:t>Detection Command</a:t>
            </a:r>
            <a:endParaRPr lang="en-US" sz="1750" dirty="0"/>
          </a:p>
        </p:txBody>
      </p:sp>
      <p:sp>
        <p:nvSpPr>
          <p:cNvPr id="7" name="Shape 4"/>
          <p:cNvSpPr/>
          <p:nvPr/>
        </p:nvSpPr>
        <p:spPr>
          <a:xfrm>
            <a:off x="7968455" y="2683867"/>
            <a:ext cx="3567916" cy="750094"/>
          </a:xfrm>
          <a:prstGeom prst="roundRect">
            <a:avLst>
              <a:gd name="adj" fmla="val 2977"/>
            </a:avLst>
          </a:prstGeom>
          <a:solidFill>
            <a:srgbClr val="2D3440"/>
          </a:solidFill>
          <a:ln/>
        </p:spPr>
        <p:txBody>
          <a:bodyPr/>
          <a:lstStyle/>
          <a:p>
            <a:endParaRPr lang="en-IN"/>
          </a:p>
        </p:txBody>
      </p:sp>
      <p:sp>
        <p:nvSpPr>
          <p:cNvPr id="8" name="Shape 5"/>
          <p:cNvSpPr/>
          <p:nvPr/>
        </p:nvSpPr>
        <p:spPr>
          <a:xfrm>
            <a:off x="7961014" y="2683867"/>
            <a:ext cx="3582799" cy="750094"/>
          </a:xfrm>
          <a:prstGeom prst="roundRect">
            <a:avLst>
              <a:gd name="adj" fmla="val 2977"/>
            </a:avLst>
          </a:prstGeom>
          <a:solidFill>
            <a:srgbClr val="2D3440"/>
          </a:solidFill>
          <a:ln/>
        </p:spPr>
        <p:txBody>
          <a:bodyPr/>
          <a:lstStyle/>
          <a:p>
            <a:endParaRPr lang="en-IN"/>
          </a:p>
        </p:txBody>
      </p:sp>
      <p:sp>
        <p:nvSpPr>
          <p:cNvPr id="9" name="Text 6"/>
          <p:cNvSpPr/>
          <p:nvPr/>
        </p:nvSpPr>
        <p:spPr>
          <a:xfrm>
            <a:off x="8147045" y="2832695"/>
            <a:ext cx="3210738"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D6E5EF"/>
                </a:solidFill>
                <a:latin typeface="Consolas" pitchFamily="34" charset="0"/>
                <a:ea typeface="Consolas" pitchFamily="34" charset="-122"/>
                <a:cs typeface="Consolas" pitchFamily="34" charset="-120"/>
              </a:rPr>
              <a:t>terraform plan -var-file="dev.tfvars" -detailed-exitcode</a:t>
            </a:r>
            <a:endParaRPr lang="en-US" sz="1150" dirty="0"/>
          </a:p>
        </p:txBody>
      </p:sp>
      <p:sp>
        <p:nvSpPr>
          <p:cNvPr id="10" name="Text 7"/>
          <p:cNvSpPr/>
          <p:nvPr/>
        </p:nvSpPr>
        <p:spPr>
          <a:xfrm>
            <a:off x="7968455" y="3584674"/>
            <a:ext cx="2842348" cy="279003"/>
          </a:xfrm>
          <a:prstGeom prst="rect">
            <a:avLst/>
          </a:prstGeom>
          <a:noFill/>
          <a:ln/>
        </p:spPr>
        <p:txBody>
          <a:bodyPr wrap="none" lIns="0" tIns="0" rIns="0" bIns="0" rtlCol="0" anchor="t"/>
          <a:lstStyle/>
          <a:p>
            <a:pPr marL="0" indent="0" algn="l">
              <a:lnSpc>
                <a:spcPct val="104000"/>
              </a:lnSpc>
              <a:buNone/>
            </a:pPr>
            <a:r>
              <a:rPr lang="en-US" sz="1750" dirty="0">
                <a:solidFill>
                  <a:srgbClr val="76B9FF"/>
                </a:solidFill>
                <a:latin typeface="Roboto Slab" pitchFamily="34" charset="0"/>
                <a:ea typeface="Roboto Slab" pitchFamily="34" charset="-122"/>
                <a:cs typeface="Roboto Slab" pitchFamily="34" charset="-120"/>
              </a:rPr>
              <a:t>Explanation</a:t>
            </a:r>
            <a:endParaRPr lang="en-US" sz="1750" dirty="0"/>
          </a:p>
        </p:txBody>
      </p:sp>
      <p:sp>
        <p:nvSpPr>
          <p:cNvPr id="11" name="Text 8"/>
          <p:cNvSpPr/>
          <p:nvPr/>
        </p:nvSpPr>
        <p:spPr>
          <a:xfrm>
            <a:off x="7968455" y="3997623"/>
            <a:ext cx="3567916" cy="772319"/>
          </a:xfrm>
          <a:prstGeom prst="rect">
            <a:avLst/>
          </a:prstGeom>
          <a:noFill/>
          <a:ln/>
        </p:spPr>
        <p:txBody>
          <a:bodyPr wrap="square" lIns="0" tIns="0" rIns="0" bIns="0" rtlCol="0" anchor="t">
            <a:normAutofit/>
          </a:bodyPr>
          <a:lstStyle/>
          <a:p>
            <a:pPr marL="342900" indent="-342900" algn="l">
              <a:lnSpc>
                <a:spcPct val="127000"/>
              </a:lnSpc>
              <a:buSzPct val="100000"/>
              <a:buChar char="•"/>
            </a:pPr>
            <a:r>
              <a:rPr lang="en-US" sz="1150" dirty="0">
                <a:solidFill>
                  <a:srgbClr val="D6E5EF"/>
                </a:solidFill>
                <a:latin typeface="Roboto" pitchFamily="34" charset="0"/>
                <a:ea typeface="Roboto" pitchFamily="34" charset="-122"/>
                <a:cs typeface="Roboto" pitchFamily="34" charset="-120"/>
              </a:rPr>
              <a:t>Exit code 0 → No changes</a:t>
            </a:r>
            <a:endParaRPr lang="en-US" sz="1150" dirty="0"/>
          </a:p>
          <a:p>
            <a:pPr marL="342900" indent="-342900" algn="l">
              <a:lnSpc>
                <a:spcPct val="127000"/>
              </a:lnSpc>
              <a:buSzPct val="100000"/>
              <a:buChar char="•"/>
            </a:pPr>
            <a:r>
              <a:rPr lang="en-US" sz="1150" dirty="0">
                <a:solidFill>
                  <a:srgbClr val="D6E5EF"/>
                </a:solidFill>
                <a:latin typeface="Roboto" pitchFamily="34" charset="0"/>
                <a:ea typeface="Roboto" pitchFamily="34" charset="-122"/>
                <a:cs typeface="Roboto" pitchFamily="34" charset="-120"/>
              </a:rPr>
              <a:t>Exit code 2 → Drift detected</a:t>
            </a:r>
            <a:endParaRPr lang="en-US" sz="1150" dirty="0"/>
          </a:p>
          <a:p>
            <a:pPr marL="342900" indent="-342900" algn="l">
              <a:lnSpc>
                <a:spcPct val="127000"/>
              </a:lnSpc>
              <a:buSzPct val="100000"/>
              <a:buChar char="•"/>
            </a:pPr>
            <a:r>
              <a:rPr lang="en-US" sz="1150" dirty="0">
                <a:solidFill>
                  <a:srgbClr val="D6E5EF"/>
                </a:solidFill>
                <a:latin typeface="Roboto" pitchFamily="34" charset="0"/>
                <a:ea typeface="Roboto" pitchFamily="34" charset="-122"/>
                <a:cs typeface="Roboto" pitchFamily="34" charset="-120"/>
              </a:rPr>
              <a:t>Enables CI/CD validation</a:t>
            </a:r>
            <a:endParaRPr lang="en-US" sz="1150" dirty="0"/>
          </a:p>
        </p:txBody>
      </p:sp>
      <p:sp>
        <p:nvSpPr>
          <p:cNvPr id="12" name="Text 9"/>
          <p:cNvSpPr/>
          <p:nvPr/>
        </p:nvSpPr>
        <p:spPr>
          <a:xfrm>
            <a:off x="661574" y="6107410"/>
            <a:ext cx="2842348" cy="279003"/>
          </a:xfrm>
          <a:prstGeom prst="rect">
            <a:avLst/>
          </a:prstGeom>
          <a:noFill/>
          <a:ln/>
        </p:spPr>
        <p:txBody>
          <a:bodyPr wrap="none" lIns="0" tIns="0" rIns="0" bIns="0" rtlCol="0" anchor="t"/>
          <a:lstStyle/>
          <a:p>
            <a:pPr marL="0" indent="0" algn="l">
              <a:lnSpc>
                <a:spcPct val="104000"/>
              </a:lnSpc>
              <a:buNone/>
            </a:pP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574" y="984448"/>
            <a:ext cx="6747996" cy="516731"/>
          </a:xfrm>
          <a:prstGeom prst="rect">
            <a:avLst/>
          </a:prstGeom>
          <a:noFill/>
          <a:ln/>
        </p:spPr>
        <p:txBody>
          <a:bodyPr wrap="none" lIns="0" tIns="0" rIns="0" bIns="0" rtlCol="0" anchor="t"/>
          <a:lstStyle/>
          <a:p>
            <a:pPr marL="0" indent="0" algn="l">
              <a:lnSpc>
                <a:spcPct val="104000"/>
              </a:lnSpc>
              <a:buNone/>
            </a:pPr>
            <a:r>
              <a:rPr lang="en-US" sz="3250" dirty="0">
                <a:solidFill>
                  <a:srgbClr val="76B9FF"/>
                </a:solidFill>
                <a:latin typeface="Roboto Slab" pitchFamily="34" charset="0"/>
                <a:ea typeface="Roboto Slab" pitchFamily="34" charset="-122"/>
                <a:cs typeface="Roboto Slab" pitchFamily="34" charset="-120"/>
              </a:rPr>
              <a:t>Reconciling Infrastructure Drift</a:t>
            </a:r>
            <a:endParaRPr lang="en-US" sz="3250" dirty="0"/>
          </a:p>
        </p:txBody>
      </p:sp>
      <p:sp>
        <p:nvSpPr>
          <p:cNvPr id="3" name="Text 1"/>
          <p:cNvSpPr/>
          <p:nvPr/>
        </p:nvSpPr>
        <p:spPr>
          <a:xfrm>
            <a:off x="661574" y="1914525"/>
            <a:ext cx="3811393" cy="258465"/>
          </a:xfrm>
          <a:prstGeom prst="rect">
            <a:avLst/>
          </a:prstGeom>
          <a:noFill/>
          <a:ln/>
        </p:spPr>
        <p:txBody>
          <a:bodyPr wrap="none" lIns="0" tIns="0" rIns="0" bIns="0" rtlCol="0" anchor="t"/>
          <a:lstStyle/>
          <a:p>
            <a:pPr marL="0" indent="0" algn="l">
              <a:lnSpc>
                <a:spcPct val="104000"/>
              </a:lnSpc>
              <a:buNone/>
            </a:pPr>
            <a:r>
              <a:rPr lang="en-US" sz="1600" dirty="0">
                <a:solidFill>
                  <a:srgbClr val="76B9FF"/>
                </a:solidFill>
                <a:latin typeface="Roboto Slab" pitchFamily="34" charset="0"/>
                <a:ea typeface="Roboto Slab" pitchFamily="34" charset="-122"/>
                <a:cs typeface="Roboto Slab" pitchFamily="34" charset="-120"/>
              </a:rPr>
              <a:t>Option 1: Revert Manual Changes</a:t>
            </a:r>
            <a:endParaRPr lang="en-US" sz="1600" dirty="0"/>
          </a:p>
        </p:txBody>
      </p:sp>
      <p:sp>
        <p:nvSpPr>
          <p:cNvPr id="4" name="Text 2"/>
          <p:cNvSpPr/>
          <p:nvPr/>
        </p:nvSpPr>
        <p:spPr>
          <a:xfrm>
            <a:off x="661574" y="2338288"/>
            <a:ext cx="5842152" cy="270966"/>
          </a:xfrm>
          <a:prstGeom prst="rect">
            <a:avLst/>
          </a:prstGeom>
          <a:noFill/>
          <a:ln/>
        </p:spPr>
        <p:txBody>
          <a:bodyPr wrap="none" lIns="0" tIns="0" rIns="0" bIns="0" rtlCol="0" anchor="t"/>
          <a:lstStyle/>
          <a:p>
            <a:pPr marL="0" indent="0" algn="l">
              <a:lnSpc>
                <a:spcPct val="133000"/>
              </a:lnSpc>
              <a:buNone/>
            </a:pPr>
            <a:r>
              <a:rPr lang="en-US" sz="1300" dirty="0">
                <a:solidFill>
                  <a:srgbClr val="D6E5EF"/>
                </a:solidFill>
                <a:latin typeface="Roboto" pitchFamily="34" charset="0"/>
                <a:ea typeface="Roboto" pitchFamily="34" charset="-122"/>
                <a:cs typeface="Roboto" pitchFamily="34" charset="-120"/>
              </a:rPr>
              <a:t>Command: </a:t>
            </a:r>
            <a:r>
              <a:rPr lang="en-US" sz="1300" dirty="0">
                <a:solidFill>
                  <a:srgbClr val="D6E5EF"/>
                </a:solidFill>
                <a:highlight>
                  <a:srgbClr val="2D3440"/>
                </a:highlight>
                <a:latin typeface="Consolas" pitchFamily="34" charset="0"/>
                <a:ea typeface="Consolas" pitchFamily="34" charset="-122"/>
                <a:cs typeface="Consolas" pitchFamily="34" charset="-120"/>
              </a:rPr>
              <a:t>terraform apply</a:t>
            </a:r>
            <a:endParaRPr lang="en-US" sz="1300" dirty="0"/>
          </a:p>
        </p:txBody>
      </p:sp>
      <p:sp>
        <p:nvSpPr>
          <p:cNvPr id="5" name="Text 3"/>
          <p:cNvSpPr/>
          <p:nvPr/>
        </p:nvSpPr>
        <p:spPr>
          <a:xfrm>
            <a:off x="661574" y="2758083"/>
            <a:ext cx="5232567" cy="587077"/>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300" dirty="0">
                <a:solidFill>
                  <a:srgbClr val="D6E5EF"/>
                </a:solidFill>
                <a:latin typeface="Roboto" pitchFamily="34" charset="0"/>
                <a:ea typeface="Roboto" pitchFamily="34" charset="-122"/>
                <a:cs typeface="Roboto" pitchFamily="34" charset="-120"/>
              </a:rPr>
              <a:t>Overwrites Azure portal changes</a:t>
            </a:r>
            <a:endParaRPr lang="en-US" sz="1300" dirty="0"/>
          </a:p>
          <a:p>
            <a:pPr marL="342900" indent="-342900" algn="l">
              <a:lnSpc>
                <a:spcPct val="133000"/>
              </a:lnSpc>
              <a:buSzPct val="100000"/>
              <a:buChar char="•"/>
            </a:pPr>
            <a:r>
              <a:rPr lang="en-US" sz="1300" dirty="0">
                <a:solidFill>
                  <a:srgbClr val="D6E5EF"/>
                </a:solidFill>
                <a:latin typeface="Roboto" pitchFamily="34" charset="0"/>
                <a:ea typeface="Roboto" pitchFamily="34" charset="-122"/>
                <a:cs typeface="Roboto" pitchFamily="34" charset="-120"/>
              </a:rPr>
              <a:t>Restores declared configuration</a:t>
            </a:r>
            <a:endParaRPr lang="en-US" sz="1300" dirty="0"/>
          </a:p>
        </p:txBody>
      </p:sp>
      <p:sp>
        <p:nvSpPr>
          <p:cNvPr id="6" name="Shape 4"/>
          <p:cNvSpPr/>
          <p:nvPr/>
        </p:nvSpPr>
        <p:spPr>
          <a:xfrm>
            <a:off x="6184844" y="1749227"/>
            <a:ext cx="5470686" cy="2067223"/>
          </a:xfrm>
          <a:prstGeom prst="roundRect">
            <a:avLst>
              <a:gd name="adj" fmla="val 1200"/>
            </a:avLst>
          </a:prstGeom>
          <a:solidFill>
            <a:srgbClr val="202733"/>
          </a:solidFill>
          <a:ln/>
        </p:spPr>
        <p:txBody>
          <a:bodyPr/>
          <a:lstStyle/>
          <a:p>
            <a:endParaRPr lang="en-IN"/>
          </a:p>
        </p:txBody>
      </p:sp>
      <p:sp>
        <p:nvSpPr>
          <p:cNvPr id="7" name="Text 5"/>
          <p:cNvSpPr/>
          <p:nvPr/>
        </p:nvSpPr>
        <p:spPr>
          <a:xfrm>
            <a:off x="6350139" y="1914525"/>
            <a:ext cx="3788871" cy="258465"/>
          </a:xfrm>
          <a:prstGeom prst="rect">
            <a:avLst/>
          </a:prstGeom>
          <a:noFill/>
          <a:ln/>
        </p:spPr>
        <p:txBody>
          <a:bodyPr wrap="none" lIns="0" tIns="0" rIns="0" bIns="0" rtlCol="0" anchor="t"/>
          <a:lstStyle/>
          <a:p>
            <a:pPr marL="0" indent="0" algn="l">
              <a:lnSpc>
                <a:spcPct val="104000"/>
              </a:lnSpc>
              <a:buNone/>
            </a:pPr>
            <a:r>
              <a:rPr lang="en-US" sz="1600" dirty="0">
                <a:solidFill>
                  <a:srgbClr val="76B9FF"/>
                </a:solidFill>
                <a:latin typeface="Roboto Slab" pitchFamily="34" charset="0"/>
                <a:ea typeface="Roboto Slab" pitchFamily="34" charset="-122"/>
                <a:cs typeface="Roboto Slab" pitchFamily="34" charset="-120"/>
              </a:rPr>
              <a:t>Option 2: Adopt Manual Changes</a:t>
            </a:r>
            <a:endParaRPr lang="en-US" sz="1600" dirty="0"/>
          </a:p>
        </p:txBody>
      </p:sp>
      <p:sp>
        <p:nvSpPr>
          <p:cNvPr id="8" name="Text 6"/>
          <p:cNvSpPr/>
          <p:nvPr/>
        </p:nvSpPr>
        <p:spPr>
          <a:xfrm>
            <a:off x="6350139" y="2338288"/>
            <a:ext cx="5140097" cy="587077"/>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300" dirty="0">
                <a:solidFill>
                  <a:srgbClr val="D6E5EF"/>
                </a:solidFill>
                <a:latin typeface="Roboto" pitchFamily="34" charset="0"/>
                <a:ea typeface="Roboto" pitchFamily="34" charset="-122"/>
                <a:cs typeface="Roboto" pitchFamily="34" charset="-120"/>
              </a:rPr>
              <a:t>Update local .tf files</a:t>
            </a:r>
            <a:endParaRPr lang="en-US" sz="1300" dirty="0"/>
          </a:p>
          <a:p>
            <a:pPr marL="342900" indent="-342900" algn="l">
              <a:lnSpc>
                <a:spcPct val="133000"/>
              </a:lnSpc>
              <a:buSzPct val="100000"/>
              <a:buChar char="•"/>
            </a:pPr>
            <a:r>
              <a:rPr lang="en-US" sz="1300" dirty="0">
                <a:solidFill>
                  <a:srgbClr val="D6E5EF"/>
                </a:solidFill>
                <a:latin typeface="Roboto" pitchFamily="34" charset="0"/>
                <a:ea typeface="Roboto" pitchFamily="34" charset="-122"/>
                <a:cs typeface="Roboto" pitchFamily="34" charset="-120"/>
              </a:rPr>
              <a:t>Align configuration with actual resource settings</a:t>
            </a:r>
            <a:endParaRPr lang="en-US" sz="1300" dirty="0"/>
          </a:p>
        </p:txBody>
      </p:sp>
      <p:sp>
        <p:nvSpPr>
          <p:cNvPr id="9" name="Text 7"/>
          <p:cNvSpPr/>
          <p:nvPr/>
        </p:nvSpPr>
        <p:spPr>
          <a:xfrm>
            <a:off x="6350139" y="3074194"/>
            <a:ext cx="5749682" cy="270966"/>
          </a:xfrm>
          <a:prstGeom prst="rect">
            <a:avLst/>
          </a:prstGeom>
          <a:noFill/>
          <a:ln/>
        </p:spPr>
        <p:txBody>
          <a:bodyPr wrap="none" lIns="0" tIns="0" rIns="0" bIns="0" rtlCol="0" anchor="t"/>
          <a:lstStyle/>
          <a:p>
            <a:pPr marL="0" indent="0" algn="l">
              <a:lnSpc>
                <a:spcPct val="133000"/>
              </a:lnSpc>
              <a:buNone/>
            </a:pPr>
            <a:r>
              <a:rPr lang="en-US" sz="1300" dirty="0">
                <a:solidFill>
                  <a:srgbClr val="D6E5EF"/>
                </a:solidFill>
                <a:latin typeface="Roboto" pitchFamily="34" charset="0"/>
                <a:ea typeface="Roboto" pitchFamily="34" charset="-122"/>
                <a:cs typeface="Roboto" pitchFamily="34" charset="-120"/>
              </a:rPr>
              <a:t>Command: </a:t>
            </a:r>
            <a:r>
              <a:rPr lang="en-US" sz="1300" dirty="0">
                <a:solidFill>
                  <a:srgbClr val="D6E5EF"/>
                </a:solidFill>
                <a:highlight>
                  <a:srgbClr val="2D3440"/>
                </a:highlight>
                <a:latin typeface="Consolas" pitchFamily="34" charset="0"/>
                <a:ea typeface="Consolas" pitchFamily="34" charset="-122"/>
                <a:cs typeface="Consolas" pitchFamily="34" charset="-120"/>
              </a:rPr>
              <a:t>terraform apply</a:t>
            </a:r>
            <a:endParaRPr lang="en-US" sz="1300" dirty="0"/>
          </a:p>
        </p:txBody>
      </p:sp>
      <p:sp>
        <p:nvSpPr>
          <p:cNvPr id="10" name="Text 8"/>
          <p:cNvSpPr/>
          <p:nvPr/>
        </p:nvSpPr>
        <p:spPr>
          <a:xfrm>
            <a:off x="6350139" y="3493988"/>
            <a:ext cx="5749682" cy="264616"/>
          </a:xfrm>
          <a:prstGeom prst="rect">
            <a:avLst/>
          </a:prstGeom>
          <a:noFill/>
          <a:ln/>
        </p:spPr>
        <p:txBody>
          <a:bodyPr wrap="none" lIns="0" tIns="0" rIns="0" bIns="0" rtlCol="0" anchor="t"/>
          <a:lstStyle/>
          <a:p>
            <a:pPr marL="342900" indent="-342900" algn="l">
              <a:lnSpc>
                <a:spcPct val="133000"/>
              </a:lnSpc>
              <a:buSzPct val="100000"/>
              <a:buChar char="•"/>
            </a:pPr>
            <a:r>
              <a:rPr lang="en-US" sz="1300" dirty="0">
                <a:solidFill>
                  <a:srgbClr val="D6E5EF"/>
                </a:solidFill>
                <a:latin typeface="Roboto" pitchFamily="34" charset="0"/>
                <a:ea typeface="Roboto" pitchFamily="34" charset="-122"/>
                <a:cs typeface="Roboto" pitchFamily="34" charset="-120"/>
              </a:rPr>
              <a:t>Safely updates state file</a:t>
            </a:r>
            <a:endParaRPr lang="en-US" sz="1300" dirty="0"/>
          </a:p>
        </p:txBody>
      </p:sp>
      <p:sp>
        <p:nvSpPr>
          <p:cNvPr id="11" name="Text 9"/>
          <p:cNvSpPr/>
          <p:nvPr/>
        </p:nvSpPr>
        <p:spPr>
          <a:xfrm>
            <a:off x="661574" y="4002484"/>
            <a:ext cx="11478132" cy="264616"/>
          </a:xfrm>
          <a:prstGeom prst="rect">
            <a:avLst/>
          </a:prstGeom>
          <a:noFill/>
          <a:ln/>
        </p:spPr>
        <p:txBody>
          <a:bodyPr wrap="none" lIns="0" tIns="0" rIns="0" bIns="0" rtlCol="0" anchor="t"/>
          <a:lstStyle/>
          <a:p>
            <a:pPr marL="0" indent="0" algn="l">
              <a:lnSpc>
                <a:spcPct val="133000"/>
              </a:lnSpc>
              <a:buNone/>
            </a:pPr>
            <a:endParaRPr lang="en-US" sz="1300" dirty="0"/>
          </a:p>
        </p:txBody>
      </p:sp>
      <p:sp>
        <p:nvSpPr>
          <p:cNvPr id="12" name="Text 10"/>
          <p:cNvSpPr/>
          <p:nvPr/>
        </p:nvSpPr>
        <p:spPr>
          <a:xfrm>
            <a:off x="4052488" y="4515148"/>
            <a:ext cx="4086619" cy="310059"/>
          </a:xfrm>
          <a:prstGeom prst="rect">
            <a:avLst/>
          </a:prstGeom>
          <a:noFill/>
          <a:ln/>
        </p:spPr>
        <p:txBody>
          <a:bodyPr wrap="none" lIns="0" tIns="0" rIns="0" bIns="0" rtlCol="0" anchor="t"/>
          <a:lstStyle/>
          <a:p>
            <a:pPr marL="0" indent="0" algn="ctr">
              <a:lnSpc>
                <a:spcPct val="104000"/>
              </a:lnSpc>
              <a:buNone/>
            </a:pPr>
            <a:r>
              <a:rPr lang="en-US" sz="1950" dirty="0">
                <a:solidFill>
                  <a:srgbClr val="76B9FF"/>
                </a:solidFill>
                <a:latin typeface="Roboto Slab" pitchFamily="34" charset="0"/>
                <a:ea typeface="Roboto Slab" pitchFamily="34" charset="-122"/>
                <a:cs typeface="Roboto Slab" pitchFamily="34" charset="-120"/>
              </a:rPr>
              <a:t>Decision Point: Handling Drift</a:t>
            </a:r>
            <a:endParaRPr lang="en-US" sz="1950" dirty="0"/>
          </a:p>
        </p:txBody>
      </p:sp>
      <p:sp>
        <p:nvSpPr>
          <p:cNvPr id="13" name="Text 11"/>
          <p:cNvSpPr/>
          <p:nvPr/>
        </p:nvSpPr>
        <p:spPr>
          <a:xfrm>
            <a:off x="661574" y="5073253"/>
            <a:ext cx="10868547" cy="800199"/>
          </a:xfrm>
          <a:prstGeom prst="rect">
            <a:avLst/>
          </a:prstGeom>
          <a:noFill/>
          <a:ln/>
        </p:spPr>
        <p:txBody>
          <a:bodyPr wrap="square" lIns="0" tIns="0" rIns="0" bIns="0" rtlCol="0" anchor="t">
            <a:normAutofit/>
          </a:bodyPr>
          <a:lstStyle/>
          <a:p>
            <a:pPr marL="0" indent="0" algn="ctr">
              <a:lnSpc>
                <a:spcPct val="133000"/>
              </a:lnSpc>
              <a:buNone/>
            </a:pPr>
            <a:r>
              <a:rPr lang="en-US" sz="1300" dirty="0">
                <a:solidFill>
                  <a:srgbClr val="D6E5EF"/>
                </a:solidFill>
                <a:latin typeface="Roboto" pitchFamily="34" charset="0"/>
                <a:ea typeface="Roboto" pitchFamily="34" charset="-122"/>
                <a:cs typeface="Roboto" pitchFamily="34" charset="-120"/>
              </a:rPr>
              <a:t>Choosing between reverting manual changes or adopting them is a critical decision in maintaining infrastructure integrity. Both paths involve intentional </a:t>
            </a:r>
            <a:r>
              <a:rPr lang="en-US" sz="1300" dirty="0">
                <a:solidFill>
                  <a:srgbClr val="D6E5EF"/>
                </a:solidFill>
                <a:highlight>
                  <a:srgbClr val="2D3440"/>
                </a:highlight>
                <a:latin typeface="Consolas" pitchFamily="34" charset="0"/>
                <a:ea typeface="Consolas" pitchFamily="34" charset="-122"/>
                <a:cs typeface="Consolas" pitchFamily="34" charset="-120"/>
              </a:rPr>
              <a:t>terraform apply</a:t>
            </a:r>
            <a:r>
              <a:rPr lang="en-US" sz="1300" dirty="0">
                <a:solidFill>
                  <a:srgbClr val="D6E5EF"/>
                </a:solidFill>
                <a:latin typeface="Roboto" pitchFamily="34" charset="0"/>
                <a:ea typeface="Roboto" pitchFamily="34" charset="-122"/>
                <a:cs typeface="Roboto" pitchFamily="34" charset="-120"/>
              </a:rPr>
              <a:t> operations to bring the environment back into a desired, auditable state, ensuring controlled and consistent change management.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574" y="670620"/>
            <a:ext cx="5613855" cy="413445"/>
          </a:xfrm>
          <a:prstGeom prst="rect">
            <a:avLst/>
          </a:prstGeom>
          <a:noFill/>
          <a:ln/>
        </p:spPr>
        <p:txBody>
          <a:bodyPr wrap="none" lIns="0" tIns="0" rIns="0" bIns="0" rtlCol="0" anchor="t"/>
          <a:lstStyle/>
          <a:p>
            <a:pPr marL="0" indent="0" algn="l">
              <a:lnSpc>
                <a:spcPct val="104000"/>
              </a:lnSpc>
              <a:buNone/>
            </a:pPr>
            <a:r>
              <a:rPr lang="en-US" sz="2600" dirty="0">
                <a:solidFill>
                  <a:srgbClr val="76B9FF"/>
                </a:solidFill>
                <a:latin typeface="Roboto Slab" pitchFamily="34" charset="0"/>
                <a:ea typeface="Roboto Slab" pitchFamily="34" charset="-122"/>
                <a:cs typeface="Roboto Slab" pitchFamily="34" charset="-120"/>
              </a:rPr>
              <a:t>Automated Manifest Generation</a:t>
            </a:r>
            <a:endParaRPr lang="en-US" sz="2600" dirty="0"/>
          </a:p>
        </p:txBody>
      </p:sp>
      <p:sp>
        <p:nvSpPr>
          <p:cNvPr id="3" name="Text 1"/>
          <p:cNvSpPr/>
          <p:nvPr/>
        </p:nvSpPr>
        <p:spPr>
          <a:xfrm>
            <a:off x="661574" y="1338064"/>
            <a:ext cx="5882533" cy="190500"/>
          </a:xfrm>
          <a:prstGeom prst="rect">
            <a:avLst/>
          </a:prstGeom>
          <a:noFill/>
          <a:ln/>
        </p:spPr>
        <p:txBody>
          <a:bodyPr wrap="none" lIns="0" tIns="0" rIns="0" bIns="0" rtlCol="0" anchor="t"/>
          <a:lstStyle/>
          <a:p>
            <a:pPr marL="0" indent="0" algn="l">
              <a:lnSpc>
                <a:spcPct val="120000"/>
              </a:lnSpc>
              <a:buNone/>
            </a:pPr>
            <a:endParaRPr lang="en-US" sz="1000" dirty="0"/>
          </a:p>
        </p:txBody>
      </p:sp>
      <p:sp>
        <p:nvSpPr>
          <p:cNvPr id="4" name="Text 2"/>
          <p:cNvSpPr/>
          <p:nvPr/>
        </p:nvSpPr>
        <p:spPr>
          <a:xfrm>
            <a:off x="661574" y="1634331"/>
            <a:ext cx="2594208" cy="248047"/>
          </a:xfrm>
          <a:prstGeom prst="rect">
            <a:avLst/>
          </a:prstGeom>
          <a:noFill/>
          <a:ln/>
        </p:spPr>
        <p:txBody>
          <a:bodyPr wrap="none" lIns="0" tIns="0" rIns="0" bIns="0" rtlCol="0" anchor="t"/>
          <a:lstStyle/>
          <a:p>
            <a:pPr marL="0" indent="0" algn="l">
              <a:lnSpc>
                <a:spcPct val="104000"/>
              </a:lnSpc>
              <a:buNone/>
            </a:pPr>
            <a:r>
              <a:rPr lang="en-US" sz="1550" dirty="0">
                <a:solidFill>
                  <a:srgbClr val="76B9FF"/>
                </a:solidFill>
                <a:latin typeface="Roboto Slab" pitchFamily="34" charset="0"/>
                <a:ea typeface="Roboto Slab" pitchFamily="34" charset="-122"/>
                <a:cs typeface="Roboto Slab" pitchFamily="34" charset="-120"/>
              </a:rPr>
              <a:t>Template Files</a:t>
            </a:r>
            <a:endParaRPr lang="en-US" sz="1550" dirty="0"/>
          </a:p>
        </p:txBody>
      </p:sp>
      <p:sp>
        <p:nvSpPr>
          <p:cNvPr id="5" name="Text 3"/>
          <p:cNvSpPr/>
          <p:nvPr/>
        </p:nvSpPr>
        <p:spPr>
          <a:xfrm>
            <a:off x="661574" y="1988145"/>
            <a:ext cx="5272948" cy="430709"/>
          </a:xfrm>
          <a:prstGeom prst="rect">
            <a:avLst/>
          </a:prstGeom>
          <a:noFill/>
          <a:ln/>
        </p:spPr>
        <p:txBody>
          <a:bodyPr wrap="square" lIns="0" tIns="0" rIns="0" bIns="0" rtlCol="0" anchor="t">
            <a:normAutofit/>
          </a:bodyPr>
          <a:lstStyle/>
          <a:p>
            <a:pPr marL="342900" indent="-342900" algn="l">
              <a:lnSpc>
                <a:spcPct val="120000"/>
              </a:lnSpc>
              <a:buSzPct val="100000"/>
              <a:buChar char="•"/>
            </a:pPr>
            <a:r>
              <a:rPr lang="en-US" sz="1000" dirty="0">
                <a:solidFill>
                  <a:srgbClr val="D6E5EF"/>
                </a:solidFill>
                <a:latin typeface="Roboto" pitchFamily="34" charset="0"/>
                <a:ea typeface="Roboto" pitchFamily="34" charset="-122"/>
                <a:cs typeface="Roboto" pitchFamily="34" charset="-120"/>
              </a:rPr>
              <a:t>Location: </a:t>
            </a:r>
            <a:r>
              <a:rPr lang="en-US" sz="1000" dirty="0">
                <a:solidFill>
                  <a:srgbClr val="D6E5EF"/>
                </a:solidFill>
                <a:highlight>
                  <a:srgbClr val="2D3440"/>
                </a:highlight>
                <a:latin typeface="Consolas" pitchFamily="34" charset="0"/>
                <a:ea typeface="Consolas" pitchFamily="34" charset="-122"/>
                <a:cs typeface="Consolas" pitchFamily="34" charset="-120"/>
              </a:rPr>
              <a:t>k8s_templates/</a:t>
            </a:r>
            <a:endParaRPr lang="en-US" sz="1000" dirty="0"/>
          </a:p>
          <a:p>
            <a:pPr marL="342900" indent="-342900" algn="l">
              <a:lnSpc>
                <a:spcPct val="120000"/>
              </a:lnSpc>
              <a:buSzPct val="100000"/>
              <a:buChar char="•"/>
            </a:pPr>
            <a:r>
              <a:rPr lang="en-US" sz="1000" dirty="0">
                <a:solidFill>
                  <a:srgbClr val="D6E5EF"/>
                </a:solidFill>
                <a:latin typeface="Roboto" pitchFamily="34" charset="0"/>
                <a:ea typeface="Roboto" pitchFamily="34" charset="-122"/>
                <a:cs typeface="Roboto" pitchFamily="34" charset="-120"/>
              </a:rPr>
              <a:t>Example placeholders: </a:t>
            </a:r>
            <a:r>
              <a:rPr lang="en-US" sz="1000" dirty="0">
                <a:solidFill>
                  <a:srgbClr val="D6E5EF"/>
                </a:solidFill>
                <a:highlight>
                  <a:srgbClr val="2D3440"/>
                </a:highlight>
                <a:latin typeface="Consolas" pitchFamily="34" charset="0"/>
                <a:ea typeface="Consolas" pitchFamily="34" charset="-122"/>
                <a:cs typeface="Consolas" pitchFamily="34" charset="-120"/>
              </a:rPr>
              <a:t>host: ${postgres_fqdn}</a:t>
            </a:r>
            <a:r>
              <a:rPr lang="en-US" sz="1000" dirty="0">
                <a:solidFill>
                  <a:srgbClr val="D6E5EF"/>
                </a:solidFill>
                <a:latin typeface="Roboto" pitchFamily="34" charset="0"/>
                <a:ea typeface="Roboto" pitchFamily="34" charset="-122"/>
                <a:cs typeface="Roboto" pitchFamily="34" charset="-120"/>
              </a:rPr>
              <a:t>, </a:t>
            </a:r>
            <a:r>
              <a:rPr lang="en-US" sz="1000" dirty="0">
                <a:solidFill>
                  <a:srgbClr val="D6E5EF"/>
                </a:solidFill>
                <a:highlight>
                  <a:srgbClr val="2D3440"/>
                </a:highlight>
                <a:latin typeface="Consolas" pitchFamily="34" charset="0"/>
                <a:ea typeface="Consolas" pitchFamily="34" charset="-122"/>
                <a:cs typeface="Consolas" pitchFamily="34" charset="-120"/>
              </a:rPr>
              <a:t>port: ${postgres_port}</a:t>
            </a:r>
            <a:endParaRPr lang="en-US" sz="1000" dirty="0"/>
          </a:p>
        </p:txBody>
      </p:sp>
      <p:sp>
        <p:nvSpPr>
          <p:cNvPr id="6" name="Text 4"/>
          <p:cNvSpPr/>
          <p:nvPr/>
        </p:nvSpPr>
        <p:spPr>
          <a:xfrm>
            <a:off x="661574" y="2524621"/>
            <a:ext cx="3147537" cy="248047"/>
          </a:xfrm>
          <a:prstGeom prst="rect">
            <a:avLst/>
          </a:prstGeom>
          <a:noFill/>
          <a:ln/>
        </p:spPr>
        <p:txBody>
          <a:bodyPr wrap="none" lIns="0" tIns="0" rIns="0" bIns="0" rtlCol="0" anchor="t"/>
          <a:lstStyle/>
          <a:p>
            <a:pPr marL="0" indent="0" algn="l">
              <a:lnSpc>
                <a:spcPct val="104000"/>
              </a:lnSpc>
              <a:buNone/>
            </a:pPr>
            <a:r>
              <a:rPr lang="en-US" sz="1550" dirty="0">
                <a:solidFill>
                  <a:srgbClr val="76B9FF"/>
                </a:solidFill>
                <a:latin typeface="Roboto Slab" pitchFamily="34" charset="0"/>
                <a:ea typeface="Roboto Slab" pitchFamily="34" charset="-122"/>
                <a:cs typeface="Roboto Slab" pitchFamily="34" charset="-120"/>
              </a:rPr>
              <a:t>Terraform Rendering Logic</a:t>
            </a:r>
            <a:endParaRPr lang="en-US" sz="1550" dirty="0"/>
          </a:p>
        </p:txBody>
      </p:sp>
      <p:sp>
        <p:nvSpPr>
          <p:cNvPr id="7" name="Text 5"/>
          <p:cNvSpPr/>
          <p:nvPr/>
        </p:nvSpPr>
        <p:spPr>
          <a:xfrm>
            <a:off x="661574" y="2878435"/>
            <a:ext cx="5272948" cy="430709"/>
          </a:xfrm>
          <a:prstGeom prst="rect">
            <a:avLst/>
          </a:prstGeom>
          <a:noFill/>
          <a:ln/>
        </p:spPr>
        <p:txBody>
          <a:bodyPr wrap="square" lIns="0" tIns="0" rIns="0" bIns="0" rtlCol="0" anchor="t">
            <a:normAutofit/>
          </a:bodyPr>
          <a:lstStyle/>
          <a:p>
            <a:pPr marL="342900" indent="-342900" algn="l">
              <a:lnSpc>
                <a:spcPct val="120000"/>
              </a:lnSpc>
              <a:buSzPct val="100000"/>
              <a:buChar char="•"/>
            </a:pPr>
            <a:r>
              <a:rPr lang="en-US" sz="1000" dirty="0">
                <a:solidFill>
                  <a:srgbClr val="D6E5EF"/>
                </a:solidFill>
                <a:latin typeface="Roboto" pitchFamily="34" charset="0"/>
                <a:ea typeface="Roboto" pitchFamily="34" charset="-122"/>
                <a:cs typeface="Roboto" pitchFamily="34" charset="-120"/>
              </a:rPr>
              <a:t>Explain usage of: </a:t>
            </a:r>
            <a:r>
              <a:rPr lang="en-US" sz="1000" dirty="0">
                <a:solidFill>
                  <a:srgbClr val="D6E5EF"/>
                </a:solidFill>
                <a:highlight>
                  <a:srgbClr val="2D3440"/>
                </a:highlight>
                <a:latin typeface="Consolas" pitchFamily="34" charset="0"/>
                <a:ea typeface="Consolas" pitchFamily="34" charset="-122"/>
                <a:cs typeface="Consolas" pitchFamily="34" charset="-120"/>
              </a:rPr>
              <a:t>templatefile()</a:t>
            </a:r>
            <a:endParaRPr lang="en-US" sz="1000" dirty="0"/>
          </a:p>
          <a:p>
            <a:pPr marL="342900" indent="-342900" algn="l">
              <a:lnSpc>
                <a:spcPct val="120000"/>
              </a:lnSpc>
              <a:buSzPct val="100000"/>
              <a:buChar char="•"/>
            </a:pPr>
            <a:r>
              <a:rPr lang="en-US" sz="1000" dirty="0">
                <a:solidFill>
                  <a:srgbClr val="D6E5EF"/>
                </a:solidFill>
                <a:latin typeface="Roboto" pitchFamily="34" charset="0"/>
                <a:ea typeface="Roboto" pitchFamily="34" charset="-122"/>
                <a:cs typeface="Roboto" pitchFamily="34" charset="-120"/>
              </a:rPr>
              <a:t>Rendered output: </a:t>
            </a:r>
            <a:r>
              <a:rPr lang="en-US" sz="1000" dirty="0">
                <a:solidFill>
                  <a:srgbClr val="D6E5EF"/>
                </a:solidFill>
                <a:highlight>
                  <a:srgbClr val="2D3440"/>
                </a:highlight>
                <a:latin typeface="Consolas" pitchFamily="34" charset="0"/>
                <a:ea typeface="Consolas" pitchFamily="34" charset="-122"/>
                <a:cs typeface="Consolas" pitchFamily="34" charset="-120"/>
              </a:rPr>
              <a:t>k8s_rendered/</a:t>
            </a:r>
            <a:endParaRPr lang="en-US" sz="1000" dirty="0"/>
          </a:p>
        </p:txBody>
      </p:sp>
      <p:sp>
        <p:nvSpPr>
          <p:cNvPr id="8" name="Text 6"/>
          <p:cNvSpPr/>
          <p:nvPr/>
        </p:nvSpPr>
        <p:spPr>
          <a:xfrm>
            <a:off x="661574" y="3404394"/>
            <a:ext cx="5882533" cy="190500"/>
          </a:xfrm>
          <a:prstGeom prst="rect">
            <a:avLst/>
          </a:prstGeom>
          <a:noFill/>
          <a:ln/>
        </p:spPr>
        <p:txBody>
          <a:bodyPr wrap="none" lIns="0" tIns="0" rIns="0" bIns="0" rtlCol="0" anchor="t"/>
          <a:lstStyle/>
          <a:p>
            <a:pPr marL="0" indent="0" algn="l">
              <a:lnSpc>
                <a:spcPct val="120000"/>
              </a:lnSpc>
              <a:buNone/>
            </a:pPr>
            <a:endParaRPr lang="en-US" sz="1000" dirty="0"/>
          </a:p>
        </p:txBody>
      </p:sp>
      <p:pic>
        <p:nvPicPr>
          <p:cNvPr id="9" name="Image 0" descr="preencoded.png"/>
          <p:cNvPicPr>
            <a:picLocks noChangeAspect="1"/>
          </p:cNvPicPr>
          <p:nvPr/>
        </p:nvPicPr>
        <p:blipFill>
          <a:blip r:embed="rId3"/>
          <a:stretch>
            <a:fillRect/>
          </a:stretch>
        </p:blipFill>
        <p:spPr>
          <a:xfrm>
            <a:off x="661574" y="3713956"/>
            <a:ext cx="4218279" cy="2354362"/>
          </a:xfrm>
          <a:prstGeom prst="rect">
            <a:avLst/>
          </a:prstGeom>
        </p:spPr>
      </p:pic>
      <p:sp>
        <p:nvSpPr>
          <p:cNvPr id="10" name="Shape 7"/>
          <p:cNvSpPr/>
          <p:nvPr/>
        </p:nvSpPr>
        <p:spPr>
          <a:xfrm>
            <a:off x="6168275" y="1242814"/>
            <a:ext cx="5463443" cy="4944566"/>
          </a:xfrm>
          <a:prstGeom prst="roundRect">
            <a:avLst>
              <a:gd name="adj" fmla="val 401"/>
            </a:avLst>
          </a:prstGeom>
          <a:solidFill>
            <a:srgbClr val="202733"/>
          </a:solidFill>
          <a:ln/>
        </p:spPr>
        <p:txBody>
          <a:bodyPr/>
          <a:lstStyle/>
          <a:p>
            <a:endParaRPr lang="en-IN"/>
          </a:p>
        </p:txBody>
      </p:sp>
      <p:sp>
        <p:nvSpPr>
          <p:cNvPr id="11" name="Text 8"/>
          <p:cNvSpPr/>
          <p:nvPr/>
        </p:nvSpPr>
        <p:spPr>
          <a:xfrm>
            <a:off x="6300531" y="1348581"/>
            <a:ext cx="3424251" cy="206673"/>
          </a:xfrm>
          <a:prstGeom prst="rect">
            <a:avLst/>
          </a:prstGeom>
          <a:noFill/>
          <a:ln/>
        </p:spPr>
        <p:txBody>
          <a:bodyPr wrap="none" lIns="0" tIns="0" rIns="0" bIns="0" rtlCol="0" anchor="t"/>
          <a:lstStyle/>
          <a:p>
            <a:pPr marL="0" indent="0" algn="l">
              <a:lnSpc>
                <a:spcPct val="104000"/>
              </a:lnSpc>
              <a:buNone/>
            </a:pPr>
            <a:r>
              <a:rPr lang="en-US" sz="1300" dirty="0">
                <a:solidFill>
                  <a:srgbClr val="76B9FF"/>
                </a:solidFill>
                <a:latin typeface="Roboto Slab" pitchFamily="34" charset="0"/>
                <a:ea typeface="Roboto Slab" pitchFamily="34" charset="-122"/>
                <a:cs typeface="Roboto Slab" pitchFamily="34" charset="-120"/>
              </a:rPr>
              <a:t>Terraform Manifest Rendering Flow</a:t>
            </a:r>
            <a:endParaRPr lang="en-US" sz="1300" dirty="0"/>
          </a:p>
        </p:txBody>
      </p:sp>
      <p:sp>
        <p:nvSpPr>
          <p:cNvPr id="12" name="Shape 9"/>
          <p:cNvSpPr/>
          <p:nvPr/>
        </p:nvSpPr>
        <p:spPr>
          <a:xfrm>
            <a:off x="6300531" y="1674316"/>
            <a:ext cx="5198932" cy="1598017"/>
          </a:xfrm>
          <a:prstGeom prst="roundRect">
            <a:avLst>
              <a:gd name="adj" fmla="val 1242"/>
            </a:avLst>
          </a:prstGeom>
          <a:solidFill>
            <a:srgbClr val="2D3440"/>
          </a:solidFill>
          <a:ln/>
        </p:spPr>
        <p:txBody>
          <a:bodyPr/>
          <a:lstStyle/>
          <a:p>
            <a:endParaRPr lang="en-IN"/>
          </a:p>
        </p:txBody>
      </p:sp>
      <p:sp>
        <p:nvSpPr>
          <p:cNvPr id="13" name="Shape 10"/>
          <p:cNvSpPr/>
          <p:nvPr/>
        </p:nvSpPr>
        <p:spPr>
          <a:xfrm>
            <a:off x="6293982" y="1674316"/>
            <a:ext cx="5212029" cy="1598017"/>
          </a:xfrm>
          <a:prstGeom prst="roundRect">
            <a:avLst>
              <a:gd name="adj" fmla="val 1242"/>
            </a:avLst>
          </a:prstGeom>
          <a:solidFill>
            <a:srgbClr val="2D3440"/>
          </a:solidFill>
          <a:ln/>
        </p:spPr>
        <p:txBody>
          <a:bodyPr/>
          <a:lstStyle/>
          <a:p>
            <a:endParaRPr lang="en-IN"/>
          </a:p>
        </p:txBody>
      </p:sp>
      <p:sp>
        <p:nvSpPr>
          <p:cNvPr id="14" name="Text 11"/>
          <p:cNvSpPr/>
          <p:nvPr/>
        </p:nvSpPr>
        <p:spPr>
          <a:xfrm>
            <a:off x="6459277" y="1806575"/>
            <a:ext cx="4881440" cy="13335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D6E5EF"/>
                </a:solidFill>
                <a:latin typeface="Consolas" pitchFamily="34" charset="0"/>
                <a:ea typeface="Consolas" pitchFamily="34" charset="-122"/>
                <a:cs typeface="Consolas" pitchFamily="34" charset="-120"/>
              </a:rPr>
              <a:t>resource "kubernetes_manifest" "app_deployment" {</a:t>
            </a:r>
            <a:endParaRPr lang="en-US" sz="1000" dirty="0"/>
          </a:p>
          <a:p>
            <a:pPr marL="0" indent="0" algn="l">
              <a:lnSpc>
                <a:spcPct val="120000"/>
              </a:lnSpc>
              <a:buNone/>
            </a:pPr>
            <a:r>
              <a:rPr lang="en-US" sz="1000" dirty="0">
                <a:solidFill>
                  <a:srgbClr val="D6E5EF"/>
                </a:solidFill>
                <a:latin typeface="Consolas" pitchFamily="34" charset="0"/>
                <a:ea typeface="Consolas" pitchFamily="34" charset="-122"/>
                <a:cs typeface="Consolas" pitchFamily="34" charset="-120"/>
              </a:rPr>
              <a:t>  manifest = templatefile("k8s_templates/app_deployment.yaml", {</a:t>
            </a:r>
            <a:endParaRPr lang="en-US" sz="1000" dirty="0"/>
          </a:p>
          <a:p>
            <a:pPr marL="0" indent="0" algn="l">
              <a:lnSpc>
                <a:spcPct val="120000"/>
              </a:lnSpc>
              <a:buNone/>
            </a:pPr>
            <a:r>
              <a:rPr lang="en-US" sz="1000" dirty="0">
                <a:solidFill>
                  <a:srgbClr val="D6E5EF"/>
                </a:solidFill>
                <a:latin typeface="Consolas" pitchFamily="34" charset="0"/>
                <a:ea typeface="Consolas" pitchFamily="34" charset="-122"/>
                <a:cs typeface="Consolas" pitchFamily="34" charset="-120"/>
              </a:rPr>
              <a:t>    postgres_host = azurerm_postgresql_flexible_server.postgres.fqdn</a:t>
            </a:r>
            <a:endParaRPr lang="en-US" sz="1000" dirty="0"/>
          </a:p>
          <a:p>
            <a:pPr marL="0" indent="0" algn="l">
              <a:lnSpc>
                <a:spcPct val="120000"/>
              </a:lnSpc>
              <a:buNone/>
            </a:pPr>
            <a:r>
              <a:rPr lang="en-US" sz="1000" dirty="0">
                <a:solidFill>
                  <a:srgbClr val="D6E5EF"/>
                </a:solidFill>
                <a:latin typeface="Consolas" pitchFamily="34" charset="0"/>
                <a:ea typeface="Consolas" pitchFamily="34" charset="-122"/>
                <a:cs typeface="Consolas" pitchFamily="34" charset="-120"/>
              </a:rPr>
              <a:t>    postgres_port = azurerm_postgresql_flexible_server.postgres.port</a:t>
            </a:r>
            <a:endParaRPr lang="en-US" sz="1000" dirty="0"/>
          </a:p>
          <a:p>
            <a:pPr marL="0" indent="0" algn="l">
              <a:lnSpc>
                <a:spcPct val="120000"/>
              </a:lnSpc>
              <a:buNone/>
            </a:pPr>
            <a:r>
              <a:rPr lang="en-US" sz="1000" dirty="0">
                <a:solidFill>
                  <a:srgbClr val="D6E5EF"/>
                </a:solidFill>
                <a:latin typeface="Consolas" pitchFamily="34" charset="0"/>
                <a:ea typeface="Consolas" pitchFamily="34" charset="-122"/>
                <a:cs typeface="Consolas" pitchFamily="34" charset="-120"/>
              </a:rPr>
              <a:t>    app_image_tag = var.app_image_tag</a:t>
            </a:r>
            <a:endParaRPr lang="en-US" sz="1000" dirty="0"/>
          </a:p>
          <a:p>
            <a:pPr marL="0" indent="0" algn="l">
              <a:lnSpc>
                <a:spcPct val="120000"/>
              </a:lnSpc>
              <a:buNone/>
            </a:pPr>
            <a:r>
              <a:rPr lang="en-US" sz="1000" dirty="0">
                <a:solidFill>
                  <a:srgbClr val="D6E5EF"/>
                </a:solidFill>
                <a:latin typeface="Consolas" pitchFamily="34" charset="0"/>
                <a:ea typeface="Consolas" pitchFamily="34" charset="-122"/>
                <a:cs typeface="Consolas" pitchFamily="34" charset="-120"/>
              </a:rPr>
              <a:t>  })</a:t>
            </a:r>
            <a:endParaRPr lang="en-US" sz="1000" dirty="0"/>
          </a:p>
          <a:p>
            <a:pPr marL="0" indent="0" algn="l">
              <a:lnSpc>
                <a:spcPct val="120000"/>
              </a:lnSpc>
              <a:buNone/>
            </a:pPr>
            <a:r>
              <a:rPr lang="en-US" sz="1000" dirty="0">
                <a:solidFill>
                  <a:srgbClr val="D6E5EF"/>
                </a:solidFill>
                <a:latin typeface="Consolas" pitchFamily="34" charset="0"/>
                <a:ea typeface="Consolas" pitchFamily="34" charset="-122"/>
                <a:cs typeface="Consolas" pitchFamily="34" charset="-120"/>
              </a:rPr>
              <a:t>}</a:t>
            </a:r>
            <a:endParaRPr lang="en-US" sz="1000" dirty="0"/>
          </a:p>
        </p:txBody>
      </p:sp>
      <p:sp>
        <p:nvSpPr>
          <p:cNvPr id="15" name="Text 12"/>
          <p:cNvSpPr/>
          <p:nvPr/>
        </p:nvSpPr>
        <p:spPr>
          <a:xfrm>
            <a:off x="6300531" y="3391396"/>
            <a:ext cx="5198932"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D6E5EF"/>
                </a:solidFill>
                <a:latin typeface="Roboto" pitchFamily="34" charset="0"/>
                <a:ea typeface="Roboto" pitchFamily="34" charset="-122"/>
                <a:cs typeface="Roboto" pitchFamily="34" charset="-120"/>
              </a:rPr>
              <a:t>This process ensures </a:t>
            </a:r>
            <a:r>
              <a:rPr lang="en-US" sz="1000" b="1" dirty="0">
                <a:solidFill>
                  <a:srgbClr val="D6E5EF"/>
                </a:solidFill>
                <a:latin typeface="Roboto" pitchFamily="34" charset="0"/>
                <a:ea typeface="Roboto" pitchFamily="34" charset="-122"/>
                <a:cs typeface="Roboto" pitchFamily="34" charset="-120"/>
              </a:rPr>
              <a:t>no hardcoded values</a:t>
            </a:r>
            <a:r>
              <a:rPr lang="en-US" sz="1000" dirty="0">
                <a:solidFill>
                  <a:srgbClr val="D6E5EF"/>
                </a:solidFill>
                <a:latin typeface="Roboto" pitchFamily="34" charset="0"/>
                <a:ea typeface="Roboto" pitchFamily="34" charset="-122"/>
                <a:cs typeface="Roboto" pitchFamily="34" charset="-120"/>
              </a:rPr>
              <a:t>, facilitates </a:t>
            </a:r>
            <a:r>
              <a:rPr lang="en-US" sz="1000" b="1" dirty="0">
                <a:solidFill>
                  <a:srgbClr val="D6E5EF"/>
                </a:solidFill>
                <a:latin typeface="Roboto" pitchFamily="34" charset="0"/>
                <a:ea typeface="Roboto" pitchFamily="34" charset="-122"/>
                <a:cs typeface="Roboto" pitchFamily="34" charset="-120"/>
              </a:rPr>
              <a:t>environment-aware manifest generation</a:t>
            </a:r>
            <a:r>
              <a:rPr lang="en-US" sz="1000" dirty="0">
                <a:solidFill>
                  <a:srgbClr val="D6E5EF"/>
                </a:solidFill>
                <a:latin typeface="Roboto" pitchFamily="34" charset="0"/>
                <a:ea typeface="Roboto" pitchFamily="34" charset="-122"/>
                <a:cs typeface="Roboto" pitchFamily="34" charset="-120"/>
              </a:rPr>
              <a:t>, and maintains a </a:t>
            </a:r>
            <a:r>
              <a:rPr lang="en-US" sz="1000" b="1" dirty="0">
                <a:solidFill>
                  <a:srgbClr val="D6E5EF"/>
                </a:solidFill>
                <a:latin typeface="Roboto" pitchFamily="34" charset="0"/>
                <a:ea typeface="Roboto" pitchFamily="34" charset="-122"/>
                <a:cs typeface="Roboto" pitchFamily="34" charset="-120"/>
              </a:rPr>
              <a:t>clean separation of infrastructure and workloads</a:t>
            </a:r>
            <a:r>
              <a:rPr lang="en-US" sz="1000" dirty="0">
                <a:solidFill>
                  <a:srgbClr val="D6E5EF"/>
                </a:solidFill>
                <a:latin typeface="Roboto" pitchFamily="34" charset="0"/>
                <a:ea typeface="Roboto" pitchFamily="34" charset="-122"/>
                <a:cs typeface="Roboto" pitchFamily="34" charset="-120"/>
              </a:rPr>
              <a: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46503" y="481608"/>
            <a:ext cx="4578732" cy="356195"/>
          </a:xfrm>
          <a:prstGeom prst="rect">
            <a:avLst/>
          </a:prstGeom>
          <a:noFill/>
          <a:ln/>
        </p:spPr>
        <p:txBody>
          <a:bodyPr wrap="none" lIns="0" tIns="0" rIns="0" bIns="0" rtlCol="0" anchor="t"/>
          <a:lstStyle/>
          <a:p>
            <a:pPr marL="0" indent="0" algn="l">
              <a:lnSpc>
                <a:spcPct val="104000"/>
              </a:lnSpc>
              <a:buNone/>
            </a:pPr>
            <a:r>
              <a:rPr lang="en-US" sz="2200" dirty="0">
                <a:solidFill>
                  <a:srgbClr val="76B9FF"/>
                </a:solidFill>
                <a:latin typeface="Roboto Slab" pitchFamily="34" charset="0"/>
                <a:ea typeface="Roboto Slab" pitchFamily="34" charset="-122"/>
                <a:cs typeface="Roboto Slab" pitchFamily="34" charset="-120"/>
              </a:rPr>
              <a:t>Step-by-Step Execution Guide</a:t>
            </a:r>
            <a:endParaRPr lang="en-US" sz="2200" dirty="0"/>
          </a:p>
        </p:txBody>
      </p:sp>
      <p:sp>
        <p:nvSpPr>
          <p:cNvPr id="3" name="Text 1"/>
          <p:cNvSpPr/>
          <p:nvPr/>
        </p:nvSpPr>
        <p:spPr>
          <a:xfrm>
            <a:off x="746503" y="955576"/>
            <a:ext cx="11308273" cy="153987"/>
          </a:xfrm>
          <a:prstGeom prst="rect">
            <a:avLst/>
          </a:prstGeom>
          <a:noFill/>
          <a:ln/>
        </p:spPr>
        <p:txBody>
          <a:bodyPr wrap="none" lIns="0" tIns="0" rIns="0" bIns="0" rtlCol="0" anchor="t"/>
          <a:lstStyle/>
          <a:p>
            <a:pPr marL="0" indent="0" algn="l">
              <a:lnSpc>
                <a:spcPct val="113000"/>
              </a:lnSpc>
              <a:buNone/>
            </a:pPr>
            <a:r>
              <a:rPr lang="en-US" sz="850" dirty="0">
                <a:solidFill>
                  <a:srgbClr val="D6E5EF"/>
                </a:solidFill>
                <a:latin typeface="Roboto" pitchFamily="34" charset="0"/>
                <a:ea typeface="Roboto" pitchFamily="34" charset="-122"/>
                <a:cs typeface="Roboto" pitchFamily="34" charset="-120"/>
              </a:rPr>
              <a:t>This guide outlines the standard operational workflow for managing MediShift's infrastructure across environments, ensuring repeatability and automation.</a:t>
            </a:r>
            <a:endParaRPr lang="en-US" sz="850" dirty="0"/>
          </a:p>
        </p:txBody>
      </p:sp>
      <p:sp>
        <p:nvSpPr>
          <p:cNvPr id="4" name="Shape 2"/>
          <p:cNvSpPr/>
          <p:nvPr/>
        </p:nvSpPr>
        <p:spPr>
          <a:xfrm>
            <a:off x="746503" y="1197868"/>
            <a:ext cx="455800" cy="876002"/>
          </a:xfrm>
          <a:prstGeom prst="roundRect">
            <a:avLst>
              <a:gd name="adj" fmla="val 360047"/>
            </a:avLst>
          </a:prstGeom>
          <a:solidFill>
            <a:srgbClr val="3F4652"/>
          </a:solidFill>
          <a:ln/>
        </p:spPr>
        <p:txBody>
          <a:bodyPr/>
          <a:lstStyle/>
          <a:p>
            <a:endParaRPr lang="en-IN"/>
          </a:p>
        </p:txBody>
      </p:sp>
      <p:sp>
        <p:nvSpPr>
          <p:cNvPr id="5" name="Text 3"/>
          <p:cNvSpPr/>
          <p:nvPr/>
        </p:nvSpPr>
        <p:spPr>
          <a:xfrm>
            <a:off x="888978" y="1529060"/>
            <a:ext cx="170850" cy="213618"/>
          </a:xfrm>
          <a:prstGeom prst="rect">
            <a:avLst/>
          </a:prstGeom>
          <a:noFill/>
          <a:ln/>
        </p:spPr>
        <p:txBody>
          <a:bodyPr wrap="none" lIns="0" tIns="0" rIns="0" bIns="0" rtlCol="0" anchor="ctr"/>
          <a:lstStyle/>
          <a:p>
            <a:pPr marL="0" indent="0" algn="ctr">
              <a:lnSpc>
                <a:spcPct val="100000"/>
              </a:lnSpc>
              <a:buNone/>
            </a:pPr>
            <a:r>
              <a:rPr lang="en-US" sz="1300" dirty="0">
                <a:solidFill>
                  <a:srgbClr val="D6E5EF"/>
                </a:solidFill>
                <a:latin typeface="Roboto Slab" pitchFamily="34" charset="0"/>
                <a:ea typeface="Roboto Slab" pitchFamily="34" charset="-122"/>
                <a:cs typeface="Roboto Slab" pitchFamily="34" charset="-120"/>
              </a:rPr>
              <a:t>1</a:t>
            </a:r>
            <a:endParaRPr lang="en-US" sz="1300" dirty="0"/>
          </a:p>
        </p:txBody>
      </p:sp>
      <p:sp>
        <p:nvSpPr>
          <p:cNvPr id="6" name="Text 4"/>
          <p:cNvSpPr/>
          <p:nvPr/>
        </p:nvSpPr>
        <p:spPr>
          <a:xfrm>
            <a:off x="1280783" y="1311771"/>
            <a:ext cx="1424547" cy="178098"/>
          </a:xfrm>
          <a:prstGeom prst="rect">
            <a:avLst/>
          </a:prstGeom>
          <a:noFill/>
          <a:ln/>
        </p:spPr>
        <p:txBody>
          <a:bodyPr wrap="none" lIns="0" tIns="0" rIns="0" bIns="0" rtlCol="0" anchor="t"/>
          <a:lstStyle/>
          <a:p>
            <a:pPr marL="0" indent="0" algn="l">
              <a:lnSpc>
                <a:spcPct val="104000"/>
              </a:lnSpc>
              <a:buNone/>
            </a:pPr>
            <a:r>
              <a:rPr lang="en-US" sz="1100" dirty="0">
                <a:solidFill>
                  <a:srgbClr val="D6E5EF"/>
                </a:solidFill>
                <a:latin typeface="Roboto Slab" pitchFamily="34" charset="0"/>
                <a:ea typeface="Roboto Slab" pitchFamily="34" charset="-122"/>
                <a:cs typeface="Roboto Slab" pitchFamily="34" charset="-120"/>
              </a:rPr>
              <a:t>Initialize Backend</a:t>
            </a:r>
            <a:endParaRPr lang="en-US" sz="1100" dirty="0"/>
          </a:p>
        </p:txBody>
      </p:sp>
      <p:sp>
        <p:nvSpPr>
          <p:cNvPr id="7" name="Shape 5"/>
          <p:cNvSpPr/>
          <p:nvPr/>
        </p:nvSpPr>
        <p:spPr>
          <a:xfrm>
            <a:off x="1280783" y="1578173"/>
            <a:ext cx="10164409" cy="381794"/>
          </a:xfrm>
          <a:prstGeom prst="roundRect">
            <a:avLst>
              <a:gd name="adj" fmla="val 4477"/>
            </a:avLst>
          </a:prstGeom>
          <a:solidFill>
            <a:srgbClr val="2D3440"/>
          </a:solidFill>
          <a:ln/>
        </p:spPr>
        <p:txBody>
          <a:bodyPr/>
          <a:lstStyle/>
          <a:p>
            <a:endParaRPr lang="en-IN"/>
          </a:p>
        </p:txBody>
      </p:sp>
      <p:sp>
        <p:nvSpPr>
          <p:cNvPr id="8" name="Shape 6"/>
          <p:cNvSpPr/>
          <p:nvPr/>
        </p:nvSpPr>
        <p:spPr>
          <a:xfrm>
            <a:off x="1275127" y="1578173"/>
            <a:ext cx="10175720" cy="381794"/>
          </a:xfrm>
          <a:prstGeom prst="roundRect">
            <a:avLst>
              <a:gd name="adj" fmla="val 4477"/>
            </a:avLst>
          </a:prstGeom>
          <a:solidFill>
            <a:srgbClr val="2D3440"/>
          </a:solidFill>
          <a:ln/>
        </p:spPr>
        <p:txBody>
          <a:bodyPr/>
          <a:lstStyle/>
          <a:p>
            <a:endParaRPr lang="en-IN"/>
          </a:p>
        </p:txBody>
      </p:sp>
      <p:sp>
        <p:nvSpPr>
          <p:cNvPr id="9" name="Text 7"/>
          <p:cNvSpPr/>
          <p:nvPr/>
        </p:nvSpPr>
        <p:spPr>
          <a:xfrm>
            <a:off x="1417503" y="1692077"/>
            <a:ext cx="9890969" cy="153987"/>
          </a:xfrm>
          <a:prstGeom prst="rect">
            <a:avLst/>
          </a:prstGeom>
          <a:noFill/>
          <a:ln/>
        </p:spPr>
        <p:txBody>
          <a:bodyPr wrap="none" lIns="0" tIns="0" rIns="0" bIns="0" rtlCol="0" anchor="t"/>
          <a:lstStyle/>
          <a:p>
            <a:pPr marL="0" indent="0" algn="l">
              <a:lnSpc>
                <a:spcPct val="113000"/>
              </a:lnSpc>
              <a:buNone/>
            </a:pPr>
            <a:r>
              <a:rPr lang="en-US" sz="850" dirty="0">
                <a:solidFill>
                  <a:srgbClr val="D6E5EF"/>
                </a:solidFill>
                <a:latin typeface="Consolas" pitchFamily="34" charset="0"/>
                <a:ea typeface="Consolas" pitchFamily="34" charset="-122"/>
                <a:cs typeface="Consolas" pitchFamily="34" charset="-120"/>
              </a:rPr>
              <a:t>terraform init -reconfigure</a:t>
            </a:r>
            <a:endParaRPr lang="en-US" sz="850" dirty="0"/>
          </a:p>
        </p:txBody>
      </p:sp>
      <p:sp>
        <p:nvSpPr>
          <p:cNvPr id="10" name="Shape 8"/>
          <p:cNvSpPr/>
          <p:nvPr/>
        </p:nvSpPr>
        <p:spPr>
          <a:xfrm>
            <a:off x="746503" y="2152352"/>
            <a:ext cx="455800" cy="876002"/>
          </a:xfrm>
          <a:prstGeom prst="roundRect">
            <a:avLst>
              <a:gd name="adj" fmla="val 360047"/>
            </a:avLst>
          </a:prstGeom>
          <a:solidFill>
            <a:srgbClr val="3F4652"/>
          </a:solidFill>
          <a:ln/>
        </p:spPr>
        <p:txBody>
          <a:bodyPr/>
          <a:lstStyle/>
          <a:p>
            <a:endParaRPr lang="en-IN"/>
          </a:p>
        </p:txBody>
      </p:sp>
      <p:sp>
        <p:nvSpPr>
          <p:cNvPr id="11" name="Text 9"/>
          <p:cNvSpPr/>
          <p:nvPr/>
        </p:nvSpPr>
        <p:spPr>
          <a:xfrm>
            <a:off x="888978" y="2483545"/>
            <a:ext cx="170850" cy="213618"/>
          </a:xfrm>
          <a:prstGeom prst="rect">
            <a:avLst/>
          </a:prstGeom>
          <a:noFill/>
          <a:ln/>
        </p:spPr>
        <p:txBody>
          <a:bodyPr wrap="none" lIns="0" tIns="0" rIns="0" bIns="0" rtlCol="0" anchor="ctr"/>
          <a:lstStyle/>
          <a:p>
            <a:pPr marL="0" indent="0" algn="ctr">
              <a:lnSpc>
                <a:spcPct val="100000"/>
              </a:lnSpc>
              <a:buNone/>
            </a:pPr>
            <a:r>
              <a:rPr lang="en-US" sz="1300" dirty="0">
                <a:solidFill>
                  <a:srgbClr val="D6E5EF"/>
                </a:solidFill>
                <a:latin typeface="Roboto Slab" pitchFamily="34" charset="0"/>
                <a:ea typeface="Roboto Slab" pitchFamily="34" charset="-122"/>
                <a:cs typeface="Roboto Slab" pitchFamily="34" charset="-120"/>
              </a:rPr>
              <a:t>2</a:t>
            </a:r>
            <a:endParaRPr lang="en-US" sz="1300" dirty="0"/>
          </a:p>
        </p:txBody>
      </p:sp>
      <p:sp>
        <p:nvSpPr>
          <p:cNvPr id="12" name="Text 10"/>
          <p:cNvSpPr/>
          <p:nvPr/>
        </p:nvSpPr>
        <p:spPr>
          <a:xfrm>
            <a:off x="1280783" y="2266255"/>
            <a:ext cx="1424547" cy="178098"/>
          </a:xfrm>
          <a:prstGeom prst="rect">
            <a:avLst/>
          </a:prstGeom>
          <a:noFill/>
          <a:ln/>
        </p:spPr>
        <p:txBody>
          <a:bodyPr wrap="none" lIns="0" tIns="0" rIns="0" bIns="0" rtlCol="0" anchor="t"/>
          <a:lstStyle/>
          <a:p>
            <a:pPr marL="0" indent="0" algn="l">
              <a:lnSpc>
                <a:spcPct val="104000"/>
              </a:lnSpc>
              <a:buNone/>
            </a:pPr>
            <a:r>
              <a:rPr lang="en-US" sz="1100" dirty="0">
                <a:solidFill>
                  <a:srgbClr val="D6E5EF"/>
                </a:solidFill>
                <a:latin typeface="Roboto Slab" pitchFamily="34" charset="0"/>
                <a:ea typeface="Roboto Slab" pitchFamily="34" charset="-122"/>
                <a:cs typeface="Roboto Slab" pitchFamily="34" charset="-120"/>
              </a:rPr>
              <a:t>Select Environment</a:t>
            </a:r>
            <a:endParaRPr lang="en-US" sz="1100" dirty="0"/>
          </a:p>
        </p:txBody>
      </p:sp>
      <p:sp>
        <p:nvSpPr>
          <p:cNvPr id="13" name="Shape 11"/>
          <p:cNvSpPr/>
          <p:nvPr/>
        </p:nvSpPr>
        <p:spPr>
          <a:xfrm>
            <a:off x="1280783" y="2532658"/>
            <a:ext cx="10164409" cy="381794"/>
          </a:xfrm>
          <a:prstGeom prst="roundRect">
            <a:avLst>
              <a:gd name="adj" fmla="val 4477"/>
            </a:avLst>
          </a:prstGeom>
          <a:solidFill>
            <a:srgbClr val="2D3440"/>
          </a:solidFill>
          <a:ln/>
        </p:spPr>
        <p:txBody>
          <a:bodyPr/>
          <a:lstStyle/>
          <a:p>
            <a:endParaRPr lang="en-IN"/>
          </a:p>
        </p:txBody>
      </p:sp>
      <p:sp>
        <p:nvSpPr>
          <p:cNvPr id="14" name="Shape 12"/>
          <p:cNvSpPr/>
          <p:nvPr/>
        </p:nvSpPr>
        <p:spPr>
          <a:xfrm>
            <a:off x="1275127" y="2532658"/>
            <a:ext cx="10175720" cy="381794"/>
          </a:xfrm>
          <a:prstGeom prst="roundRect">
            <a:avLst>
              <a:gd name="adj" fmla="val 4477"/>
            </a:avLst>
          </a:prstGeom>
          <a:solidFill>
            <a:srgbClr val="2D3440"/>
          </a:solidFill>
          <a:ln/>
        </p:spPr>
        <p:txBody>
          <a:bodyPr/>
          <a:lstStyle/>
          <a:p>
            <a:endParaRPr lang="en-IN"/>
          </a:p>
        </p:txBody>
      </p:sp>
      <p:sp>
        <p:nvSpPr>
          <p:cNvPr id="15" name="Text 13"/>
          <p:cNvSpPr/>
          <p:nvPr/>
        </p:nvSpPr>
        <p:spPr>
          <a:xfrm>
            <a:off x="1417503" y="2646561"/>
            <a:ext cx="9890969" cy="153987"/>
          </a:xfrm>
          <a:prstGeom prst="rect">
            <a:avLst/>
          </a:prstGeom>
          <a:noFill/>
          <a:ln/>
        </p:spPr>
        <p:txBody>
          <a:bodyPr wrap="none" lIns="0" tIns="0" rIns="0" bIns="0" rtlCol="0" anchor="t"/>
          <a:lstStyle/>
          <a:p>
            <a:pPr marL="0" indent="0" algn="l">
              <a:lnSpc>
                <a:spcPct val="113000"/>
              </a:lnSpc>
              <a:buNone/>
            </a:pPr>
            <a:r>
              <a:rPr lang="en-US" sz="850" dirty="0">
                <a:solidFill>
                  <a:srgbClr val="D6E5EF"/>
                </a:solidFill>
                <a:latin typeface="Consolas" pitchFamily="34" charset="0"/>
                <a:ea typeface="Consolas" pitchFamily="34" charset="-122"/>
                <a:cs typeface="Consolas" pitchFamily="34" charset="-120"/>
              </a:rPr>
              <a:t>terraform workspace select dev</a:t>
            </a:r>
            <a:endParaRPr lang="en-US" sz="850" dirty="0"/>
          </a:p>
        </p:txBody>
      </p:sp>
      <p:sp>
        <p:nvSpPr>
          <p:cNvPr id="16" name="Shape 14"/>
          <p:cNvSpPr/>
          <p:nvPr/>
        </p:nvSpPr>
        <p:spPr>
          <a:xfrm>
            <a:off x="746503" y="3106837"/>
            <a:ext cx="455800" cy="1118295"/>
          </a:xfrm>
          <a:prstGeom prst="roundRect">
            <a:avLst>
              <a:gd name="adj" fmla="val 360047"/>
            </a:avLst>
          </a:prstGeom>
          <a:solidFill>
            <a:srgbClr val="3F4652"/>
          </a:solidFill>
          <a:ln/>
        </p:spPr>
        <p:txBody>
          <a:bodyPr/>
          <a:lstStyle/>
          <a:p>
            <a:endParaRPr lang="en-IN"/>
          </a:p>
        </p:txBody>
      </p:sp>
      <p:sp>
        <p:nvSpPr>
          <p:cNvPr id="17" name="Text 15"/>
          <p:cNvSpPr/>
          <p:nvPr/>
        </p:nvSpPr>
        <p:spPr>
          <a:xfrm>
            <a:off x="888978" y="3559175"/>
            <a:ext cx="170850" cy="213618"/>
          </a:xfrm>
          <a:prstGeom prst="rect">
            <a:avLst/>
          </a:prstGeom>
          <a:noFill/>
          <a:ln/>
        </p:spPr>
        <p:txBody>
          <a:bodyPr wrap="none" lIns="0" tIns="0" rIns="0" bIns="0" rtlCol="0" anchor="ctr"/>
          <a:lstStyle/>
          <a:p>
            <a:pPr marL="0" indent="0" algn="ctr">
              <a:lnSpc>
                <a:spcPct val="100000"/>
              </a:lnSpc>
              <a:buNone/>
            </a:pPr>
            <a:r>
              <a:rPr lang="en-US" sz="1300" dirty="0">
                <a:solidFill>
                  <a:srgbClr val="D6E5EF"/>
                </a:solidFill>
                <a:latin typeface="Roboto Slab" pitchFamily="34" charset="0"/>
                <a:ea typeface="Roboto Slab" pitchFamily="34" charset="-122"/>
                <a:cs typeface="Roboto Slab" pitchFamily="34" charset="-120"/>
              </a:rPr>
              <a:t>3</a:t>
            </a:r>
            <a:endParaRPr lang="en-US" sz="1300" dirty="0"/>
          </a:p>
        </p:txBody>
      </p:sp>
      <p:sp>
        <p:nvSpPr>
          <p:cNvPr id="18" name="Text 16"/>
          <p:cNvSpPr/>
          <p:nvPr/>
        </p:nvSpPr>
        <p:spPr>
          <a:xfrm>
            <a:off x="1280783" y="3220740"/>
            <a:ext cx="1428714" cy="178098"/>
          </a:xfrm>
          <a:prstGeom prst="rect">
            <a:avLst/>
          </a:prstGeom>
          <a:noFill/>
          <a:ln/>
        </p:spPr>
        <p:txBody>
          <a:bodyPr wrap="none" lIns="0" tIns="0" rIns="0" bIns="0" rtlCol="0" anchor="t"/>
          <a:lstStyle/>
          <a:p>
            <a:pPr marL="0" indent="0" algn="l">
              <a:lnSpc>
                <a:spcPct val="104000"/>
              </a:lnSpc>
              <a:buNone/>
            </a:pPr>
            <a:r>
              <a:rPr lang="en-US" sz="1100" dirty="0">
                <a:solidFill>
                  <a:srgbClr val="D6E5EF"/>
                </a:solidFill>
                <a:latin typeface="Roboto Slab" pitchFamily="34" charset="0"/>
                <a:ea typeface="Roboto Slab" pitchFamily="34" charset="-122"/>
                <a:cs typeface="Roboto Slab" pitchFamily="34" charset="-120"/>
              </a:rPr>
              <a:t>Deploy Infrastructure</a:t>
            </a:r>
            <a:endParaRPr lang="en-US" sz="1100" dirty="0"/>
          </a:p>
        </p:txBody>
      </p:sp>
      <p:sp>
        <p:nvSpPr>
          <p:cNvPr id="19" name="Shape 17"/>
          <p:cNvSpPr/>
          <p:nvPr/>
        </p:nvSpPr>
        <p:spPr>
          <a:xfrm>
            <a:off x="1280783" y="3487142"/>
            <a:ext cx="10164409" cy="381794"/>
          </a:xfrm>
          <a:prstGeom prst="roundRect">
            <a:avLst>
              <a:gd name="adj" fmla="val 4477"/>
            </a:avLst>
          </a:prstGeom>
          <a:solidFill>
            <a:srgbClr val="2D3440"/>
          </a:solidFill>
          <a:ln/>
        </p:spPr>
        <p:txBody>
          <a:bodyPr/>
          <a:lstStyle/>
          <a:p>
            <a:endParaRPr lang="en-IN"/>
          </a:p>
        </p:txBody>
      </p:sp>
      <p:sp>
        <p:nvSpPr>
          <p:cNvPr id="20" name="Shape 18"/>
          <p:cNvSpPr/>
          <p:nvPr/>
        </p:nvSpPr>
        <p:spPr>
          <a:xfrm>
            <a:off x="1275127" y="3487142"/>
            <a:ext cx="10175720" cy="381794"/>
          </a:xfrm>
          <a:prstGeom prst="roundRect">
            <a:avLst>
              <a:gd name="adj" fmla="val 4477"/>
            </a:avLst>
          </a:prstGeom>
          <a:solidFill>
            <a:srgbClr val="2D3440"/>
          </a:solidFill>
          <a:ln/>
        </p:spPr>
        <p:txBody>
          <a:bodyPr/>
          <a:lstStyle/>
          <a:p>
            <a:endParaRPr lang="en-IN"/>
          </a:p>
        </p:txBody>
      </p:sp>
      <p:sp>
        <p:nvSpPr>
          <p:cNvPr id="21" name="Text 19"/>
          <p:cNvSpPr/>
          <p:nvPr/>
        </p:nvSpPr>
        <p:spPr>
          <a:xfrm>
            <a:off x="1417503" y="3601045"/>
            <a:ext cx="9890969" cy="153987"/>
          </a:xfrm>
          <a:prstGeom prst="rect">
            <a:avLst/>
          </a:prstGeom>
          <a:noFill/>
          <a:ln/>
        </p:spPr>
        <p:txBody>
          <a:bodyPr wrap="none" lIns="0" tIns="0" rIns="0" bIns="0" rtlCol="0" anchor="t"/>
          <a:lstStyle/>
          <a:p>
            <a:pPr marL="0" indent="0" algn="l">
              <a:lnSpc>
                <a:spcPct val="113000"/>
              </a:lnSpc>
              <a:buNone/>
            </a:pPr>
            <a:r>
              <a:rPr lang="en-US" sz="850" dirty="0">
                <a:solidFill>
                  <a:srgbClr val="D6E5EF"/>
                </a:solidFill>
                <a:latin typeface="Consolas" pitchFamily="34" charset="0"/>
                <a:ea typeface="Consolas" pitchFamily="34" charset="-122"/>
                <a:cs typeface="Consolas" pitchFamily="34" charset="-120"/>
              </a:rPr>
              <a:t>terraform apply -var-file="dev.tfvars"</a:t>
            </a:r>
            <a:endParaRPr lang="en-US" sz="850" dirty="0"/>
          </a:p>
        </p:txBody>
      </p:sp>
      <p:sp>
        <p:nvSpPr>
          <p:cNvPr id="22" name="Text 20"/>
          <p:cNvSpPr/>
          <p:nvPr/>
        </p:nvSpPr>
        <p:spPr>
          <a:xfrm>
            <a:off x="1280783" y="3957241"/>
            <a:ext cx="10164409" cy="153987"/>
          </a:xfrm>
          <a:prstGeom prst="rect">
            <a:avLst/>
          </a:prstGeom>
          <a:noFill/>
          <a:ln/>
        </p:spPr>
        <p:txBody>
          <a:bodyPr wrap="none" lIns="0" tIns="0" rIns="0" bIns="0" rtlCol="0" anchor="t"/>
          <a:lstStyle/>
          <a:p>
            <a:pPr marL="0" indent="0" algn="l">
              <a:lnSpc>
                <a:spcPct val="113000"/>
              </a:lnSpc>
              <a:buNone/>
            </a:pPr>
            <a:r>
              <a:rPr lang="en-US" sz="850" dirty="0">
                <a:solidFill>
                  <a:srgbClr val="D6E5EF"/>
                </a:solidFill>
                <a:latin typeface="Roboto" pitchFamily="34" charset="0"/>
                <a:ea typeface="Roboto" pitchFamily="34" charset="-122"/>
                <a:cs typeface="Roboto" pitchFamily="34" charset="-120"/>
              </a:rPr>
              <a:t>(Builds Azure infra + renders Kubernetes manifests)</a:t>
            </a:r>
            <a:endParaRPr lang="en-US" sz="850" dirty="0"/>
          </a:p>
        </p:txBody>
      </p:sp>
      <p:sp>
        <p:nvSpPr>
          <p:cNvPr id="23" name="Shape 21"/>
          <p:cNvSpPr/>
          <p:nvPr/>
        </p:nvSpPr>
        <p:spPr>
          <a:xfrm>
            <a:off x="746503" y="4303613"/>
            <a:ext cx="455800" cy="876002"/>
          </a:xfrm>
          <a:prstGeom prst="roundRect">
            <a:avLst>
              <a:gd name="adj" fmla="val 360047"/>
            </a:avLst>
          </a:prstGeom>
          <a:solidFill>
            <a:srgbClr val="3F4652"/>
          </a:solidFill>
          <a:ln/>
        </p:spPr>
        <p:txBody>
          <a:bodyPr/>
          <a:lstStyle/>
          <a:p>
            <a:endParaRPr lang="en-IN"/>
          </a:p>
        </p:txBody>
      </p:sp>
      <p:sp>
        <p:nvSpPr>
          <p:cNvPr id="24" name="Text 22"/>
          <p:cNvSpPr/>
          <p:nvPr/>
        </p:nvSpPr>
        <p:spPr>
          <a:xfrm>
            <a:off x="888978" y="4634805"/>
            <a:ext cx="170850" cy="213618"/>
          </a:xfrm>
          <a:prstGeom prst="rect">
            <a:avLst/>
          </a:prstGeom>
          <a:noFill/>
          <a:ln/>
        </p:spPr>
        <p:txBody>
          <a:bodyPr wrap="none" lIns="0" tIns="0" rIns="0" bIns="0" rtlCol="0" anchor="ctr"/>
          <a:lstStyle/>
          <a:p>
            <a:pPr marL="0" indent="0" algn="ctr">
              <a:lnSpc>
                <a:spcPct val="100000"/>
              </a:lnSpc>
              <a:buNone/>
            </a:pPr>
            <a:r>
              <a:rPr lang="en-US" sz="1300" dirty="0">
                <a:solidFill>
                  <a:srgbClr val="D6E5EF"/>
                </a:solidFill>
                <a:latin typeface="Roboto Slab" pitchFamily="34" charset="0"/>
                <a:ea typeface="Roboto Slab" pitchFamily="34" charset="-122"/>
                <a:cs typeface="Roboto Slab" pitchFamily="34" charset="-120"/>
              </a:rPr>
              <a:t>4</a:t>
            </a:r>
            <a:endParaRPr lang="en-US" sz="1300" dirty="0"/>
          </a:p>
        </p:txBody>
      </p:sp>
      <p:sp>
        <p:nvSpPr>
          <p:cNvPr id="25" name="Text 23"/>
          <p:cNvSpPr/>
          <p:nvPr/>
        </p:nvSpPr>
        <p:spPr>
          <a:xfrm>
            <a:off x="1280783" y="4417516"/>
            <a:ext cx="1437247" cy="178098"/>
          </a:xfrm>
          <a:prstGeom prst="rect">
            <a:avLst/>
          </a:prstGeom>
          <a:noFill/>
          <a:ln/>
        </p:spPr>
        <p:txBody>
          <a:bodyPr wrap="none" lIns="0" tIns="0" rIns="0" bIns="0" rtlCol="0" anchor="t"/>
          <a:lstStyle/>
          <a:p>
            <a:pPr marL="0" indent="0" algn="l">
              <a:lnSpc>
                <a:spcPct val="104000"/>
              </a:lnSpc>
              <a:buNone/>
            </a:pPr>
            <a:r>
              <a:rPr lang="en-US" sz="1100" dirty="0">
                <a:solidFill>
                  <a:srgbClr val="D6E5EF"/>
                </a:solidFill>
                <a:latin typeface="Roboto Slab" pitchFamily="34" charset="0"/>
                <a:ea typeface="Roboto Slab" pitchFamily="34" charset="-122"/>
                <a:cs typeface="Roboto Slab" pitchFamily="34" charset="-120"/>
              </a:rPr>
              <a:t>Deploy Microservices</a:t>
            </a:r>
            <a:endParaRPr lang="en-US" sz="1100" dirty="0"/>
          </a:p>
        </p:txBody>
      </p:sp>
      <p:sp>
        <p:nvSpPr>
          <p:cNvPr id="26" name="Shape 24"/>
          <p:cNvSpPr/>
          <p:nvPr/>
        </p:nvSpPr>
        <p:spPr>
          <a:xfrm>
            <a:off x="1280783" y="4683919"/>
            <a:ext cx="10164409" cy="381794"/>
          </a:xfrm>
          <a:prstGeom prst="roundRect">
            <a:avLst>
              <a:gd name="adj" fmla="val 4477"/>
            </a:avLst>
          </a:prstGeom>
          <a:solidFill>
            <a:srgbClr val="2D3440"/>
          </a:solidFill>
          <a:ln/>
        </p:spPr>
        <p:txBody>
          <a:bodyPr/>
          <a:lstStyle/>
          <a:p>
            <a:endParaRPr lang="en-IN"/>
          </a:p>
        </p:txBody>
      </p:sp>
      <p:sp>
        <p:nvSpPr>
          <p:cNvPr id="27" name="Shape 25"/>
          <p:cNvSpPr/>
          <p:nvPr/>
        </p:nvSpPr>
        <p:spPr>
          <a:xfrm>
            <a:off x="1275127" y="4683919"/>
            <a:ext cx="10175720" cy="381794"/>
          </a:xfrm>
          <a:prstGeom prst="roundRect">
            <a:avLst>
              <a:gd name="adj" fmla="val 4477"/>
            </a:avLst>
          </a:prstGeom>
          <a:solidFill>
            <a:srgbClr val="2D3440"/>
          </a:solidFill>
          <a:ln/>
        </p:spPr>
        <p:txBody>
          <a:bodyPr/>
          <a:lstStyle/>
          <a:p>
            <a:endParaRPr lang="en-IN"/>
          </a:p>
        </p:txBody>
      </p:sp>
      <p:sp>
        <p:nvSpPr>
          <p:cNvPr id="28" name="Text 26"/>
          <p:cNvSpPr/>
          <p:nvPr/>
        </p:nvSpPr>
        <p:spPr>
          <a:xfrm>
            <a:off x="1417503" y="4797822"/>
            <a:ext cx="9890969" cy="153987"/>
          </a:xfrm>
          <a:prstGeom prst="rect">
            <a:avLst/>
          </a:prstGeom>
          <a:noFill/>
          <a:ln/>
        </p:spPr>
        <p:txBody>
          <a:bodyPr wrap="none" lIns="0" tIns="0" rIns="0" bIns="0" rtlCol="0" anchor="t"/>
          <a:lstStyle/>
          <a:p>
            <a:pPr marL="0" indent="0" algn="l">
              <a:lnSpc>
                <a:spcPct val="113000"/>
              </a:lnSpc>
              <a:buNone/>
            </a:pPr>
            <a:r>
              <a:rPr lang="en-US" sz="850" dirty="0">
                <a:solidFill>
                  <a:srgbClr val="D6E5EF"/>
                </a:solidFill>
                <a:highlight>
                  <a:srgbClr val="2D3440"/>
                </a:highlight>
                <a:latin typeface="Consolas" pitchFamily="34" charset="0"/>
                <a:ea typeface="Consolas" pitchFamily="34" charset="-122"/>
                <a:cs typeface="Consolas" pitchFamily="34" charset="-120"/>
              </a:rPr>
              <a:t>kubectl apply -f k8s_rendered/</a:t>
            </a:r>
            <a:endParaRPr lang="en-US" sz="850" dirty="0"/>
          </a:p>
        </p:txBody>
      </p:sp>
      <p:sp>
        <p:nvSpPr>
          <p:cNvPr id="29" name="Shape 27"/>
          <p:cNvSpPr/>
          <p:nvPr/>
        </p:nvSpPr>
        <p:spPr>
          <a:xfrm>
            <a:off x="746503" y="5258098"/>
            <a:ext cx="455800" cy="876002"/>
          </a:xfrm>
          <a:prstGeom prst="roundRect">
            <a:avLst>
              <a:gd name="adj" fmla="val 360047"/>
            </a:avLst>
          </a:prstGeom>
          <a:solidFill>
            <a:srgbClr val="3F4652"/>
          </a:solidFill>
          <a:ln/>
        </p:spPr>
        <p:txBody>
          <a:bodyPr/>
          <a:lstStyle/>
          <a:p>
            <a:endParaRPr lang="en-IN"/>
          </a:p>
        </p:txBody>
      </p:sp>
      <p:sp>
        <p:nvSpPr>
          <p:cNvPr id="30" name="Text 28"/>
          <p:cNvSpPr/>
          <p:nvPr/>
        </p:nvSpPr>
        <p:spPr>
          <a:xfrm>
            <a:off x="888978" y="5589290"/>
            <a:ext cx="170850" cy="213618"/>
          </a:xfrm>
          <a:prstGeom prst="rect">
            <a:avLst/>
          </a:prstGeom>
          <a:noFill/>
          <a:ln/>
        </p:spPr>
        <p:txBody>
          <a:bodyPr wrap="none" lIns="0" tIns="0" rIns="0" bIns="0" rtlCol="0" anchor="ctr"/>
          <a:lstStyle/>
          <a:p>
            <a:pPr marL="0" indent="0" algn="ctr">
              <a:lnSpc>
                <a:spcPct val="100000"/>
              </a:lnSpc>
              <a:buNone/>
            </a:pPr>
            <a:r>
              <a:rPr lang="en-US" sz="1300" dirty="0">
                <a:solidFill>
                  <a:srgbClr val="D6E5EF"/>
                </a:solidFill>
                <a:latin typeface="Roboto Slab" pitchFamily="34" charset="0"/>
                <a:ea typeface="Roboto Slab" pitchFamily="34" charset="-122"/>
                <a:cs typeface="Roboto Slab" pitchFamily="34" charset="-120"/>
              </a:rPr>
              <a:t>5</a:t>
            </a:r>
            <a:endParaRPr lang="en-US" sz="1300" dirty="0"/>
          </a:p>
        </p:txBody>
      </p:sp>
      <p:sp>
        <p:nvSpPr>
          <p:cNvPr id="31" name="Text 29"/>
          <p:cNvSpPr/>
          <p:nvPr/>
        </p:nvSpPr>
        <p:spPr>
          <a:xfrm>
            <a:off x="1280783" y="5372001"/>
            <a:ext cx="1427524" cy="178098"/>
          </a:xfrm>
          <a:prstGeom prst="rect">
            <a:avLst/>
          </a:prstGeom>
          <a:noFill/>
          <a:ln/>
        </p:spPr>
        <p:txBody>
          <a:bodyPr wrap="none" lIns="0" tIns="0" rIns="0" bIns="0" rtlCol="0" anchor="t"/>
          <a:lstStyle/>
          <a:p>
            <a:pPr marL="0" indent="0" algn="l">
              <a:lnSpc>
                <a:spcPct val="104000"/>
              </a:lnSpc>
              <a:buNone/>
            </a:pPr>
            <a:r>
              <a:rPr lang="en-US" sz="1100" dirty="0">
                <a:solidFill>
                  <a:srgbClr val="D6E5EF"/>
                </a:solidFill>
                <a:latin typeface="Roboto Slab" pitchFamily="34" charset="0"/>
                <a:ea typeface="Roboto Slab" pitchFamily="34" charset="-122"/>
                <a:cs typeface="Roboto Slab" pitchFamily="34" charset="-120"/>
              </a:rPr>
              <a:t>Destroy Environment</a:t>
            </a:r>
            <a:endParaRPr lang="en-US" sz="1100" dirty="0"/>
          </a:p>
        </p:txBody>
      </p:sp>
      <p:sp>
        <p:nvSpPr>
          <p:cNvPr id="32" name="Shape 30"/>
          <p:cNvSpPr/>
          <p:nvPr/>
        </p:nvSpPr>
        <p:spPr>
          <a:xfrm>
            <a:off x="1280783" y="5638403"/>
            <a:ext cx="10164409" cy="381794"/>
          </a:xfrm>
          <a:prstGeom prst="roundRect">
            <a:avLst>
              <a:gd name="adj" fmla="val 4477"/>
            </a:avLst>
          </a:prstGeom>
          <a:solidFill>
            <a:srgbClr val="2D3440"/>
          </a:solidFill>
          <a:ln/>
        </p:spPr>
        <p:txBody>
          <a:bodyPr/>
          <a:lstStyle/>
          <a:p>
            <a:endParaRPr lang="en-IN"/>
          </a:p>
        </p:txBody>
      </p:sp>
      <p:sp>
        <p:nvSpPr>
          <p:cNvPr id="33" name="Shape 31"/>
          <p:cNvSpPr/>
          <p:nvPr/>
        </p:nvSpPr>
        <p:spPr>
          <a:xfrm>
            <a:off x="1275127" y="5638403"/>
            <a:ext cx="10175720" cy="381794"/>
          </a:xfrm>
          <a:prstGeom prst="roundRect">
            <a:avLst>
              <a:gd name="adj" fmla="val 4477"/>
            </a:avLst>
          </a:prstGeom>
          <a:solidFill>
            <a:srgbClr val="2D3440"/>
          </a:solidFill>
          <a:ln/>
        </p:spPr>
        <p:txBody>
          <a:bodyPr/>
          <a:lstStyle/>
          <a:p>
            <a:endParaRPr lang="en-IN"/>
          </a:p>
        </p:txBody>
      </p:sp>
      <p:sp>
        <p:nvSpPr>
          <p:cNvPr id="34" name="Text 32"/>
          <p:cNvSpPr/>
          <p:nvPr/>
        </p:nvSpPr>
        <p:spPr>
          <a:xfrm>
            <a:off x="1417503" y="5752306"/>
            <a:ext cx="9890969" cy="153987"/>
          </a:xfrm>
          <a:prstGeom prst="rect">
            <a:avLst/>
          </a:prstGeom>
          <a:noFill/>
          <a:ln/>
        </p:spPr>
        <p:txBody>
          <a:bodyPr wrap="none" lIns="0" tIns="0" rIns="0" bIns="0" rtlCol="0" anchor="t"/>
          <a:lstStyle/>
          <a:p>
            <a:pPr marL="0" indent="0" algn="l">
              <a:lnSpc>
                <a:spcPct val="113000"/>
              </a:lnSpc>
              <a:buNone/>
            </a:pPr>
            <a:r>
              <a:rPr lang="en-US" sz="850" dirty="0">
                <a:solidFill>
                  <a:srgbClr val="D6E5EF"/>
                </a:solidFill>
                <a:latin typeface="Consolas" pitchFamily="34" charset="0"/>
                <a:ea typeface="Consolas" pitchFamily="34" charset="-122"/>
                <a:cs typeface="Consolas" pitchFamily="34" charset="-120"/>
              </a:rPr>
              <a:t>terraform destroy -var-file="dev.tfvars"</a:t>
            </a:r>
            <a:endParaRPr lang="en-US" sz="850" dirty="0"/>
          </a:p>
        </p:txBody>
      </p:sp>
      <p:sp>
        <p:nvSpPr>
          <p:cNvPr id="35" name="Text 33"/>
          <p:cNvSpPr/>
          <p:nvPr/>
        </p:nvSpPr>
        <p:spPr>
          <a:xfrm>
            <a:off x="746503" y="6222405"/>
            <a:ext cx="11308273" cy="153987"/>
          </a:xfrm>
          <a:prstGeom prst="rect">
            <a:avLst/>
          </a:prstGeom>
          <a:noFill/>
          <a:ln/>
        </p:spPr>
        <p:txBody>
          <a:bodyPr wrap="none" lIns="0" tIns="0" rIns="0" bIns="0" rtlCol="0" anchor="t"/>
          <a:lstStyle/>
          <a:p>
            <a:pPr marL="0" indent="0" algn="l">
              <a:lnSpc>
                <a:spcPct val="113000"/>
              </a:lnSpc>
              <a:buNone/>
            </a:pPr>
            <a:r>
              <a:rPr lang="en-US" sz="850" dirty="0">
                <a:solidFill>
                  <a:srgbClr val="D6E5EF"/>
                </a:solidFill>
                <a:latin typeface="Roboto" pitchFamily="34" charset="0"/>
                <a:ea typeface="Roboto" pitchFamily="34" charset="-122"/>
                <a:cs typeface="Roboto" pitchFamily="34" charset="-120"/>
              </a:rPr>
              <a:t>This structured approach emphasizes repeatability and automation throughout the infrastructure lifecycle, promoting operational excellence and consistent deployments.</a:t>
            </a:r>
            <a:endParaRPr lang="en-US" sz="85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Damask</Template>
  <TotalTime>55</TotalTime>
  <Words>1648</Words>
  <Application>Microsoft Office PowerPoint</Application>
  <PresentationFormat>Widescreen</PresentationFormat>
  <Paragraphs>221</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Roboto Slab</vt:lpstr>
      <vt:lpstr>Arial</vt:lpstr>
      <vt:lpstr>Consolas</vt:lpstr>
      <vt:lpstr>Rockwell</vt:lpstr>
      <vt:lpstr>Roboto</vt:lpstr>
      <vt:lpstr>Bookman Old Style</vt:lpstr>
      <vt:lpstr>Damask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Revanth Kondabathula(UST,IN)</cp:lastModifiedBy>
  <cp:revision>5</cp:revision>
  <dcterms:created xsi:type="dcterms:W3CDTF">2026-06-10T02:41:06Z</dcterms:created>
  <dcterms:modified xsi:type="dcterms:W3CDTF">2026-06-12T04:08:32Z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2026-06-10T03:37:08Z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738f93d8-9d5a-4256-91c2-53952ca6f619</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ies>
</file>