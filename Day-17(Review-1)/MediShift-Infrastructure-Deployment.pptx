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7" r:id="rId1"/>
  </p:sldMasterIdLst>
  <p:notesMasterIdLst>
    <p:notesMasterId r:id="rId16"/>
  </p:notesMasterIdLst>
  <p:sldIdLst>
    <p:sldId id="256" r:id="rId2"/>
    <p:sldId id="257" r:id="rId3"/>
    <p:sldId id="259" r:id="rId4"/>
    <p:sldId id="262" r:id="rId5"/>
    <p:sldId id="260" r:id="rId6"/>
    <p:sldId id="261" r:id="rId7"/>
    <p:sldId id="264" r:id="rId8"/>
    <p:sldId id="265" r:id="rId9"/>
    <p:sldId id="267" r:id="rId10"/>
    <p:sldId id="268" r:id="rId11"/>
    <p:sldId id="270" r:id="rId12"/>
    <p:sldId id="271" r:id="rId13"/>
    <p:sldId id="266" r:id="rId14"/>
    <p:sldId id="272" r:id="rId15"/>
  </p:sldIdLst>
  <p:sldSz cx="9144000" cy="5143500" type="screen16x9"/>
  <p:notesSz cx="5143500" cy="9144000"/>
  <p:embeddedFontLst>
    <p:embeddedFont>
      <p:font typeface="Calisto MT" panose="02040603050505030304" pitchFamily="18" charset="0"/>
      <p:regular r:id="rId17"/>
    </p:embeddedFont>
    <p:embeddedFont>
      <p:font typeface="Consolas" panose="020B0609020204030204" pitchFamily="49" charset="0"/>
      <p:regular r:id="rId18"/>
      <p:bold r:id="rId19"/>
      <p:italic r:id="rId20"/>
      <p:boldItalic r:id="rId21"/>
    </p:embeddedFont>
    <p:embeddedFont>
      <p:font typeface="Merriweather" panose="00000500000000000000" pitchFamily="2" charset="0"/>
      <p:regular r:id="rId22"/>
      <p:bold r:id="rId23"/>
    </p:embeddedFont>
    <p:embeddedFont>
      <p:font typeface="Wingdings 2" panose="05020102010507070707" pitchFamily="18" charset="2"/>
      <p:regular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1020" y="1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6796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327155"/>
            <a:ext cx="7080026" cy="1371601"/>
          </a:xfrm>
        </p:spPr>
        <p:txBody>
          <a:bodyPr anchor="b">
            <a:normAutofit/>
          </a:bodyPr>
          <a:lstStyle>
            <a:lvl1pPr algn="ctr">
              <a:defRPr sz="4050"/>
            </a:lvl1pPr>
          </a:lstStyle>
          <a:p>
            <a:r>
              <a:rPr lang="en-US"/>
              <a:t>Click to edit Master title style</a:t>
            </a:r>
            <a:endParaRPr lang="en-US" dirty="0"/>
          </a:p>
        </p:txBody>
      </p:sp>
      <p:sp>
        <p:nvSpPr>
          <p:cNvPr id="3" name="Subtitle 2"/>
          <p:cNvSpPr>
            <a:spLocks noGrp="1"/>
          </p:cNvSpPr>
          <p:nvPr>
            <p:ph type="subTitle" idx="1"/>
          </p:nvPr>
        </p:nvSpPr>
        <p:spPr>
          <a:xfrm>
            <a:off x="1028020" y="2698755"/>
            <a:ext cx="7080026" cy="787400"/>
          </a:xfrm>
        </p:spPr>
        <p:txBody>
          <a:bodyPr anchor="t"/>
          <a:lstStyle>
            <a:lvl1pPr marL="0" indent="0" algn="ctr">
              <a:buNone/>
              <a:defRPr>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44236298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204774452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320801"/>
            <a:ext cx="7192913" cy="1371610"/>
          </a:xfrm>
        </p:spPr>
        <p:txBody>
          <a:bodyPr anchor="b"/>
          <a:lstStyle>
            <a:lvl1pPr algn="ctr">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2692409"/>
            <a:ext cx="7192913" cy="1130291"/>
          </a:xfrm>
        </p:spPr>
        <p:txBody>
          <a:bodyPr anchor="t"/>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dirty="0"/>
              <a:pPr/>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422281925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299337"/>
            <a:ext cx="3795373" cy="304406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299337"/>
            <a:ext cx="3798499" cy="304406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dirty="0"/>
              <a:pPr/>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44282215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6" y="1300880"/>
            <a:ext cx="3816804" cy="3111577"/>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3864" y="1300880"/>
            <a:ext cx="3816804" cy="3111577"/>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376441"/>
            <a:ext cx="3657258" cy="408663"/>
          </a:xfrm>
        </p:spPr>
        <p:txBody>
          <a:bodyPr anchor="b">
            <a:noAutofit/>
          </a:bodyPr>
          <a:lstStyle>
            <a:lvl1pPr marL="0" indent="0" algn="ctr">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754404" y="1785103"/>
            <a:ext cx="3657258" cy="2558297"/>
          </a:xfrm>
        </p:spPr>
        <p:txBody>
          <a:bodyPr anchor="t">
            <a:normAutofit/>
          </a:bodyPr>
          <a:lstStyle>
            <a:lvl1pPr>
              <a:defRPr sz="135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376441"/>
            <a:ext cx="3671498" cy="408662"/>
          </a:xfrm>
        </p:spPr>
        <p:txBody>
          <a:bodyPr anchor="b">
            <a:noAutofit/>
          </a:bodyPr>
          <a:lstStyle>
            <a:lvl1pPr marL="0" indent="0" algn="ctr">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21225" y="1785103"/>
            <a:ext cx="3671498" cy="2558297"/>
          </a:xfrm>
        </p:spPr>
        <p:txBody>
          <a:bodyPr anchor="t">
            <a:normAutofit/>
          </a:bodyPr>
          <a:lstStyle>
            <a:lvl1pPr>
              <a:defRPr sz="135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dirty="0"/>
              <a:pPr/>
              <a:t>5/26/2026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293586577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dirty="0"/>
              <a:pPr/>
              <a:t>5/26/2026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223868837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dirty="0"/>
              <a:pPr/>
              <a:t>5/26/2026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40368093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457200"/>
            <a:ext cx="2780167" cy="1366439"/>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3641725" y="457200"/>
            <a:ext cx="4808943" cy="38862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1823639"/>
            <a:ext cx="2780167" cy="2519761"/>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151189418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0249" y="457200"/>
            <a:ext cx="2688125" cy="3903624"/>
          </a:xfrm>
          <a:prstGeom prst="rect">
            <a:avLst/>
          </a:prstGeom>
        </p:spPr>
      </p:pic>
      <p:sp>
        <p:nvSpPr>
          <p:cNvPr id="2" name="Title 1"/>
          <p:cNvSpPr>
            <a:spLocks noGrp="1"/>
          </p:cNvSpPr>
          <p:nvPr>
            <p:ph type="title"/>
          </p:nvPr>
        </p:nvSpPr>
        <p:spPr>
          <a:xfrm>
            <a:off x="685347" y="457442"/>
            <a:ext cx="4451212" cy="1372004"/>
          </a:xfrm>
        </p:spPr>
        <p:txBody>
          <a:bodyPr anchor="b">
            <a:no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81914" y="572776"/>
            <a:ext cx="2456813" cy="3684617"/>
          </a:xfr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685347" y="1829445"/>
            <a:ext cx="4451212" cy="2532101"/>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24661043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13" y="410855"/>
            <a:ext cx="7606349" cy="2862605"/>
          </a:xfrm>
          <a:prstGeom prst="rect">
            <a:avLst/>
          </a:prstGeom>
        </p:spPr>
      </p:pic>
      <p:sp>
        <p:nvSpPr>
          <p:cNvPr id="2" name="Title 1"/>
          <p:cNvSpPr>
            <a:spLocks noGrp="1"/>
          </p:cNvSpPr>
          <p:nvPr>
            <p:ph type="title"/>
          </p:nvPr>
        </p:nvSpPr>
        <p:spPr>
          <a:xfrm>
            <a:off x="685354" y="3423941"/>
            <a:ext cx="7766495" cy="407604"/>
          </a:xfrm>
        </p:spPr>
        <p:txBody>
          <a:bodyPr anchor="b">
            <a:normAutofit/>
          </a:bodyPr>
          <a:lstStyle>
            <a:lvl1pPr algn="ctr">
              <a:defRPr sz="21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77012" y="521257"/>
            <a:ext cx="7384010" cy="2644253"/>
          </a:xfrm>
          <a:effectLst>
            <a:outerShdw blurRad="38100" dist="25400" dir="4440000">
              <a:srgbClr val="000000">
                <a:alpha val="36000"/>
              </a:srgbClr>
            </a:outerShdw>
          </a:effectLst>
        </p:spPr>
        <p:txBody>
          <a:bodyPr anchor="t">
            <a:normAutofit/>
          </a:bodyPr>
          <a:lstStyle>
            <a:lvl1pPr marL="0" indent="0" algn="ctr">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6" y="3831546"/>
            <a:ext cx="7765322" cy="511854"/>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9918229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456328"/>
            <a:ext cx="7765322" cy="2650758"/>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46" y="3221385"/>
            <a:ext cx="7765322" cy="1126370"/>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74229352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457200"/>
            <a:ext cx="6977064" cy="2244678"/>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707524"/>
            <a:ext cx="6564224" cy="399562"/>
          </a:xfrm>
        </p:spPr>
        <p:txBody>
          <a:bodyPr anchor="t">
            <a:normAutofit/>
          </a:bodyPr>
          <a:lstStyle>
            <a:lvl1pPr marL="0" indent="0" algn="r">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85346" y="3228265"/>
            <a:ext cx="7765322" cy="1117122"/>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742950" y="663597"/>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3" name="TextBox 12"/>
          <p:cNvSpPr txBox="1"/>
          <p:nvPr/>
        </p:nvSpPr>
        <p:spPr>
          <a:xfrm>
            <a:off x="7878537" y="2196194"/>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203622755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1595207"/>
            <a:ext cx="7765322" cy="1883876"/>
          </a:xfrm>
        </p:spPr>
        <p:txBody>
          <a:bodyPr anchor="b"/>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39" y="3487917"/>
            <a:ext cx="7764149" cy="855483"/>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84654503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457200"/>
            <a:ext cx="7765322" cy="7278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685346"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335033"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331076"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974929"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974929"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05022253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472" y="1363661"/>
            <a:ext cx="2504979" cy="1385888"/>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2850" y="1363661"/>
            <a:ext cx="2504979" cy="1385888"/>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2038" y="1363661"/>
            <a:ext cx="2504979" cy="1385888"/>
          </a:xfrm>
          <a:prstGeom prst="rect">
            <a:avLst/>
          </a:prstGeom>
        </p:spPr>
      </p:pic>
      <p:sp>
        <p:nvSpPr>
          <p:cNvPr id="30" name="Title 1"/>
          <p:cNvSpPr>
            <a:spLocks noGrp="1"/>
          </p:cNvSpPr>
          <p:nvPr>
            <p:ph type="title"/>
          </p:nvPr>
        </p:nvSpPr>
        <p:spPr>
          <a:xfrm>
            <a:off x="685346" y="457200"/>
            <a:ext cx="7765322" cy="7278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763577" y="1454188"/>
            <a:ext cx="2319276" cy="1202216"/>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685346" y="3360276"/>
            <a:ext cx="2475738" cy="98312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332091"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09307" y="1454321"/>
            <a:ext cx="2319276" cy="1206123"/>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331076" y="3360276"/>
            <a:ext cx="2475738" cy="98312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975023"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6056774" y="1450824"/>
            <a:ext cx="2319276" cy="1205471"/>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974929" y="3360274"/>
            <a:ext cx="2475738" cy="98312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19230440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53846315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457200"/>
            <a:ext cx="1713365" cy="38862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457200"/>
            <a:ext cx="5937654" cy="38862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957684141"/>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55586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31677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08204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09515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29971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73334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40073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10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78607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11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57852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12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65715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13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03581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lide 15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57412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16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3983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Slide 17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6028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457200"/>
            <a:ext cx="7765322" cy="727838"/>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299337"/>
            <a:ext cx="7765322" cy="3044063"/>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4412457"/>
            <a:ext cx="2057400" cy="273844"/>
          </a:xfrm>
          <a:prstGeom prst="rect">
            <a:avLst/>
          </a:prstGeom>
        </p:spPr>
        <p:txBody>
          <a:bodyPr vert="horz" lIns="91440" tIns="45720" rIns="91440" bIns="45720" rtlCol="0" anchor="ctr"/>
          <a:lstStyle>
            <a:lvl1pPr algn="r">
              <a:defRPr sz="750">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dirty="0"/>
              <a:pPr/>
              <a:t>5/26/2026</a:t>
            </a:fld>
            <a:endParaRPr lang="en-US" dirty="0"/>
          </a:p>
        </p:txBody>
      </p:sp>
      <p:sp>
        <p:nvSpPr>
          <p:cNvPr id="5" name="Footer Placeholder 4"/>
          <p:cNvSpPr>
            <a:spLocks noGrp="1"/>
          </p:cNvSpPr>
          <p:nvPr>
            <p:ph type="ftr" sz="quarter" idx="3"/>
          </p:nvPr>
        </p:nvSpPr>
        <p:spPr>
          <a:xfrm>
            <a:off x="685347" y="4412457"/>
            <a:ext cx="5004649" cy="273844"/>
          </a:xfrm>
          <a:prstGeom prst="rect">
            <a:avLst/>
          </a:prstGeom>
        </p:spPr>
        <p:txBody>
          <a:bodyPr vert="horz" lIns="91440" tIns="45720" rIns="91440" bIns="45720" rtlCol="0" anchor="ctr"/>
          <a:lstStyle>
            <a:lvl1pPr algn="l">
              <a:defRPr sz="75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7885509" y="4412457"/>
            <a:ext cx="565159" cy="273844"/>
          </a:xfrm>
          <a:prstGeom prst="rect">
            <a:avLst/>
          </a:prstGeom>
        </p:spPr>
        <p:txBody>
          <a:bodyPr vert="horz" lIns="91440" tIns="45720" rIns="91440" bIns="45720" rtlCol="0" anchor="ctr"/>
          <a:lstStyle>
            <a:lvl1pPr algn="r">
              <a:defRPr sz="750">
                <a:solidFill>
                  <a:schemeClr val="tx1">
                    <a:lumMod val="95000"/>
                  </a:schemeClr>
                </a:solidFill>
                <a:effectLst>
                  <a:outerShdw blurRad="50800" dist="38100" dir="2700000" algn="tl" rotWithShape="0">
                    <a:schemeClr val="bg1">
                      <a:alpha val="43000"/>
                    </a:schemeClr>
                  </a:outerShdw>
                </a:effectLst>
              </a:defRPr>
            </a:lvl1pPr>
          </a:lstStyle>
          <a:p>
            <a:fld id="{DF28FB93-0A08-4E7D-8E63-9EFA29F1E093}" type="slidenum">
              <a:rPr lang="en-US" dirty="0"/>
              <a:pPr/>
              <a:t>‹#›</a:t>
            </a:fld>
            <a:endParaRPr lang="en-US" dirty="0"/>
          </a:p>
        </p:txBody>
      </p:sp>
    </p:spTree>
    <p:extLst>
      <p:ext uri="{BB962C8B-B14F-4D97-AF65-F5344CB8AC3E}">
        <p14:creationId xmlns:p14="http://schemas.microsoft.com/office/powerpoint/2010/main" val="946742406"/>
      </p:ext>
    </p:extLst>
  </p:cSld>
  <p:clrMap bg1="dk1" tx1="lt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8" r:id="rId20"/>
    <p:sldLayoutId id="2147483689" r:id="rId21"/>
    <p:sldLayoutId id="2147483690" r:id="rId22"/>
    <p:sldLayoutId id="2147483691" r:id="rId23"/>
    <p:sldLayoutId id="2147483693" r:id="rId24"/>
    <p:sldLayoutId id="2147483694" r:id="rId25"/>
    <p:sldLayoutId id="2147483695" r:id="rId26"/>
    <p:sldLayoutId id="2147483696" r:id="rId27"/>
    <p:sldLayoutId id="2147483697" r:id="rId28"/>
    <p:sldLayoutId id="2147483699" r:id="rId29"/>
    <p:sldLayoutId id="2147483700" r:id="rId30"/>
    <p:sldLayoutId id="2147483701" r:id="rId31"/>
  </p:sldLayoutIdLst>
  <p:hf sldNum="0" hdr="0" ftr="0" dt="0"/>
  <p:txStyles>
    <p:titleStyle>
      <a:lvl1pPr algn="ctr" defTabSz="342900" rtl="0" eaLnBrk="1" latinLnBrk="0" hangingPunct="1">
        <a:spcBef>
          <a:spcPct val="0"/>
        </a:spcBef>
        <a:buNone/>
        <a:defRPr sz="3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29500" algn="l" defTabSz="342900" rtl="0" eaLnBrk="1" latinLnBrk="0" hangingPunct="1">
        <a:spcBef>
          <a:spcPct val="20000"/>
        </a:spcBef>
        <a:spcAft>
          <a:spcPts val="45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540000" indent="-202500" algn="l" defTabSz="342900" rtl="0" eaLnBrk="1" latinLnBrk="0" hangingPunct="1">
        <a:spcBef>
          <a:spcPct val="20000"/>
        </a:spcBef>
        <a:spcAft>
          <a:spcPts val="450"/>
        </a:spcAft>
        <a:buClr>
          <a:schemeClr val="tx2"/>
        </a:buClr>
        <a:buSzPct val="70000"/>
        <a:buFont typeface="Wingdings 2" charset="2"/>
        <a:buChar char=""/>
        <a:defRPr sz="13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769500" indent="-162000" algn="l" defTabSz="342900" rtl="0" eaLnBrk="1" latinLnBrk="0" hangingPunct="1">
        <a:spcBef>
          <a:spcPct val="20000"/>
        </a:spcBef>
        <a:spcAft>
          <a:spcPts val="450"/>
        </a:spcAft>
        <a:buClr>
          <a:schemeClr val="tx2"/>
        </a:buClr>
        <a:buSzPct val="70000"/>
        <a:buFont typeface="Wingdings 2" charset="2"/>
        <a:buChar char=""/>
        <a:defRPr sz="1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039500" indent="-16200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255500" indent="-16200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15109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18013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0917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23296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3.xml"/><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21.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3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1"/>
          <p:cNvSpPr/>
          <p:nvPr/>
        </p:nvSpPr>
        <p:spPr>
          <a:xfrm>
            <a:off x="539874" y="1322220"/>
            <a:ext cx="4635252" cy="843558"/>
          </a:xfrm>
          <a:prstGeom prst="rect">
            <a:avLst/>
          </a:prstGeom>
          <a:noFill/>
          <a:ln/>
        </p:spPr>
        <p:txBody>
          <a:bodyPr wrap="square" lIns="0" tIns="0" rIns="0" bIns="0" rtlCol="0" anchor="t">
            <a:normAutofit/>
          </a:bodyPr>
          <a:lstStyle/>
          <a:p>
            <a:pPr marL="0" indent="0" algn="l">
              <a:lnSpc>
                <a:spcPct val="104000"/>
              </a:lnSpc>
              <a:buNone/>
            </a:pPr>
            <a:r>
              <a:rPr lang="en-US" sz="2650" dirty="0">
                <a:solidFill>
                  <a:srgbClr val="F5F0F0"/>
                </a:solidFill>
                <a:latin typeface="Merriweather" pitchFamily="34" charset="0"/>
                <a:ea typeface="Merriweather" pitchFamily="34" charset="-122"/>
                <a:cs typeface="Merriweather" pitchFamily="34" charset="-120"/>
              </a:rPr>
              <a:t>MediShift Infrastructure Deployment</a:t>
            </a:r>
            <a:endParaRPr lang="en-US" sz="2650" dirty="0"/>
          </a:p>
        </p:txBody>
      </p:sp>
      <p:sp>
        <p:nvSpPr>
          <p:cNvPr id="5" name="Text 2"/>
          <p:cNvSpPr/>
          <p:nvPr/>
        </p:nvSpPr>
        <p:spPr>
          <a:xfrm>
            <a:off x="539874" y="2823047"/>
            <a:ext cx="4237866" cy="431899"/>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Automated, Non-Containerized Production-Grade Architecture on Microsoft Azure</a:t>
            </a:r>
            <a:endParaRPr lang="en-US" sz="1050" dirty="0"/>
          </a:p>
        </p:txBody>
      </p:sp>
      <p:sp>
        <p:nvSpPr>
          <p:cNvPr id="6" name="Shape 3"/>
          <p:cNvSpPr/>
          <p:nvPr/>
        </p:nvSpPr>
        <p:spPr>
          <a:xfrm>
            <a:off x="539874" y="3553285"/>
            <a:ext cx="1822252" cy="253678"/>
          </a:xfrm>
          <a:prstGeom prst="roundRect">
            <a:avLst>
              <a:gd name="adj" fmla="val 17879"/>
            </a:avLst>
          </a:prstGeom>
          <a:solidFill>
            <a:srgbClr val="001D4D"/>
          </a:solidFill>
          <a:ln/>
        </p:spPr>
        <p:txBody>
          <a:bodyPr/>
          <a:lstStyle/>
          <a:p>
            <a:endParaRPr lang="en-IN"/>
          </a:p>
        </p:txBody>
      </p:sp>
      <p:sp>
        <p:nvSpPr>
          <p:cNvPr id="7" name="Text 4"/>
          <p:cNvSpPr/>
          <p:nvPr/>
        </p:nvSpPr>
        <p:spPr>
          <a:xfrm>
            <a:off x="620837" y="3593766"/>
            <a:ext cx="2117527" cy="172715"/>
          </a:xfrm>
          <a:prstGeom prst="rect">
            <a:avLst/>
          </a:prstGeom>
          <a:noFill/>
          <a:ln/>
        </p:spPr>
        <p:txBody>
          <a:bodyPr wrap="none" lIns="0" tIns="0" rIns="0" bIns="0" rtlCol="0" anchor="t"/>
          <a:lstStyle/>
          <a:p>
            <a:pPr marL="0" indent="0" algn="l">
              <a:lnSpc>
                <a:spcPct val="133000"/>
              </a:lnSpc>
              <a:buNone/>
            </a:pPr>
            <a:r>
              <a:rPr lang="en-US" sz="850" dirty="0">
                <a:solidFill>
                  <a:srgbClr val="E2E6E9"/>
                </a:solidFill>
                <a:latin typeface="Merriweather" pitchFamily="34" charset="0"/>
                <a:ea typeface="Merriweather" pitchFamily="34" charset="-122"/>
                <a:cs typeface="Merriweather" pitchFamily="34" charset="-120"/>
              </a:rPr>
              <a:t>AZURE CLOUD ARCHITECTURE</a:t>
            </a:r>
            <a:endParaRPr lang="en-US" sz="850" dirty="0"/>
          </a:p>
        </p:txBody>
      </p:sp>
      <p:sp>
        <p:nvSpPr>
          <p:cNvPr id="8" name="Shape 5"/>
          <p:cNvSpPr/>
          <p:nvPr/>
        </p:nvSpPr>
        <p:spPr>
          <a:xfrm>
            <a:off x="2429545" y="3548523"/>
            <a:ext cx="1054447" cy="263203"/>
          </a:xfrm>
          <a:prstGeom prst="roundRect">
            <a:avLst>
              <a:gd name="adj" fmla="val 17232"/>
            </a:avLst>
          </a:prstGeom>
          <a:noFill/>
          <a:ln w="4763">
            <a:solidFill>
              <a:srgbClr val="609DFF"/>
            </a:solidFill>
            <a:prstDash val="solid"/>
          </a:ln>
        </p:spPr>
        <p:txBody>
          <a:bodyPr/>
          <a:lstStyle/>
          <a:p>
            <a:endParaRPr lang="en-IN"/>
          </a:p>
        </p:txBody>
      </p:sp>
      <p:sp>
        <p:nvSpPr>
          <p:cNvPr id="9" name="Text 6"/>
          <p:cNvSpPr/>
          <p:nvPr/>
        </p:nvSpPr>
        <p:spPr>
          <a:xfrm>
            <a:off x="2515270" y="3595889"/>
            <a:ext cx="1340197" cy="172715"/>
          </a:xfrm>
          <a:prstGeom prst="rect">
            <a:avLst/>
          </a:prstGeom>
          <a:noFill/>
          <a:ln/>
        </p:spPr>
        <p:txBody>
          <a:bodyPr wrap="none" lIns="0" tIns="0" rIns="0" bIns="0" rtlCol="0" anchor="t"/>
          <a:lstStyle/>
          <a:p>
            <a:pPr marL="0" indent="0" algn="l">
              <a:lnSpc>
                <a:spcPct val="133000"/>
              </a:lnSpc>
              <a:buNone/>
            </a:pPr>
            <a:r>
              <a:rPr lang="en-US" sz="850" dirty="0">
                <a:solidFill>
                  <a:srgbClr val="609DFF"/>
                </a:solidFill>
                <a:latin typeface="Merriweather" pitchFamily="34" charset="0"/>
                <a:ea typeface="Merriweather" pitchFamily="34" charset="-122"/>
                <a:cs typeface="Merriweather" pitchFamily="34" charset="-120"/>
              </a:rPr>
              <a:t>HEALTHCARE IT</a:t>
            </a:r>
            <a:endParaRPr lang="en-US" sz="850" dirty="0"/>
          </a:p>
        </p:txBody>
      </p:sp>
      <p:pic>
        <p:nvPicPr>
          <p:cNvPr id="13" name="Picture 12">
            <a:extLst>
              <a:ext uri="{FF2B5EF4-FFF2-40B4-BE49-F238E27FC236}">
                <a16:creationId xmlns:a16="http://schemas.microsoft.com/office/drawing/2014/main" id="{4C446861-E190-666C-AEA3-027E68DAE2CB}"/>
              </a:ext>
            </a:extLst>
          </p:cNvPr>
          <p:cNvPicPr>
            <a:picLocks noChangeAspect="1"/>
          </p:cNvPicPr>
          <p:nvPr/>
        </p:nvPicPr>
        <p:blipFill>
          <a:blip r:embed="rId3"/>
          <a:stretch>
            <a:fillRect/>
          </a:stretch>
        </p:blipFill>
        <p:spPr>
          <a:xfrm>
            <a:off x="5185097" y="526141"/>
            <a:ext cx="3907914" cy="38853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9874" y="1059507"/>
            <a:ext cx="3831803" cy="421779"/>
          </a:xfrm>
          <a:prstGeom prst="rect">
            <a:avLst/>
          </a:prstGeom>
          <a:noFill/>
          <a:ln/>
        </p:spPr>
        <p:txBody>
          <a:bodyPr wrap="none" lIns="0" tIns="0" rIns="0" bIns="0" rtlCol="0" anchor="t"/>
          <a:lstStyle/>
          <a:p>
            <a:pPr marL="0" indent="0" algn="l">
              <a:lnSpc>
                <a:spcPct val="104000"/>
              </a:lnSpc>
              <a:buNone/>
            </a:pPr>
            <a:r>
              <a:rPr lang="en-US" sz="2650" dirty="0">
                <a:solidFill>
                  <a:srgbClr val="F5F0F0"/>
                </a:solidFill>
                <a:latin typeface="Merriweather" pitchFamily="34" charset="0"/>
                <a:ea typeface="Merriweather" pitchFamily="34" charset="-122"/>
                <a:cs typeface="Merriweather" pitchFamily="34" charset="-120"/>
              </a:rPr>
              <a:t>Project Overview</a:t>
            </a:r>
            <a:endParaRPr lang="en-US" sz="2650" dirty="0"/>
          </a:p>
        </p:txBody>
      </p:sp>
      <p:sp>
        <p:nvSpPr>
          <p:cNvPr id="3" name="Text 1"/>
          <p:cNvSpPr/>
          <p:nvPr/>
        </p:nvSpPr>
        <p:spPr>
          <a:xfrm>
            <a:off x="539874" y="1751186"/>
            <a:ext cx="8064252" cy="647849"/>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MediShift is a mission-critical healthcare platform managing staff rosters, shift rotations, and leave administration. Because medical environments operate around the clock, the hosting architecture must guarantee uninterrupted availability, strict network security, and operational resilience.</a:t>
            </a:r>
            <a:endParaRPr lang="en-US" sz="1050" dirty="0"/>
          </a:p>
        </p:txBody>
      </p:sp>
      <p:sp>
        <p:nvSpPr>
          <p:cNvPr id="4" name="Shape 2"/>
          <p:cNvSpPr/>
          <p:nvPr/>
        </p:nvSpPr>
        <p:spPr>
          <a:xfrm>
            <a:off x="442615" y="2550840"/>
            <a:ext cx="4061966" cy="1533153"/>
          </a:xfrm>
          <a:prstGeom prst="roundRect">
            <a:avLst>
              <a:gd name="adj" fmla="val 6339"/>
            </a:avLst>
          </a:prstGeom>
          <a:solidFill>
            <a:srgbClr val="609DFF">
              <a:alpha val="95000"/>
            </a:srgbClr>
          </a:solidFill>
          <a:ln/>
        </p:spPr>
        <p:txBody>
          <a:bodyPr/>
          <a:lstStyle/>
          <a:p>
            <a:endParaRPr lang="en-IN"/>
          </a:p>
        </p:txBody>
      </p:sp>
      <p:sp>
        <p:nvSpPr>
          <p:cNvPr id="5" name="Text 3"/>
          <p:cNvSpPr/>
          <p:nvPr/>
        </p:nvSpPr>
        <p:spPr>
          <a:xfrm>
            <a:off x="577528" y="2685752"/>
            <a:ext cx="3001714" cy="210815"/>
          </a:xfrm>
          <a:prstGeom prst="rect">
            <a:avLst/>
          </a:prstGeom>
          <a:noFill/>
          <a:ln/>
        </p:spPr>
        <p:txBody>
          <a:bodyPr wrap="none" lIns="0" tIns="0" rIns="0" bIns="0" rtlCol="0" anchor="t"/>
          <a:lstStyle/>
          <a:p>
            <a:pPr marL="0" indent="0" algn="l">
              <a:lnSpc>
                <a:spcPct val="104000"/>
              </a:lnSpc>
              <a:buNone/>
            </a:pPr>
            <a:r>
              <a:rPr lang="en-US" sz="1300" dirty="0">
                <a:solidFill>
                  <a:srgbClr val="000000"/>
                </a:solidFill>
                <a:latin typeface="Merriweather" pitchFamily="34" charset="0"/>
                <a:ea typeface="Merriweather" pitchFamily="34" charset="-122"/>
                <a:cs typeface="Merriweather" pitchFamily="34" charset="-120"/>
              </a:rPr>
              <a:t>Healthcare Operational Context</a:t>
            </a:r>
            <a:endParaRPr lang="en-US" sz="1300" dirty="0"/>
          </a:p>
        </p:txBody>
      </p:sp>
      <p:sp>
        <p:nvSpPr>
          <p:cNvPr id="6" name="Text 4"/>
          <p:cNvSpPr/>
          <p:nvPr/>
        </p:nvSpPr>
        <p:spPr>
          <a:xfrm>
            <a:off x="577528" y="3031480"/>
            <a:ext cx="3792141" cy="100533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050" dirty="0">
                <a:solidFill>
                  <a:srgbClr val="000000"/>
                </a:solidFill>
                <a:latin typeface="Merriweather" pitchFamily="34" charset="0"/>
                <a:ea typeface="Merriweather" pitchFamily="34" charset="-122"/>
                <a:cs typeface="Merriweather" pitchFamily="34" charset="-120"/>
              </a:rPr>
              <a:t>24/7 staff scheduling and shift management</a:t>
            </a:r>
            <a:endParaRPr lang="en-US" sz="1050" dirty="0"/>
          </a:p>
          <a:p>
            <a:pPr marL="342900" indent="-342900" algn="l">
              <a:lnSpc>
                <a:spcPct val="133000"/>
              </a:lnSpc>
              <a:buSzPct val="100000"/>
              <a:buChar char="•"/>
            </a:pPr>
            <a:r>
              <a:rPr lang="en-US" sz="1050" dirty="0">
                <a:solidFill>
                  <a:srgbClr val="000000"/>
                </a:solidFill>
                <a:latin typeface="Merriweather" pitchFamily="34" charset="0"/>
                <a:ea typeface="Merriweather" pitchFamily="34" charset="-122"/>
                <a:cs typeface="Merriweather" pitchFamily="34" charset="-120"/>
              </a:rPr>
              <a:t>Real-time leave request processing</a:t>
            </a:r>
            <a:endParaRPr lang="en-US" sz="1050" dirty="0"/>
          </a:p>
          <a:p>
            <a:pPr marL="342900" indent="-342900" algn="l">
              <a:lnSpc>
                <a:spcPct val="133000"/>
              </a:lnSpc>
              <a:buSzPct val="100000"/>
              <a:buChar char="•"/>
            </a:pPr>
            <a:r>
              <a:rPr lang="en-US" sz="1050" dirty="0">
                <a:solidFill>
                  <a:srgbClr val="000000"/>
                </a:solidFill>
                <a:latin typeface="Merriweather" pitchFamily="34" charset="0"/>
                <a:ea typeface="Merriweather" pitchFamily="34" charset="-122"/>
                <a:cs typeface="Merriweather" pitchFamily="34" charset="-120"/>
              </a:rPr>
              <a:t>Multi-role access for clinical and admin staff</a:t>
            </a:r>
            <a:endParaRPr lang="en-US" sz="1050" dirty="0"/>
          </a:p>
          <a:p>
            <a:pPr marL="342900" indent="-342900" algn="l">
              <a:lnSpc>
                <a:spcPct val="133000"/>
              </a:lnSpc>
              <a:buSzPct val="100000"/>
              <a:buChar char="•"/>
            </a:pPr>
            <a:r>
              <a:rPr lang="en-US" sz="1050" dirty="0">
                <a:solidFill>
                  <a:srgbClr val="000000"/>
                </a:solidFill>
                <a:latin typeface="Merriweather" pitchFamily="34" charset="0"/>
                <a:ea typeface="Merriweather" pitchFamily="34" charset="-122"/>
                <a:cs typeface="Merriweather" pitchFamily="34" charset="-120"/>
              </a:rPr>
              <a:t>Audit-ready compliance logging</a:t>
            </a:r>
            <a:endParaRPr lang="en-US" sz="1050" dirty="0"/>
          </a:p>
        </p:txBody>
      </p:sp>
      <p:sp>
        <p:nvSpPr>
          <p:cNvPr id="7" name="Text 5"/>
          <p:cNvSpPr/>
          <p:nvPr/>
        </p:nvSpPr>
        <p:spPr>
          <a:xfrm>
            <a:off x="4741441" y="2685752"/>
            <a:ext cx="3056632" cy="210815"/>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Cloud Availability Requirements</a:t>
            </a:r>
            <a:endParaRPr lang="en-US" sz="1300" dirty="0"/>
          </a:p>
        </p:txBody>
      </p:sp>
      <p:sp>
        <p:nvSpPr>
          <p:cNvPr id="8" name="Text 6"/>
          <p:cNvSpPr/>
          <p:nvPr/>
        </p:nvSpPr>
        <p:spPr>
          <a:xfrm>
            <a:off x="4741441" y="3031480"/>
            <a:ext cx="3867448" cy="1005334"/>
          </a:xfrm>
          <a:prstGeom prst="rect">
            <a:avLst/>
          </a:prstGeom>
          <a:noFill/>
          <a:ln/>
        </p:spPr>
        <p:txBody>
          <a:bodyPr wrap="square" lIns="0" tIns="0" rIns="0" bIns="0" rtlCol="0" anchor="t">
            <a:normAutofit lnSpcReduction="10000"/>
          </a:bodyPr>
          <a:lstStyle/>
          <a:p>
            <a:pPr marL="342900" indent="-342900" algn="l">
              <a:lnSpc>
                <a:spcPct val="133000"/>
              </a:lnSpc>
              <a:buSzPct val="100000"/>
              <a:buChar char="•"/>
            </a:pPr>
            <a:r>
              <a:rPr lang="en-US" sz="1050" dirty="0">
                <a:solidFill>
                  <a:srgbClr val="E2E6E9"/>
                </a:solidFill>
                <a:latin typeface="Merriweather" pitchFamily="34" charset="0"/>
                <a:ea typeface="Merriweather" pitchFamily="34" charset="-122"/>
                <a:cs typeface="Merriweather" pitchFamily="34" charset="-120"/>
              </a:rPr>
              <a:t>Zero planned downtime during deployments</a:t>
            </a:r>
            <a:endParaRPr lang="en-US" sz="1050" dirty="0"/>
          </a:p>
          <a:p>
            <a:pPr marL="342900" indent="-342900" algn="l">
              <a:lnSpc>
                <a:spcPct val="133000"/>
              </a:lnSpc>
              <a:buSzPct val="100000"/>
              <a:buChar char="•"/>
            </a:pPr>
            <a:r>
              <a:rPr lang="en-US" sz="1050" dirty="0">
                <a:solidFill>
                  <a:srgbClr val="E2E6E9"/>
                </a:solidFill>
                <a:latin typeface="Merriweather" pitchFamily="34" charset="0"/>
                <a:ea typeface="Merriweather" pitchFamily="34" charset="-122"/>
                <a:cs typeface="Merriweather" pitchFamily="34" charset="-120"/>
              </a:rPr>
              <a:t>Strict VNet isolation for all backend services</a:t>
            </a:r>
            <a:endParaRPr lang="en-US" sz="1050" dirty="0"/>
          </a:p>
          <a:p>
            <a:pPr marL="342900" indent="-342900" algn="l">
              <a:lnSpc>
                <a:spcPct val="133000"/>
              </a:lnSpc>
              <a:buSzPct val="100000"/>
              <a:buChar char="•"/>
            </a:pPr>
            <a:r>
              <a:rPr lang="en-US" sz="1050" dirty="0">
                <a:solidFill>
                  <a:srgbClr val="E2E6E9"/>
                </a:solidFill>
                <a:latin typeface="Merriweather" pitchFamily="34" charset="0"/>
                <a:ea typeface="Merriweather" pitchFamily="34" charset="-122"/>
                <a:cs typeface="Merriweather" pitchFamily="34" charset="-120"/>
              </a:rPr>
              <a:t>Automated health probing and self-healing</a:t>
            </a:r>
            <a:endParaRPr lang="en-US" sz="1050" dirty="0"/>
          </a:p>
          <a:p>
            <a:pPr marL="342900" indent="-342900" algn="l">
              <a:lnSpc>
                <a:spcPct val="133000"/>
              </a:lnSpc>
              <a:buSzPct val="100000"/>
              <a:buChar char="•"/>
            </a:pPr>
            <a:r>
              <a:rPr lang="en-US" sz="1050" dirty="0">
                <a:solidFill>
                  <a:srgbClr val="E2E6E9"/>
                </a:solidFill>
                <a:latin typeface="Merriweather" pitchFamily="34" charset="0"/>
                <a:ea typeface="Merriweather" pitchFamily="34" charset="-122"/>
                <a:cs typeface="Merriweather" pitchFamily="34" charset="-120"/>
              </a:rPr>
              <a:t>Secure secrets management with no plaintext exposure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003180"/>
          </a:solidFill>
          <a:ln/>
        </p:spPr>
        <p:txBody>
          <a:bodyPr/>
          <a:lstStyle/>
          <a:p>
            <a:endParaRPr lang="en-IN"/>
          </a:p>
        </p:txBody>
      </p:sp>
      <p:pic>
        <p:nvPicPr>
          <p:cNvPr id="3" name="Image 0" descr="preencoded.png"/>
          <p:cNvPicPr>
            <a:picLocks noChangeAspect="1"/>
          </p:cNvPicPr>
          <p:nvPr/>
        </p:nvPicPr>
        <p:blipFill>
          <a:blip r:embed="rId3"/>
          <a:stretch>
            <a:fillRect/>
          </a:stretch>
        </p:blipFill>
        <p:spPr>
          <a:xfrm>
            <a:off x="5775722" y="91083"/>
            <a:ext cx="3307556" cy="4961334"/>
          </a:xfrm>
          <a:prstGeom prst="rect">
            <a:avLst/>
          </a:prstGeom>
        </p:spPr>
      </p:pic>
      <p:sp>
        <p:nvSpPr>
          <p:cNvPr id="4" name="Text 1"/>
          <p:cNvSpPr/>
          <p:nvPr/>
        </p:nvSpPr>
        <p:spPr>
          <a:xfrm>
            <a:off x="539874" y="536377"/>
            <a:ext cx="4877470" cy="379586"/>
          </a:xfrm>
          <a:prstGeom prst="rect">
            <a:avLst/>
          </a:prstGeom>
          <a:noFill/>
          <a:ln/>
        </p:spPr>
        <p:txBody>
          <a:bodyPr wrap="none" lIns="0" tIns="0" rIns="0" bIns="0" rtlCol="0" anchor="t"/>
          <a:lstStyle/>
          <a:p>
            <a:pPr marL="0" indent="0" algn="l">
              <a:lnSpc>
                <a:spcPct val="104000"/>
              </a:lnSpc>
              <a:buNone/>
            </a:pPr>
            <a:r>
              <a:rPr lang="en-US" sz="2350" dirty="0">
                <a:solidFill>
                  <a:srgbClr val="F5F0F0"/>
                </a:solidFill>
                <a:latin typeface="Merriweather" pitchFamily="34" charset="0"/>
                <a:ea typeface="Merriweather" pitchFamily="34" charset="-122"/>
                <a:cs typeface="Merriweather" pitchFamily="34" charset="-120"/>
              </a:rPr>
              <a:t>Solution Architecture Strategy</a:t>
            </a:r>
            <a:endParaRPr lang="en-US" sz="2350" dirty="0"/>
          </a:p>
        </p:txBody>
      </p:sp>
      <p:sp>
        <p:nvSpPr>
          <p:cNvPr id="5" name="Text 2"/>
          <p:cNvSpPr/>
          <p:nvPr/>
        </p:nvSpPr>
        <p:spPr>
          <a:xfrm>
            <a:off x="539874" y="1079897"/>
            <a:ext cx="4635252" cy="554087"/>
          </a:xfrm>
          <a:prstGeom prst="rect">
            <a:avLst/>
          </a:prstGeom>
          <a:noFill/>
          <a:ln/>
        </p:spPr>
        <p:txBody>
          <a:bodyPr wrap="square" lIns="0" tIns="0" rIns="0" bIns="0" rtlCol="0" anchor="t">
            <a:normAutofit/>
          </a:bodyPr>
          <a:lstStyle/>
          <a:p>
            <a:pPr marL="0" indent="0" algn="l">
              <a:lnSpc>
                <a:spcPct val="127000"/>
              </a:lnSpc>
              <a:buNone/>
            </a:pPr>
            <a:r>
              <a:rPr lang="en-US" sz="950" dirty="0">
                <a:solidFill>
                  <a:srgbClr val="E2E6E9"/>
                </a:solidFill>
                <a:latin typeface="Merriweather" pitchFamily="34" charset="0"/>
                <a:ea typeface="Merriweather" pitchFamily="34" charset="-122"/>
                <a:cs typeface="Merriweather" pitchFamily="34" charset="-120"/>
              </a:rPr>
              <a:t>Three structural tiers address every identified problem without container orchestration — using native Linux runtimes, managed Azure services, and infrastructure-as-code.</a:t>
            </a:r>
            <a:endParaRPr lang="en-US" sz="950" dirty="0"/>
          </a:p>
        </p:txBody>
      </p:sp>
      <p:sp>
        <p:nvSpPr>
          <p:cNvPr id="6" name="Shape 3"/>
          <p:cNvSpPr/>
          <p:nvPr/>
        </p:nvSpPr>
        <p:spPr>
          <a:xfrm>
            <a:off x="539874" y="1756916"/>
            <a:ext cx="4635252" cy="877193"/>
          </a:xfrm>
          <a:prstGeom prst="roundRect">
            <a:avLst>
              <a:gd name="adj" fmla="val 5817"/>
            </a:avLst>
          </a:prstGeom>
          <a:solidFill>
            <a:srgbClr val="003180"/>
          </a:solidFill>
          <a:ln w="4763">
            <a:solidFill>
              <a:srgbClr val="194A99"/>
            </a:solidFill>
            <a:prstDash val="solid"/>
          </a:ln>
        </p:spPr>
        <p:txBody>
          <a:bodyPr/>
          <a:lstStyle/>
          <a:p>
            <a:endParaRPr lang="en-IN"/>
          </a:p>
        </p:txBody>
      </p:sp>
      <p:sp>
        <p:nvSpPr>
          <p:cNvPr id="7" name="Text 4"/>
          <p:cNvSpPr/>
          <p:nvPr/>
        </p:nvSpPr>
        <p:spPr>
          <a:xfrm>
            <a:off x="666080" y="1883122"/>
            <a:ext cx="1518568" cy="189830"/>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Merriweather" pitchFamily="34" charset="0"/>
                <a:ea typeface="Merriweather" pitchFamily="34" charset="-122"/>
                <a:cs typeface="Merriweather" pitchFamily="34" charset="-120"/>
              </a:rPr>
              <a:t>🌐</a:t>
            </a:r>
            <a:r>
              <a:rPr lang="en-US" sz="1150" dirty="0">
                <a:solidFill>
                  <a:srgbClr val="E2E6E9"/>
                </a:solidFill>
                <a:latin typeface="Merriweather" pitchFamily="34" charset="0"/>
                <a:ea typeface="Merriweather" pitchFamily="34" charset="-122"/>
                <a:cs typeface="Merriweather" pitchFamily="34" charset="-120"/>
              </a:rPr>
              <a:t> Web Tier</a:t>
            </a:r>
            <a:endParaRPr lang="en-US" sz="1150" dirty="0"/>
          </a:p>
        </p:txBody>
      </p:sp>
      <p:sp>
        <p:nvSpPr>
          <p:cNvPr id="8" name="Text 5"/>
          <p:cNvSpPr/>
          <p:nvPr/>
        </p:nvSpPr>
        <p:spPr>
          <a:xfrm>
            <a:off x="666080" y="2138511"/>
            <a:ext cx="4382839" cy="369391"/>
          </a:xfrm>
          <a:prstGeom prst="rect">
            <a:avLst/>
          </a:prstGeom>
          <a:noFill/>
          <a:ln/>
        </p:spPr>
        <p:txBody>
          <a:bodyPr wrap="square" lIns="0" tIns="0" rIns="0" bIns="0" rtlCol="0" anchor="t">
            <a:normAutofit/>
          </a:bodyPr>
          <a:lstStyle/>
          <a:p>
            <a:pPr marL="0" indent="0" algn="l">
              <a:lnSpc>
                <a:spcPct val="127000"/>
              </a:lnSpc>
              <a:buNone/>
            </a:pPr>
            <a:r>
              <a:rPr lang="en-US" sz="950" dirty="0">
                <a:solidFill>
                  <a:srgbClr val="E2E6E9"/>
                </a:solidFill>
                <a:latin typeface="Merriweather" pitchFamily="34" charset="0"/>
                <a:ea typeface="Merriweather" pitchFamily="34" charset="-122"/>
                <a:cs typeface="Merriweather" pitchFamily="34" charset="-120"/>
              </a:rPr>
              <a:t>VM Scale Sets serving React 18 SPA statically via Nginx. Auto-scaling ready, zero Node.js runtime on frontend.</a:t>
            </a:r>
            <a:endParaRPr lang="en-US" sz="950" dirty="0"/>
          </a:p>
        </p:txBody>
      </p:sp>
      <p:sp>
        <p:nvSpPr>
          <p:cNvPr id="9" name="Shape 6"/>
          <p:cNvSpPr/>
          <p:nvPr/>
        </p:nvSpPr>
        <p:spPr>
          <a:xfrm>
            <a:off x="539874" y="2743423"/>
            <a:ext cx="4635252" cy="877193"/>
          </a:xfrm>
          <a:prstGeom prst="roundRect">
            <a:avLst>
              <a:gd name="adj" fmla="val 5817"/>
            </a:avLst>
          </a:prstGeom>
          <a:solidFill>
            <a:srgbClr val="003180"/>
          </a:solidFill>
          <a:ln w="4763">
            <a:solidFill>
              <a:srgbClr val="194A99"/>
            </a:solidFill>
            <a:prstDash val="solid"/>
          </a:ln>
        </p:spPr>
        <p:txBody>
          <a:bodyPr/>
          <a:lstStyle/>
          <a:p>
            <a:endParaRPr lang="en-IN"/>
          </a:p>
        </p:txBody>
      </p:sp>
      <p:sp>
        <p:nvSpPr>
          <p:cNvPr id="10" name="Text 7"/>
          <p:cNvSpPr/>
          <p:nvPr/>
        </p:nvSpPr>
        <p:spPr>
          <a:xfrm>
            <a:off x="666080" y="2869629"/>
            <a:ext cx="1518568" cy="189830"/>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Merriweather" pitchFamily="34" charset="0"/>
                <a:ea typeface="Merriweather" pitchFamily="34" charset="-122"/>
                <a:cs typeface="Merriweather" pitchFamily="34" charset="-120"/>
              </a:rPr>
              <a:t>⚙</a:t>
            </a:r>
            <a:r>
              <a:rPr lang="en-US" sz="1150" dirty="0">
                <a:solidFill>
                  <a:srgbClr val="E2E6E9"/>
                </a:solidFill>
                <a:latin typeface="Merriweather" pitchFamily="34" charset="0"/>
                <a:ea typeface="Merriweather" pitchFamily="34" charset="-122"/>
                <a:cs typeface="Merriweather" pitchFamily="34" charset="-120"/>
              </a:rPr>
              <a:t> Application Tier</a:t>
            </a:r>
            <a:endParaRPr lang="en-US" sz="1150" dirty="0"/>
          </a:p>
        </p:txBody>
      </p:sp>
      <p:sp>
        <p:nvSpPr>
          <p:cNvPr id="11" name="Text 8"/>
          <p:cNvSpPr/>
          <p:nvPr/>
        </p:nvSpPr>
        <p:spPr>
          <a:xfrm>
            <a:off x="666080" y="3125019"/>
            <a:ext cx="4382839" cy="369391"/>
          </a:xfrm>
          <a:prstGeom prst="rect">
            <a:avLst/>
          </a:prstGeom>
          <a:noFill/>
          <a:ln/>
        </p:spPr>
        <p:txBody>
          <a:bodyPr wrap="square" lIns="0" tIns="0" rIns="0" bIns="0" rtlCol="0" anchor="t">
            <a:normAutofit/>
          </a:bodyPr>
          <a:lstStyle/>
          <a:p>
            <a:pPr marL="0" indent="0" algn="l">
              <a:lnSpc>
                <a:spcPct val="127000"/>
              </a:lnSpc>
              <a:buNone/>
            </a:pPr>
            <a:r>
              <a:rPr lang="en-US" sz="950" dirty="0">
                <a:solidFill>
                  <a:srgbClr val="E2E6E9"/>
                </a:solidFill>
                <a:latin typeface="Merriweather" pitchFamily="34" charset="0"/>
                <a:ea typeface="Merriweather" pitchFamily="34" charset="-122"/>
                <a:cs typeface="Merriweather" pitchFamily="34" charset="-120"/>
              </a:rPr>
              <a:t>Standalone VM hosting 4 Node.js Express microservices daemonized under PM2 with isolated port bindings (3001–3004).</a:t>
            </a:r>
            <a:endParaRPr lang="en-US" sz="950" dirty="0"/>
          </a:p>
        </p:txBody>
      </p:sp>
      <p:sp>
        <p:nvSpPr>
          <p:cNvPr id="12" name="Shape 9"/>
          <p:cNvSpPr/>
          <p:nvPr/>
        </p:nvSpPr>
        <p:spPr>
          <a:xfrm>
            <a:off x="539874" y="3729930"/>
            <a:ext cx="4635252" cy="877193"/>
          </a:xfrm>
          <a:prstGeom prst="roundRect">
            <a:avLst>
              <a:gd name="adj" fmla="val 5817"/>
            </a:avLst>
          </a:prstGeom>
          <a:solidFill>
            <a:srgbClr val="003180"/>
          </a:solidFill>
          <a:ln w="4763">
            <a:solidFill>
              <a:srgbClr val="194A99"/>
            </a:solidFill>
            <a:prstDash val="solid"/>
          </a:ln>
        </p:spPr>
        <p:txBody>
          <a:bodyPr/>
          <a:lstStyle/>
          <a:p>
            <a:endParaRPr lang="en-IN"/>
          </a:p>
        </p:txBody>
      </p:sp>
      <p:sp>
        <p:nvSpPr>
          <p:cNvPr id="13" name="Text 10"/>
          <p:cNvSpPr/>
          <p:nvPr/>
        </p:nvSpPr>
        <p:spPr>
          <a:xfrm>
            <a:off x="666080" y="3856137"/>
            <a:ext cx="1518568" cy="189830"/>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Merriweather" pitchFamily="34" charset="0"/>
                <a:ea typeface="Merriweather" pitchFamily="34" charset="-122"/>
                <a:cs typeface="Merriweather" pitchFamily="34" charset="-120"/>
              </a:rPr>
              <a:t>🗄</a:t>
            </a:r>
            <a:r>
              <a:rPr lang="en-US" sz="1150" dirty="0">
                <a:solidFill>
                  <a:srgbClr val="E2E6E9"/>
                </a:solidFill>
                <a:latin typeface="Merriweather" pitchFamily="34" charset="0"/>
                <a:ea typeface="Merriweather" pitchFamily="34" charset="-122"/>
                <a:cs typeface="Merriweather" pitchFamily="34" charset="-120"/>
              </a:rPr>
              <a:t> Database Tier</a:t>
            </a:r>
            <a:endParaRPr lang="en-US" sz="1150" dirty="0"/>
          </a:p>
        </p:txBody>
      </p:sp>
      <p:sp>
        <p:nvSpPr>
          <p:cNvPr id="14" name="Text 11"/>
          <p:cNvSpPr/>
          <p:nvPr/>
        </p:nvSpPr>
        <p:spPr>
          <a:xfrm>
            <a:off x="666080" y="4111526"/>
            <a:ext cx="4382839" cy="369391"/>
          </a:xfrm>
          <a:prstGeom prst="rect">
            <a:avLst/>
          </a:prstGeom>
          <a:noFill/>
          <a:ln/>
        </p:spPr>
        <p:txBody>
          <a:bodyPr wrap="square" lIns="0" tIns="0" rIns="0" bIns="0" rtlCol="0" anchor="t">
            <a:normAutofit/>
          </a:bodyPr>
          <a:lstStyle/>
          <a:p>
            <a:pPr marL="0" indent="0" algn="l">
              <a:lnSpc>
                <a:spcPct val="127000"/>
              </a:lnSpc>
              <a:buNone/>
            </a:pPr>
            <a:r>
              <a:rPr lang="en-US" sz="950" dirty="0">
                <a:solidFill>
                  <a:srgbClr val="E2E6E9"/>
                </a:solidFill>
                <a:latin typeface="Merriweather" pitchFamily="34" charset="0"/>
                <a:ea typeface="Merriweather" pitchFamily="34" charset="-122"/>
                <a:cs typeface="Merriweather" pitchFamily="34" charset="-120"/>
              </a:rPr>
              <a:t>Fully managed Azure Database for PostgreSQL Flexible Server inside a private delegated subnet — no public endpoint.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9875" y="457201"/>
            <a:ext cx="3628265" cy="807719"/>
          </a:xfrm>
          <a:prstGeom prst="rect">
            <a:avLst/>
          </a:prstGeom>
          <a:noFill/>
          <a:ln/>
        </p:spPr>
        <p:txBody>
          <a:bodyPr wrap="none" lIns="0" tIns="0" rIns="0" bIns="0" rtlCol="0" anchor="t"/>
          <a:lstStyle/>
          <a:p>
            <a:pPr marL="0" indent="0" algn="l">
              <a:lnSpc>
                <a:spcPct val="104000"/>
              </a:lnSpc>
              <a:buNone/>
            </a:pPr>
            <a:r>
              <a:rPr lang="en-US" sz="2650" dirty="0">
                <a:solidFill>
                  <a:srgbClr val="F5F0F0"/>
                </a:solidFill>
                <a:latin typeface="Merriweather" pitchFamily="34" charset="0"/>
                <a:ea typeface="Merriweather" pitchFamily="34" charset="-122"/>
                <a:cs typeface="Merriweather" pitchFamily="34" charset="-120"/>
              </a:rPr>
              <a:t>Architecture </a:t>
            </a:r>
          </a:p>
          <a:p>
            <a:pPr marL="0" indent="0" algn="l">
              <a:lnSpc>
                <a:spcPct val="104000"/>
              </a:lnSpc>
              <a:buNone/>
            </a:pPr>
            <a:r>
              <a:rPr lang="en-US" sz="2650" dirty="0">
                <a:solidFill>
                  <a:srgbClr val="F5F0F0"/>
                </a:solidFill>
                <a:latin typeface="Merriweather" pitchFamily="34" charset="0"/>
                <a:ea typeface="Merriweather" pitchFamily="34" charset="-122"/>
                <a:cs typeface="Merriweather" pitchFamily="34" charset="-120"/>
              </a:rPr>
              <a:t>&amp; Network Topology</a:t>
            </a:r>
            <a:endParaRPr lang="en-US" sz="2650" dirty="0"/>
          </a:p>
        </p:txBody>
      </p:sp>
      <p:sp>
        <p:nvSpPr>
          <p:cNvPr id="3" name="Text 1"/>
          <p:cNvSpPr/>
          <p:nvPr/>
        </p:nvSpPr>
        <p:spPr>
          <a:xfrm>
            <a:off x="539874" y="1647304"/>
            <a:ext cx="3628265" cy="1383357"/>
          </a:xfrm>
          <a:prstGeom prst="rect">
            <a:avLst/>
          </a:prstGeom>
          <a:noFill/>
          <a:ln/>
        </p:spPr>
        <p:txBody>
          <a:bodyPr wrap="square" lIns="0" tIns="0" rIns="0" bIns="0" rtlCol="0" anchor="t"/>
          <a:lstStyle/>
          <a:p>
            <a:pPr marL="0" indent="0" algn="l">
              <a:lnSpc>
                <a:spcPct val="133000"/>
              </a:lnSpc>
              <a:spcAft>
                <a:spcPts val="1150"/>
              </a:spcAft>
              <a:buNone/>
            </a:pPr>
            <a:r>
              <a:rPr lang="en-US" sz="1050" dirty="0">
                <a:solidFill>
                  <a:srgbClr val="E2E6E9"/>
                </a:solidFill>
                <a:latin typeface="Merriweather" pitchFamily="34" charset="0"/>
                <a:ea typeface="Merriweather" pitchFamily="34" charset="-122"/>
                <a:cs typeface="Merriweather" pitchFamily="34" charset="-120"/>
              </a:rPr>
              <a:t>Traffic flows through a strictly controlled ingress point, is routed by path to the appropriate tier, and never exposes the database to the public internet. All inter-tier communication occurs over private VNet addresses within the 10.0.0.0/16 address space.</a:t>
            </a:r>
            <a:endParaRPr lang="en-US" sz="1050" dirty="0"/>
          </a:p>
        </p:txBody>
      </p:sp>
      <p:sp>
        <p:nvSpPr>
          <p:cNvPr id="4" name="Shape 2"/>
          <p:cNvSpPr/>
          <p:nvPr/>
        </p:nvSpPr>
        <p:spPr>
          <a:xfrm>
            <a:off x="539874" y="3182466"/>
            <a:ext cx="3795906" cy="1762914"/>
          </a:xfrm>
          <a:prstGeom prst="roundRect">
            <a:avLst>
              <a:gd name="adj" fmla="val 5639"/>
            </a:avLst>
          </a:prstGeom>
          <a:solidFill>
            <a:srgbClr val="022349"/>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674787" y="3385393"/>
            <a:ext cx="168697" cy="134913"/>
          </a:xfrm>
          <a:prstGeom prst="rect">
            <a:avLst/>
          </a:prstGeom>
        </p:spPr>
      </p:pic>
      <p:sp>
        <p:nvSpPr>
          <p:cNvPr id="6" name="Text 3"/>
          <p:cNvSpPr/>
          <p:nvPr/>
        </p:nvSpPr>
        <p:spPr>
          <a:xfrm>
            <a:off x="884270" y="3303655"/>
            <a:ext cx="3410724" cy="1411412"/>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FFFFFF"/>
                </a:solidFill>
                <a:latin typeface="Merriweather" pitchFamily="34" charset="0"/>
                <a:ea typeface="Merriweather" pitchFamily="34" charset="-122"/>
                <a:cs typeface="Merriweather" pitchFamily="34" charset="-120"/>
              </a:rPr>
              <a:t>All backend communication between the Application Gateway, VMSS, Microservices VM, and PostgreSQL occurs exclusively over private VNet addresses. No tier is directly accessible from the public internet except the Application Gateway's frontend IP.</a:t>
            </a:r>
            <a:endParaRPr lang="en-US" sz="1050" dirty="0"/>
          </a:p>
        </p:txBody>
      </p:sp>
      <p:pic>
        <p:nvPicPr>
          <p:cNvPr id="7" name="Picture 6">
            <a:extLst>
              <a:ext uri="{FF2B5EF4-FFF2-40B4-BE49-F238E27FC236}">
                <a16:creationId xmlns:a16="http://schemas.microsoft.com/office/drawing/2014/main" id="{A94765E1-B6AD-FE8A-CF67-00E9A62FE8AF}"/>
              </a:ext>
            </a:extLst>
          </p:cNvPr>
          <p:cNvPicPr>
            <a:picLocks noChangeAspect="1"/>
          </p:cNvPicPr>
          <p:nvPr/>
        </p:nvPicPr>
        <p:blipFill>
          <a:blip r:embed="rId4"/>
          <a:stretch>
            <a:fillRect/>
          </a:stretch>
        </p:blipFill>
        <p:spPr>
          <a:xfrm>
            <a:off x="4572000" y="291015"/>
            <a:ext cx="4219347" cy="46018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1465" y="403399"/>
            <a:ext cx="6790655" cy="415230"/>
          </a:xfrm>
          <a:prstGeom prst="rect">
            <a:avLst/>
          </a:prstGeom>
          <a:noFill/>
          <a:ln/>
        </p:spPr>
        <p:txBody>
          <a:bodyPr wrap="none" lIns="0" tIns="0" rIns="0" bIns="0" rtlCol="0" anchor="t"/>
          <a:lstStyle/>
          <a:p>
            <a:pPr marL="0" indent="0" algn="l">
              <a:lnSpc>
                <a:spcPct val="104000"/>
              </a:lnSpc>
              <a:buNone/>
            </a:pPr>
            <a:r>
              <a:rPr lang="en-US" sz="2600" dirty="0">
                <a:solidFill>
                  <a:srgbClr val="F5F0F0"/>
                </a:solidFill>
                <a:latin typeface="Merriweather" pitchFamily="34" charset="0"/>
                <a:ea typeface="Merriweather" pitchFamily="34" charset="-122"/>
                <a:cs typeface="Merriweather" pitchFamily="34" charset="-120"/>
              </a:rPr>
              <a:t>High-Availability Architectural Features</a:t>
            </a:r>
            <a:endParaRPr lang="en-US" sz="2600" dirty="0"/>
          </a:p>
        </p:txBody>
      </p:sp>
      <p:sp>
        <p:nvSpPr>
          <p:cNvPr id="3" name="Text 1"/>
          <p:cNvSpPr/>
          <p:nvPr/>
        </p:nvSpPr>
        <p:spPr>
          <a:xfrm>
            <a:off x="531465" y="1080195"/>
            <a:ext cx="8081070" cy="421928"/>
          </a:xfrm>
          <a:prstGeom prst="rect">
            <a:avLst/>
          </a:prstGeom>
          <a:noFill/>
          <a:ln/>
        </p:spPr>
        <p:txBody>
          <a:bodyPr wrap="square" lIns="0" tIns="0" rIns="0" bIns="0" rtlCol="0" anchor="t">
            <a:normAutofit/>
          </a:bodyPr>
          <a:lstStyle/>
          <a:p>
            <a:pPr marL="0" indent="0" algn="l">
              <a:lnSpc>
                <a:spcPct val="132000"/>
              </a:lnSpc>
              <a:buNone/>
            </a:pPr>
            <a:r>
              <a:rPr lang="en-US" sz="1000" dirty="0">
                <a:solidFill>
                  <a:srgbClr val="E2E6E9"/>
                </a:solidFill>
                <a:latin typeface="Merriweather" pitchFamily="34" charset="0"/>
                <a:ea typeface="Merriweather" pitchFamily="34" charset="-122"/>
                <a:cs typeface="Merriweather" pitchFamily="34" charset="-120"/>
              </a:rPr>
              <a:t>Production readiness is engineered into every layer — from VM SKU selection to Nginx warm-up tricks that eliminate cold-start failures.</a:t>
            </a:r>
            <a:endParaRPr lang="en-US" sz="10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1465" y="1649239"/>
            <a:ext cx="332184" cy="332184"/>
          </a:xfrm>
          <a:prstGeom prst="rect">
            <a:avLst/>
          </a:prstGeom>
        </p:spPr>
      </p:pic>
      <p:sp>
        <p:nvSpPr>
          <p:cNvPr id="5" name="Text 2"/>
          <p:cNvSpPr/>
          <p:nvPr/>
        </p:nvSpPr>
        <p:spPr>
          <a:xfrm>
            <a:off x="531465" y="2144911"/>
            <a:ext cx="2031578" cy="207615"/>
          </a:xfrm>
          <a:prstGeom prst="rect">
            <a:avLst/>
          </a:prstGeom>
          <a:noFill/>
          <a:ln/>
        </p:spPr>
        <p:txBody>
          <a:bodyPr wrap="none" lIns="0" tIns="0" rIns="0" bIns="0" rtlCol="0" anchor="t"/>
          <a:lstStyle/>
          <a:p>
            <a:pPr marL="0" indent="0" algn="l">
              <a:lnSpc>
                <a:spcPct val="104000"/>
              </a:lnSpc>
              <a:buNone/>
            </a:pPr>
            <a:r>
              <a:rPr lang="en-US" sz="1300" dirty="0">
                <a:solidFill>
                  <a:srgbClr val="E2E6E9"/>
                </a:solidFill>
                <a:latin typeface="Merriweather" pitchFamily="34" charset="0"/>
                <a:ea typeface="Merriweather" pitchFamily="34" charset="-122"/>
                <a:cs typeface="Merriweather" pitchFamily="34" charset="-120"/>
              </a:rPr>
              <a:t>100% Non-Containerized</a:t>
            </a:r>
            <a:endParaRPr lang="en-US" sz="1300" dirty="0"/>
          </a:p>
        </p:txBody>
      </p:sp>
      <p:sp>
        <p:nvSpPr>
          <p:cNvPr id="6" name="Text 3"/>
          <p:cNvSpPr/>
          <p:nvPr/>
        </p:nvSpPr>
        <p:spPr>
          <a:xfrm>
            <a:off x="531465" y="2430959"/>
            <a:ext cx="3958754" cy="632892"/>
          </a:xfrm>
          <a:prstGeom prst="rect">
            <a:avLst/>
          </a:prstGeom>
          <a:noFill/>
          <a:ln/>
        </p:spPr>
        <p:txBody>
          <a:bodyPr wrap="square" lIns="0" tIns="0" rIns="0" bIns="0" rtlCol="0" anchor="t">
            <a:normAutofit/>
          </a:bodyPr>
          <a:lstStyle/>
          <a:p>
            <a:pPr marL="0" indent="0" algn="l">
              <a:lnSpc>
                <a:spcPct val="132000"/>
              </a:lnSpc>
              <a:buNone/>
            </a:pPr>
            <a:r>
              <a:rPr lang="en-US" sz="1000" dirty="0">
                <a:solidFill>
                  <a:srgbClr val="E2E6E9"/>
                </a:solidFill>
                <a:latin typeface="Merriweather" pitchFamily="34" charset="0"/>
                <a:ea typeface="Merriweather" pitchFamily="34" charset="-122"/>
                <a:cs typeface="Merriweather" pitchFamily="34" charset="-120"/>
              </a:rPr>
              <a:t>Operates purely on native Linux runtimes, systemd, and PM2. No Docker, no Kubernetes — reducing attack surface and operational complexity.</a:t>
            </a:r>
            <a:endParaRPr lang="en-US" sz="10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3707" y="1649239"/>
            <a:ext cx="332184" cy="332184"/>
          </a:xfrm>
          <a:prstGeom prst="rect">
            <a:avLst/>
          </a:prstGeom>
        </p:spPr>
      </p:pic>
      <p:sp>
        <p:nvSpPr>
          <p:cNvPr id="8" name="Text 4"/>
          <p:cNvSpPr/>
          <p:nvPr/>
        </p:nvSpPr>
        <p:spPr>
          <a:xfrm>
            <a:off x="4653707" y="2144911"/>
            <a:ext cx="1958727" cy="207615"/>
          </a:xfrm>
          <a:prstGeom prst="rect">
            <a:avLst/>
          </a:prstGeom>
          <a:noFill/>
          <a:ln/>
        </p:spPr>
        <p:txBody>
          <a:bodyPr wrap="none" lIns="0" tIns="0" rIns="0" bIns="0" rtlCol="0" anchor="t"/>
          <a:lstStyle/>
          <a:p>
            <a:pPr marL="0" indent="0" algn="l">
              <a:lnSpc>
                <a:spcPct val="104000"/>
              </a:lnSpc>
              <a:buNone/>
            </a:pPr>
            <a:r>
              <a:rPr lang="en-US" sz="1300" dirty="0">
                <a:solidFill>
                  <a:srgbClr val="E2E6E9"/>
                </a:solidFill>
                <a:latin typeface="Merriweather" pitchFamily="34" charset="0"/>
                <a:ea typeface="Merriweather" pitchFamily="34" charset="-122"/>
                <a:cs typeface="Merriweather" pitchFamily="34" charset="-120"/>
              </a:rPr>
              <a:t>Zero-Downtime Probing</a:t>
            </a:r>
            <a:endParaRPr lang="en-US" sz="1300" dirty="0"/>
          </a:p>
        </p:txBody>
      </p:sp>
      <p:sp>
        <p:nvSpPr>
          <p:cNvPr id="9" name="Text 5"/>
          <p:cNvSpPr/>
          <p:nvPr/>
        </p:nvSpPr>
        <p:spPr>
          <a:xfrm>
            <a:off x="4653707" y="2430959"/>
            <a:ext cx="3958828" cy="632892"/>
          </a:xfrm>
          <a:prstGeom prst="rect">
            <a:avLst/>
          </a:prstGeom>
          <a:noFill/>
          <a:ln/>
        </p:spPr>
        <p:txBody>
          <a:bodyPr wrap="square" lIns="0" tIns="0" rIns="0" bIns="0" rtlCol="0" anchor="t">
            <a:normAutofit/>
          </a:bodyPr>
          <a:lstStyle/>
          <a:p>
            <a:pPr marL="0" indent="0" algn="l">
              <a:lnSpc>
                <a:spcPct val="132000"/>
              </a:lnSpc>
              <a:buNone/>
            </a:pPr>
            <a:r>
              <a:rPr lang="en-US" sz="1000" dirty="0">
                <a:solidFill>
                  <a:srgbClr val="E2E6E9"/>
                </a:solidFill>
                <a:latin typeface="Merriweather" pitchFamily="34" charset="0"/>
                <a:ea typeface="Merriweather" pitchFamily="34" charset="-122"/>
                <a:cs typeface="Merriweather" pitchFamily="34" charset="-120"/>
              </a:rPr>
              <a:t>Instant Nginx loading screen during backend warm-up prevents 502 Bad Gateway failures, ensuring users never see raw errors.</a:t>
            </a:r>
            <a:endParaRPr lang="en-US" sz="10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1465" y="3325416"/>
            <a:ext cx="332184" cy="332184"/>
          </a:xfrm>
          <a:prstGeom prst="rect">
            <a:avLst/>
          </a:prstGeom>
        </p:spPr>
      </p:pic>
      <p:sp>
        <p:nvSpPr>
          <p:cNvPr id="11" name="Text 6"/>
          <p:cNvSpPr/>
          <p:nvPr/>
        </p:nvSpPr>
        <p:spPr>
          <a:xfrm>
            <a:off x="531465" y="3821088"/>
            <a:ext cx="1747837" cy="207615"/>
          </a:xfrm>
          <a:prstGeom prst="rect">
            <a:avLst/>
          </a:prstGeom>
          <a:noFill/>
          <a:ln/>
        </p:spPr>
        <p:txBody>
          <a:bodyPr wrap="none" lIns="0" tIns="0" rIns="0" bIns="0" rtlCol="0" anchor="t"/>
          <a:lstStyle/>
          <a:p>
            <a:pPr marL="0" indent="0" algn="l">
              <a:lnSpc>
                <a:spcPct val="104000"/>
              </a:lnSpc>
              <a:buNone/>
            </a:pPr>
            <a:r>
              <a:rPr lang="en-US" sz="1300" dirty="0">
                <a:solidFill>
                  <a:srgbClr val="E2E6E9"/>
                </a:solidFill>
                <a:latin typeface="Merriweather" pitchFamily="34" charset="0"/>
                <a:ea typeface="Merriweather" pitchFamily="34" charset="-122"/>
                <a:cs typeface="Merriweather" pitchFamily="34" charset="-120"/>
              </a:rPr>
              <a:t>Core Quota Compliant</a:t>
            </a:r>
            <a:endParaRPr lang="en-US" sz="1300" dirty="0"/>
          </a:p>
        </p:txBody>
      </p:sp>
      <p:sp>
        <p:nvSpPr>
          <p:cNvPr id="12" name="Text 7"/>
          <p:cNvSpPr/>
          <p:nvPr/>
        </p:nvSpPr>
        <p:spPr>
          <a:xfrm>
            <a:off x="531465" y="4107135"/>
            <a:ext cx="3958754" cy="632892"/>
          </a:xfrm>
          <a:prstGeom prst="rect">
            <a:avLst/>
          </a:prstGeom>
          <a:noFill/>
          <a:ln/>
        </p:spPr>
        <p:txBody>
          <a:bodyPr wrap="square" lIns="0" tIns="0" rIns="0" bIns="0" rtlCol="0" anchor="t">
            <a:normAutofit/>
          </a:bodyPr>
          <a:lstStyle/>
          <a:p>
            <a:pPr marL="0" indent="0" algn="l">
              <a:lnSpc>
                <a:spcPct val="132000"/>
              </a:lnSpc>
              <a:buNone/>
            </a:pPr>
            <a:r>
              <a:rPr lang="en-US" sz="1000" dirty="0">
                <a:solidFill>
                  <a:srgbClr val="E2E6E9"/>
                </a:solidFill>
                <a:latin typeface="Merriweather" pitchFamily="34" charset="0"/>
                <a:ea typeface="Merriweather" pitchFamily="34" charset="-122"/>
                <a:cs typeface="Merriweather" pitchFamily="34" charset="-120"/>
              </a:rPr>
              <a:t>Uses Standard_B2as_v2 and Standard_B1ms VM sizes to fit within strict 4-core subscription limits without sacrificing performance.</a:t>
            </a:r>
            <a:endParaRPr lang="en-US" sz="10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3707" y="3325416"/>
            <a:ext cx="332184" cy="332184"/>
          </a:xfrm>
          <a:prstGeom prst="rect">
            <a:avLst/>
          </a:prstGeom>
        </p:spPr>
      </p:pic>
      <p:sp>
        <p:nvSpPr>
          <p:cNvPr id="14" name="Text 8"/>
          <p:cNvSpPr/>
          <p:nvPr/>
        </p:nvSpPr>
        <p:spPr>
          <a:xfrm>
            <a:off x="4653707" y="3821088"/>
            <a:ext cx="1849859" cy="207615"/>
          </a:xfrm>
          <a:prstGeom prst="rect">
            <a:avLst/>
          </a:prstGeom>
          <a:noFill/>
          <a:ln/>
        </p:spPr>
        <p:txBody>
          <a:bodyPr wrap="none" lIns="0" tIns="0" rIns="0" bIns="0" rtlCol="0" anchor="t"/>
          <a:lstStyle/>
          <a:p>
            <a:pPr marL="0" indent="0" algn="l">
              <a:lnSpc>
                <a:spcPct val="104000"/>
              </a:lnSpc>
              <a:buNone/>
            </a:pPr>
            <a:r>
              <a:rPr lang="en-US" sz="1300" dirty="0">
                <a:solidFill>
                  <a:srgbClr val="E2E6E9"/>
                </a:solidFill>
                <a:latin typeface="Merriweather" pitchFamily="34" charset="0"/>
                <a:ea typeface="Merriweather" pitchFamily="34" charset="-122"/>
                <a:cs typeface="Merriweather" pitchFamily="34" charset="-120"/>
              </a:rPr>
              <a:t>Secure Source Fetching</a:t>
            </a:r>
            <a:endParaRPr lang="en-US" sz="1300" dirty="0"/>
          </a:p>
        </p:txBody>
      </p:sp>
      <p:sp>
        <p:nvSpPr>
          <p:cNvPr id="15" name="Text 9"/>
          <p:cNvSpPr/>
          <p:nvPr/>
        </p:nvSpPr>
        <p:spPr>
          <a:xfrm>
            <a:off x="4653707" y="4107135"/>
            <a:ext cx="3958828" cy="632892"/>
          </a:xfrm>
          <a:prstGeom prst="rect">
            <a:avLst/>
          </a:prstGeom>
          <a:noFill/>
          <a:ln/>
        </p:spPr>
        <p:txBody>
          <a:bodyPr wrap="square" lIns="0" tIns="0" rIns="0" bIns="0" rtlCol="0" anchor="t">
            <a:normAutofit/>
          </a:bodyPr>
          <a:lstStyle/>
          <a:p>
            <a:pPr marL="0" indent="0" algn="l">
              <a:lnSpc>
                <a:spcPct val="132000"/>
              </a:lnSpc>
              <a:buNone/>
            </a:pPr>
            <a:r>
              <a:rPr lang="en-US" sz="1000" dirty="0">
                <a:solidFill>
                  <a:srgbClr val="E2E6E9"/>
                </a:solidFill>
                <a:latin typeface="Merriweather" pitchFamily="34" charset="0"/>
                <a:ea typeface="Merriweather" pitchFamily="34" charset="-122"/>
                <a:cs typeface="Merriweather" pitchFamily="34" charset="-120"/>
              </a:rPr>
              <a:t>Code is fetched directly from verified source repositories during cloud-init execution — no manual artifact uploads, no exposed credentials.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9874" y="500286"/>
            <a:ext cx="3794447" cy="379586"/>
          </a:xfrm>
          <a:prstGeom prst="rect">
            <a:avLst/>
          </a:prstGeom>
          <a:noFill/>
          <a:ln/>
        </p:spPr>
        <p:txBody>
          <a:bodyPr wrap="none" lIns="0" tIns="0" rIns="0" bIns="0" rtlCol="0" anchor="t"/>
          <a:lstStyle/>
          <a:p>
            <a:pPr marL="0" indent="0" algn="l">
              <a:lnSpc>
                <a:spcPct val="104000"/>
              </a:lnSpc>
              <a:buNone/>
            </a:pPr>
            <a:r>
              <a:rPr lang="en-US" sz="2350" dirty="0">
                <a:solidFill>
                  <a:srgbClr val="F5F0F0"/>
                </a:solidFill>
                <a:latin typeface="Merriweather" pitchFamily="34" charset="0"/>
                <a:ea typeface="Merriweather" pitchFamily="34" charset="-122"/>
                <a:cs typeface="Merriweather" pitchFamily="34" charset="-120"/>
              </a:rPr>
              <a:t>Core Technology Stack</a:t>
            </a:r>
            <a:endParaRPr lang="en-US" sz="2350" dirty="0"/>
          </a:p>
        </p:txBody>
      </p:sp>
      <p:sp>
        <p:nvSpPr>
          <p:cNvPr id="3" name="Text 1"/>
          <p:cNvSpPr/>
          <p:nvPr/>
        </p:nvSpPr>
        <p:spPr>
          <a:xfrm>
            <a:off x="539874" y="1098500"/>
            <a:ext cx="8064252" cy="369391"/>
          </a:xfrm>
          <a:prstGeom prst="rect">
            <a:avLst/>
          </a:prstGeom>
          <a:noFill/>
          <a:ln/>
        </p:spPr>
        <p:txBody>
          <a:bodyPr wrap="square" lIns="0" tIns="0" rIns="0" bIns="0" rtlCol="0" anchor="t">
            <a:normAutofit/>
          </a:bodyPr>
          <a:lstStyle/>
          <a:p>
            <a:pPr marL="0" indent="0" algn="l">
              <a:lnSpc>
                <a:spcPct val="127000"/>
              </a:lnSpc>
              <a:buNone/>
            </a:pPr>
            <a:r>
              <a:rPr lang="en-US" sz="950" dirty="0">
                <a:solidFill>
                  <a:srgbClr val="E2E6E9"/>
                </a:solidFill>
                <a:latin typeface="Merriweather" pitchFamily="34" charset="0"/>
                <a:ea typeface="Merriweather" pitchFamily="34" charset="-122"/>
                <a:cs typeface="Merriweather" pitchFamily="34" charset="-120"/>
              </a:rPr>
              <a:t>Each technology is mapped to its operational layer, forming a clean dependency chain from infrastructure provisioning down to data persistence.</a:t>
            </a:r>
            <a:endParaRPr lang="en-US" sz="950" dirty="0"/>
          </a:p>
        </p:txBody>
      </p:sp>
      <p:pic>
        <p:nvPicPr>
          <p:cNvPr id="4" name="Image 0" descr="preencoded.png"/>
          <p:cNvPicPr>
            <a:picLocks noChangeAspect="1"/>
          </p:cNvPicPr>
          <p:nvPr/>
        </p:nvPicPr>
        <p:blipFill>
          <a:blip r:embed="rId3"/>
          <a:stretch>
            <a:fillRect/>
          </a:stretch>
        </p:blipFill>
        <p:spPr>
          <a:xfrm>
            <a:off x="539874" y="1590824"/>
            <a:ext cx="2688059" cy="485924"/>
          </a:xfrm>
          <a:prstGeom prst="rect">
            <a:avLst/>
          </a:prstGeom>
        </p:spPr>
      </p:pic>
      <p:sp>
        <p:nvSpPr>
          <p:cNvPr id="5" name="Text 2"/>
          <p:cNvSpPr/>
          <p:nvPr/>
        </p:nvSpPr>
        <p:spPr>
          <a:xfrm>
            <a:off x="661318" y="2186062"/>
            <a:ext cx="1623789" cy="189830"/>
          </a:xfrm>
          <a:prstGeom prst="rect">
            <a:avLst/>
          </a:prstGeom>
          <a:noFill/>
          <a:ln/>
        </p:spPr>
        <p:txBody>
          <a:bodyPr wrap="none" lIns="0" tIns="0" rIns="0" bIns="0" rtlCol="0" anchor="t"/>
          <a:lstStyle/>
          <a:p>
            <a:pPr marL="0" indent="0" algn="l">
              <a:lnSpc>
                <a:spcPct val="104000"/>
              </a:lnSpc>
              <a:buNone/>
            </a:pPr>
            <a:r>
              <a:rPr lang="en-US" sz="1150" dirty="0">
                <a:solidFill>
                  <a:srgbClr val="E2E6E9"/>
                </a:solidFill>
                <a:latin typeface="Merriweather" pitchFamily="34" charset="0"/>
                <a:ea typeface="Merriweather" pitchFamily="34" charset="-122"/>
                <a:cs typeface="Merriweather" pitchFamily="34" charset="-120"/>
              </a:rPr>
              <a:t>Infrastructure as Code</a:t>
            </a:r>
            <a:endParaRPr lang="en-US" sz="1150" dirty="0"/>
          </a:p>
        </p:txBody>
      </p:sp>
      <p:sp>
        <p:nvSpPr>
          <p:cNvPr id="6" name="Text 3"/>
          <p:cNvSpPr/>
          <p:nvPr/>
        </p:nvSpPr>
        <p:spPr>
          <a:xfrm>
            <a:off x="661318" y="2441451"/>
            <a:ext cx="2445172" cy="554087"/>
          </a:xfrm>
          <a:prstGeom prst="rect">
            <a:avLst/>
          </a:prstGeom>
          <a:noFill/>
          <a:ln/>
        </p:spPr>
        <p:txBody>
          <a:bodyPr wrap="square" lIns="0" tIns="0" rIns="0" bIns="0" rtlCol="0" anchor="t">
            <a:normAutofit/>
          </a:bodyPr>
          <a:lstStyle/>
          <a:p>
            <a:pPr marL="0" indent="0" algn="l">
              <a:lnSpc>
                <a:spcPct val="127000"/>
              </a:lnSpc>
              <a:buNone/>
            </a:pPr>
            <a:r>
              <a:rPr lang="en-US" sz="950" dirty="0">
                <a:solidFill>
                  <a:srgbClr val="E2E6E9"/>
                </a:solidFill>
                <a:latin typeface="Merriweather" pitchFamily="34" charset="0"/>
                <a:ea typeface="Merriweather" pitchFamily="34" charset="-122"/>
                <a:cs typeface="Merriweather" pitchFamily="34" charset="-120"/>
              </a:rPr>
              <a:t>Terraform ≥ 1.3.0 with azurerm provider — repeatable, version-controlled environment provisioning.</a:t>
            </a:r>
            <a:endParaRPr lang="en-US" sz="950" dirty="0"/>
          </a:p>
        </p:txBody>
      </p:sp>
      <p:pic>
        <p:nvPicPr>
          <p:cNvPr id="7" name="Image 1" descr="preencoded.png"/>
          <p:cNvPicPr>
            <a:picLocks noChangeAspect="1"/>
          </p:cNvPicPr>
          <p:nvPr/>
        </p:nvPicPr>
        <p:blipFill>
          <a:blip r:embed="rId4"/>
          <a:stretch>
            <a:fillRect/>
          </a:stretch>
        </p:blipFill>
        <p:spPr>
          <a:xfrm>
            <a:off x="3227933" y="1590824"/>
            <a:ext cx="2688059" cy="485924"/>
          </a:xfrm>
          <a:prstGeom prst="rect">
            <a:avLst/>
          </a:prstGeom>
        </p:spPr>
      </p:pic>
      <p:sp>
        <p:nvSpPr>
          <p:cNvPr id="8" name="Text 4"/>
          <p:cNvSpPr/>
          <p:nvPr/>
        </p:nvSpPr>
        <p:spPr>
          <a:xfrm>
            <a:off x="3349377" y="2186062"/>
            <a:ext cx="1518568" cy="189830"/>
          </a:xfrm>
          <a:prstGeom prst="rect">
            <a:avLst/>
          </a:prstGeom>
          <a:noFill/>
          <a:ln/>
        </p:spPr>
        <p:txBody>
          <a:bodyPr wrap="none" lIns="0" tIns="0" rIns="0" bIns="0" rtlCol="0" anchor="t"/>
          <a:lstStyle/>
          <a:p>
            <a:pPr marL="0" indent="0" algn="l">
              <a:lnSpc>
                <a:spcPct val="104000"/>
              </a:lnSpc>
              <a:buNone/>
            </a:pPr>
            <a:r>
              <a:rPr lang="en-US" sz="1150" dirty="0">
                <a:solidFill>
                  <a:srgbClr val="E2E6E9"/>
                </a:solidFill>
                <a:latin typeface="Merriweather" pitchFamily="34" charset="0"/>
                <a:ea typeface="Merriweather" pitchFamily="34" charset="-122"/>
                <a:cs typeface="Merriweather" pitchFamily="34" charset="-120"/>
              </a:rPr>
              <a:t>Cloud Platform</a:t>
            </a:r>
            <a:endParaRPr lang="en-US" sz="1150" dirty="0"/>
          </a:p>
        </p:txBody>
      </p:sp>
      <p:sp>
        <p:nvSpPr>
          <p:cNvPr id="9" name="Text 5"/>
          <p:cNvSpPr/>
          <p:nvPr/>
        </p:nvSpPr>
        <p:spPr>
          <a:xfrm>
            <a:off x="3349377" y="2441451"/>
            <a:ext cx="2445172" cy="554087"/>
          </a:xfrm>
          <a:prstGeom prst="rect">
            <a:avLst/>
          </a:prstGeom>
          <a:noFill/>
          <a:ln/>
        </p:spPr>
        <p:txBody>
          <a:bodyPr wrap="square" lIns="0" tIns="0" rIns="0" bIns="0" rtlCol="0" anchor="t">
            <a:normAutofit/>
          </a:bodyPr>
          <a:lstStyle/>
          <a:p>
            <a:pPr marL="0" indent="0" algn="l">
              <a:lnSpc>
                <a:spcPct val="127000"/>
              </a:lnSpc>
              <a:buNone/>
            </a:pPr>
            <a:r>
              <a:rPr lang="en-US" sz="950" dirty="0">
                <a:solidFill>
                  <a:srgbClr val="E2E6E9"/>
                </a:solidFill>
                <a:latin typeface="Merriweather" pitchFamily="34" charset="0"/>
                <a:ea typeface="Merriweather" pitchFamily="34" charset="-122"/>
                <a:cs typeface="Merriweather" pitchFamily="34" charset="-120"/>
              </a:rPr>
              <a:t>Microsoft Azure — VNet, VMSS, Application Gateway, PostgreSQL Flexible Server, Bastion.</a:t>
            </a:r>
            <a:endParaRPr lang="en-US" sz="950" dirty="0"/>
          </a:p>
        </p:txBody>
      </p:sp>
      <p:pic>
        <p:nvPicPr>
          <p:cNvPr id="10" name="Image 2" descr="preencoded.png"/>
          <p:cNvPicPr>
            <a:picLocks noChangeAspect="1"/>
          </p:cNvPicPr>
          <p:nvPr/>
        </p:nvPicPr>
        <p:blipFill>
          <a:blip r:embed="rId5"/>
          <a:stretch>
            <a:fillRect/>
          </a:stretch>
        </p:blipFill>
        <p:spPr>
          <a:xfrm>
            <a:off x="5915992" y="1590824"/>
            <a:ext cx="2688134" cy="485924"/>
          </a:xfrm>
          <a:prstGeom prst="rect">
            <a:avLst/>
          </a:prstGeom>
        </p:spPr>
      </p:pic>
      <p:sp>
        <p:nvSpPr>
          <p:cNvPr id="11" name="Text 6"/>
          <p:cNvSpPr/>
          <p:nvPr/>
        </p:nvSpPr>
        <p:spPr>
          <a:xfrm>
            <a:off x="6037436" y="2186062"/>
            <a:ext cx="1518568" cy="189830"/>
          </a:xfrm>
          <a:prstGeom prst="rect">
            <a:avLst/>
          </a:prstGeom>
          <a:noFill/>
          <a:ln/>
        </p:spPr>
        <p:txBody>
          <a:bodyPr wrap="none" lIns="0" tIns="0" rIns="0" bIns="0" rtlCol="0" anchor="t"/>
          <a:lstStyle/>
          <a:p>
            <a:pPr marL="0" indent="0" algn="l">
              <a:lnSpc>
                <a:spcPct val="104000"/>
              </a:lnSpc>
              <a:buNone/>
            </a:pPr>
            <a:r>
              <a:rPr lang="en-US" sz="1150" dirty="0">
                <a:solidFill>
                  <a:srgbClr val="E2E6E9"/>
                </a:solidFill>
                <a:latin typeface="Merriweather" pitchFamily="34" charset="0"/>
                <a:ea typeface="Merriweather" pitchFamily="34" charset="-122"/>
                <a:cs typeface="Merriweather" pitchFamily="34" charset="-120"/>
              </a:rPr>
              <a:t>Reverse Proxy</a:t>
            </a:r>
            <a:endParaRPr lang="en-US" sz="1150" dirty="0"/>
          </a:p>
        </p:txBody>
      </p:sp>
      <p:sp>
        <p:nvSpPr>
          <p:cNvPr id="12" name="Text 7"/>
          <p:cNvSpPr/>
          <p:nvPr/>
        </p:nvSpPr>
        <p:spPr>
          <a:xfrm>
            <a:off x="6037436" y="2441451"/>
            <a:ext cx="2445246" cy="369391"/>
          </a:xfrm>
          <a:prstGeom prst="rect">
            <a:avLst/>
          </a:prstGeom>
          <a:noFill/>
          <a:ln/>
        </p:spPr>
        <p:txBody>
          <a:bodyPr wrap="square" lIns="0" tIns="0" rIns="0" bIns="0" rtlCol="0" anchor="t">
            <a:normAutofit/>
          </a:bodyPr>
          <a:lstStyle/>
          <a:p>
            <a:pPr marL="0" indent="0" algn="l">
              <a:lnSpc>
                <a:spcPct val="127000"/>
              </a:lnSpc>
              <a:buNone/>
            </a:pPr>
            <a:r>
              <a:rPr lang="en-US" sz="950" dirty="0">
                <a:solidFill>
                  <a:srgbClr val="E2E6E9"/>
                </a:solidFill>
                <a:latin typeface="Merriweather" pitchFamily="34" charset="0"/>
                <a:ea typeface="Merriweather" pitchFamily="34" charset="-122"/>
                <a:cs typeface="Merriweather" pitchFamily="34" charset="-120"/>
              </a:rPr>
              <a:t>Nginx — static file serving, reverse proxy, and health-check warm-up layer.</a:t>
            </a:r>
            <a:endParaRPr lang="en-US" sz="950" dirty="0"/>
          </a:p>
        </p:txBody>
      </p:sp>
      <p:pic>
        <p:nvPicPr>
          <p:cNvPr id="13" name="Image 3" descr="preencoded.png"/>
          <p:cNvPicPr>
            <a:picLocks noChangeAspect="1"/>
          </p:cNvPicPr>
          <p:nvPr/>
        </p:nvPicPr>
        <p:blipFill>
          <a:blip r:embed="rId6"/>
          <a:stretch>
            <a:fillRect/>
          </a:stretch>
        </p:blipFill>
        <p:spPr>
          <a:xfrm>
            <a:off x="539874" y="3116982"/>
            <a:ext cx="2688059" cy="485924"/>
          </a:xfrm>
          <a:prstGeom prst="rect">
            <a:avLst/>
          </a:prstGeom>
        </p:spPr>
      </p:pic>
      <p:sp>
        <p:nvSpPr>
          <p:cNvPr id="14" name="Text 8"/>
          <p:cNvSpPr/>
          <p:nvPr/>
        </p:nvSpPr>
        <p:spPr>
          <a:xfrm>
            <a:off x="661318" y="3712220"/>
            <a:ext cx="1518568" cy="189830"/>
          </a:xfrm>
          <a:prstGeom prst="rect">
            <a:avLst/>
          </a:prstGeom>
          <a:noFill/>
          <a:ln/>
        </p:spPr>
        <p:txBody>
          <a:bodyPr wrap="none" lIns="0" tIns="0" rIns="0" bIns="0" rtlCol="0" anchor="t"/>
          <a:lstStyle/>
          <a:p>
            <a:pPr marL="0" indent="0" algn="l">
              <a:lnSpc>
                <a:spcPct val="104000"/>
              </a:lnSpc>
              <a:buNone/>
            </a:pPr>
            <a:r>
              <a:rPr lang="en-US" sz="1150" dirty="0">
                <a:solidFill>
                  <a:srgbClr val="E2E6E9"/>
                </a:solidFill>
                <a:latin typeface="Merriweather" pitchFamily="34" charset="0"/>
                <a:ea typeface="Merriweather" pitchFamily="34" charset="-122"/>
                <a:cs typeface="Merriweather" pitchFamily="34" charset="-120"/>
              </a:rPr>
              <a:t>Runtime &amp; Services</a:t>
            </a:r>
            <a:endParaRPr lang="en-US" sz="1150" dirty="0"/>
          </a:p>
        </p:txBody>
      </p:sp>
      <p:sp>
        <p:nvSpPr>
          <p:cNvPr id="15" name="Text 9"/>
          <p:cNvSpPr/>
          <p:nvPr/>
        </p:nvSpPr>
        <p:spPr>
          <a:xfrm>
            <a:off x="661318" y="3967609"/>
            <a:ext cx="2445172" cy="554087"/>
          </a:xfrm>
          <a:prstGeom prst="rect">
            <a:avLst/>
          </a:prstGeom>
          <a:noFill/>
          <a:ln/>
        </p:spPr>
        <p:txBody>
          <a:bodyPr wrap="square" lIns="0" tIns="0" rIns="0" bIns="0" rtlCol="0" anchor="t">
            <a:normAutofit/>
          </a:bodyPr>
          <a:lstStyle/>
          <a:p>
            <a:pPr marL="0" indent="0" algn="l">
              <a:lnSpc>
                <a:spcPct val="127000"/>
              </a:lnSpc>
              <a:buNone/>
            </a:pPr>
            <a:r>
              <a:rPr lang="en-US" sz="950" dirty="0">
                <a:solidFill>
                  <a:srgbClr val="E2E6E9"/>
                </a:solidFill>
                <a:latin typeface="Merriweather" pitchFamily="34" charset="0"/>
                <a:ea typeface="Merriweather" pitchFamily="34" charset="-122"/>
                <a:cs typeface="Merriweather" pitchFamily="34" charset="-120"/>
              </a:rPr>
              <a:t>Node.js 20.x, Express, PM2 — microservices process management and API routing.</a:t>
            </a:r>
            <a:endParaRPr lang="en-US" sz="950" dirty="0"/>
          </a:p>
        </p:txBody>
      </p:sp>
      <p:pic>
        <p:nvPicPr>
          <p:cNvPr id="16" name="Image 4" descr="preencoded.png"/>
          <p:cNvPicPr>
            <a:picLocks noChangeAspect="1"/>
          </p:cNvPicPr>
          <p:nvPr/>
        </p:nvPicPr>
        <p:blipFill>
          <a:blip r:embed="rId7"/>
          <a:stretch>
            <a:fillRect/>
          </a:stretch>
        </p:blipFill>
        <p:spPr>
          <a:xfrm>
            <a:off x="3227933" y="3116982"/>
            <a:ext cx="2688059" cy="485924"/>
          </a:xfrm>
          <a:prstGeom prst="rect">
            <a:avLst/>
          </a:prstGeom>
        </p:spPr>
      </p:pic>
      <p:sp>
        <p:nvSpPr>
          <p:cNvPr id="17" name="Text 10"/>
          <p:cNvSpPr/>
          <p:nvPr/>
        </p:nvSpPr>
        <p:spPr>
          <a:xfrm>
            <a:off x="3349377" y="3712220"/>
            <a:ext cx="1518568" cy="189830"/>
          </a:xfrm>
          <a:prstGeom prst="rect">
            <a:avLst/>
          </a:prstGeom>
          <a:noFill/>
          <a:ln/>
        </p:spPr>
        <p:txBody>
          <a:bodyPr wrap="none" lIns="0" tIns="0" rIns="0" bIns="0" rtlCol="0" anchor="t"/>
          <a:lstStyle/>
          <a:p>
            <a:pPr marL="0" indent="0" algn="l">
              <a:lnSpc>
                <a:spcPct val="104000"/>
              </a:lnSpc>
              <a:buNone/>
            </a:pPr>
            <a:r>
              <a:rPr lang="en-US" sz="1150" dirty="0">
                <a:solidFill>
                  <a:srgbClr val="E2E6E9"/>
                </a:solidFill>
                <a:latin typeface="Merriweather" pitchFamily="34" charset="0"/>
                <a:ea typeface="Merriweather" pitchFamily="34" charset="-122"/>
                <a:cs typeface="Merriweather" pitchFamily="34" charset="-120"/>
              </a:rPr>
              <a:t>Data Layer</a:t>
            </a:r>
            <a:endParaRPr lang="en-US" sz="1150" dirty="0"/>
          </a:p>
        </p:txBody>
      </p:sp>
      <p:sp>
        <p:nvSpPr>
          <p:cNvPr id="18" name="Text 11"/>
          <p:cNvSpPr/>
          <p:nvPr/>
        </p:nvSpPr>
        <p:spPr>
          <a:xfrm>
            <a:off x="3349377" y="3967609"/>
            <a:ext cx="2445172" cy="554087"/>
          </a:xfrm>
          <a:prstGeom prst="rect">
            <a:avLst/>
          </a:prstGeom>
          <a:noFill/>
          <a:ln/>
        </p:spPr>
        <p:txBody>
          <a:bodyPr wrap="square" lIns="0" tIns="0" rIns="0" bIns="0" rtlCol="0" anchor="t">
            <a:normAutofit/>
          </a:bodyPr>
          <a:lstStyle/>
          <a:p>
            <a:pPr marL="0" indent="0" algn="l">
              <a:lnSpc>
                <a:spcPct val="127000"/>
              </a:lnSpc>
              <a:buNone/>
            </a:pPr>
            <a:r>
              <a:rPr lang="en-US" sz="950" dirty="0">
                <a:solidFill>
                  <a:srgbClr val="E2E6E9"/>
                </a:solidFill>
                <a:latin typeface="Merriweather" pitchFamily="34" charset="0"/>
                <a:ea typeface="Merriweather" pitchFamily="34" charset="-122"/>
                <a:cs typeface="Merriweather" pitchFamily="34" charset="-120"/>
              </a:rPr>
              <a:t>Managed PostgreSQL v15 with Sequelize ORM — fully isolated, automated backups, private-link only.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9874" y="799207"/>
            <a:ext cx="6064225" cy="421779"/>
          </a:xfrm>
          <a:prstGeom prst="rect">
            <a:avLst/>
          </a:prstGeom>
          <a:noFill/>
          <a:ln/>
        </p:spPr>
        <p:txBody>
          <a:bodyPr wrap="none" lIns="0" tIns="0" rIns="0" bIns="0" rtlCol="0" anchor="t"/>
          <a:lstStyle/>
          <a:p>
            <a:pPr marL="0" indent="0" algn="l">
              <a:lnSpc>
                <a:spcPct val="104000"/>
              </a:lnSpc>
              <a:buNone/>
            </a:pPr>
            <a:r>
              <a:rPr lang="en-US" sz="2650" dirty="0">
                <a:solidFill>
                  <a:srgbClr val="F5F0F0"/>
                </a:solidFill>
                <a:latin typeface="Merriweather" pitchFamily="34" charset="0"/>
                <a:ea typeface="Merriweather" pitchFamily="34" charset="-122"/>
                <a:cs typeface="Merriweather" pitchFamily="34" charset="-120"/>
              </a:rPr>
              <a:t>Internal Microservices Port Matrix</a:t>
            </a:r>
            <a:endParaRPr lang="en-US" sz="2650" dirty="0"/>
          </a:p>
        </p:txBody>
      </p:sp>
      <p:sp>
        <p:nvSpPr>
          <p:cNvPr id="3" name="Text 1"/>
          <p:cNvSpPr/>
          <p:nvPr/>
        </p:nvSpPr>
        <p:spPr>
          <a:xfrm>
            <a:off x="539874" y="1490886"/>
            <a:ext cx="8521452" cy="215950"/>
          </a:xfrm>
          <a:prstGeom prst="rect">
            <a:avLst/>
          </a:prstGeom>
          <a:noFill/>
          <a:ln/>
        </p:spPr>
        <p:txBody>
          <a:bodyPr wrap="none" lIns="0" tIns="0" rIns="0" bIns="0" rtlCol="0" anchor="t"/>
          <a:lstStyle/>
          <a:p>
            <a:pPr marL="0" indent="0" algn="l">
              <a:lnSpc>
                <a:spcPct val="133000"/>
              </a:lnSpc>
              <a:buNone/>
            </a:pPr>
            <a:endParaRPr lang="en-US" sz="1050" dirty="0"/>
          </a:p>
        </p:txBody>
      </p:sp>
      <p:sp>
        <p:nvSpPr>
          <p:cNvPr id="4" name="Text 2"/>
          <p:cNvSpPr/>
          <p:nvPr/>
        </p:nvSpPr>
        <p:spPr>
          <a:xfrm>
            <a:off x="539874" y="1909242"/>
            <a:ext cx="3821906" cy="253082"/>
          </a:xfrm>
          <a:prstGeom prst="rect">
            <a:avLst/>
          </a:prstGeom>
          <a:noFill/>
          <a:ln/>
        </p:spPr>
        <p:txBody>
          <a:bodyPr wrap="none" lIns="0" tIns="0" rIns="0" bIns="0" rtlCol="0" anchor="t"/>
          <a:lstStyle/>
          <a:p>
            <a:pPr marL="0" indent="0" algn="l">
              <a:lnSpc>
                <a:spcPct val="104000"/>
              </a:lnSpc>
              <a:buNone/>
            </a:pPr>
            <a:r>
              <a:rPr lang="en-US" sz="1550" dirty="0">
                <a:solidFill>
                  <a:srgbClr val="F5F0F0"/>
                </a:solidFill>
                <a:latin typeface="Merriweather" pitchFamily="34" charset="0"/>
                <a:ea typeface="Merriweather" pitchFamily="34" charset="-122"/>
                <a:cs typeface="Merriweather" pitchFamily="34" charset="-120"/>
              </a:rPr>
              <a:t>Local Reverse Proxy Configuration</a:t>
            </a:r>
            <a:endParaRPr lang="en-US" sz="1550" dirty="0"/>
          </a:p>
        </p:txBody>
      </p:sp>
      <p:sp>
        <p:nvSpPr>
          <p:cNvPr id="5" name="Shape 3"/>
          <p:cNvSpPr/>
          <p:nvPr/>
        </p:nvSpPr>
        <p:spPr>
          <a:xfrm>
            <a:off x="539874" y="2364730"/>
            <a:ext cx="8064252" cy="1979488"/>
          </a:xfrm>
          <a:prstGeom prst="roundRect">
            <a:avLst>
              <a:gd name="adj" fmla="val 2864"/>
            </a:avLst>
          </a:prstGeom>
          <a:noFill/>
          <a:ln w="4763">
            <a:solidFill>
              <a:srgbClr val="FFFFFF">
                <a:alpha val="24000"/>
              </a:srgbClr>
            </a:solidFill>
            <a:prstDash val="solid"/>
          </a:ln>
        </p:spPr>
        <p:txBody>
          <a:bodyPr/>
          <a:lstStyle/>
          <a:p>
            <a:endParaRPr lang="en-IN"/>
          </a:p>
        </p:txBody>
      </p:sp>
      <p:sp>
        <p:nvSpPr>
          <p:cNvPr id="6" name="Text 4"/>
          <p:cNvSpPr/>
          <p:nvPr/>
        </p:nvSpPr>
        <p:spPr>
          <a:xfrm>
            <a:off x="679698" y="2455218"/>
            <a:ext cx="2144464" cy="210815"/>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Path Mapping</a:t>
            </a:r>
            <a:endParaRPr lang="en-US" sz="1300" dirty="0"/>
          </a:p>
        </p:txBody>
      </p:sp>
      <p:sp>
        <p:nvSpPr>
          <p:cNvPr id="7" name="Text 5"/>
          <p:cNvSpPr/>
          <p:nvPr/>
        </p:nvSpPr>
        <p:spPr>
          <a:xfrm>
            <a:off x="3903911" y="2455218"/>
            <a:ext cx="2144464" cy="210815"/>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Service Engine</a:t>
            </a:r>
            <a:endParaRPr lang="en-US" sz="1300" dirty="0"/>
          </a:p>
        </p:txBody>
      </p:sp>
      <p:sp>
        <p:nvSpPr>
          <p:cNvPr id="8" name="Text 6"/>
          <p:cNvSpPr/>
          <p:nvPr/>
        </p:nvSpPr>
        <p:spPr>
          <a:xfrm>
            <a:off x="7125742" y="2455218"/>
            <a:ext cx="1795909" cy="210815"/>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Localhost Port</a:t>
            </a:r>
            <a:endParaRPr lang="en-US" sz="1300" dirty="0"/>
          </a:p>
        </p:txBody>
      </p:sp>
      <p:sp>
        <p:nvSpPr>
          <p:cNvPr id="9" name="Text 7"/>
          <p:cNvSpPr/>
          <p:nvPr/>
        </p:nvSpPr>
        <p:spPr>
          <a:xfrm>
            <a:off x="679698" y="2842245"/>
            <a:ext cx="3406825" cy="220712"/>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highlight>
                  <a:srgbClr val="162227"/>
                </a:highlight>
                <a:latin typeface="Consolas" pitchFamily="34" charset="0"/>
                <a:ea typeface="Consolas" pitchFamily="34" charset="-122"/>
                <a:cs typeface="Consolas" pitchFamily="34" charset="-120"/>
              </a:rPr>
              <a:t>/api/auth/*</a:t>
            </a:r>
            <a:endParaRPr lang="en-US" sz="1050" dirty="0"/>
          </a:p>
        </p:txBody>
      </p:sp>
      <p:sp>
        <p:nvSpPr>
          <p:cNvPr id="10" name="Text 8"/>
          <p:cNvSpPr/>
          <p:nvPr/>
        </p:nvSpPr>
        <p:spPr>
          <a:xfrm>
            <a:off x="3903911" y="2842245"/>
            <a:ext cx="3404443" cy="215950"/>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Auth Service Engine</a:t>
            </a:r>
            <a:endParaRPr lang="en-US" sz="1050" dirty="0"/>
          </a:p>
        </p:txBody>
      </p:sp>
      <p:sp>
        <p:nvSpPr>
          <p:cNvPr id="11" name="Text 9"/>
          <p:cNvSpPr/>
          <p:nvPr/>
        </p:nvSpPr>
        <p:spPr>
          <a:xfrm>
            <a:off x="7125742" y="2842245"/>
            <a:ext cx="1795909" cy="215950"/>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3001</a:t>
            </a:r>
            <a:endParaRPr lang="en-US" sz="1050" dirty="0"/>
          </a:p>
        </p:txBody>
      </p:sp>
      <p:sp>
        <p:nvSpPr>
          <p:cNvPr id="12" name="Text 10"/>
          <p:cNvSpPr/>
          <p:nvPr/>
        </p:nvSpPr>
        <p:spPr>
          <a:xfrm>
            <a:off x="679698" y="3239170"/>
            <a:ext cx="3406825" cy="220712"/>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highlight>
                  <a:srgbClr val="162227"/>
                </a:highlight>
                <a:latin typeface="Consolas" pitchFamily="34" charset="0"/>
                <a:ea typeface="Consolas" pitchFamily="34" charset="-122"/>
                <a:cs typeface="Consolas" pitchFamily="34" charset="-120"/>
              </a:rPr>
              <a:t>/api/departments/*</a:t>
            </a:r>
            <a:r>
              <a:rPr lang="en-US" sz="1050" dirty="0">
                <a:solidFill>
                  <a:srgbClr val="E2E6E9"/>
                </a:solidFill>
                <a:latin typeface="Merriweather" pitchFamily="34" charset="0"/>
                <a:ea typeface="Merriweather" pitchFamily="34" charset="-122"/>
                <a:cs typeface="Merriweather" pitchFamily="34" charset="-120"/>
              </a:rPr>
              <a:t> &amp; </a:t>
            </a:r>
            <a:r>
              <a:rPr lang="en-US" sz="1050" dirty="0">
                <a:solidFill>
                  <a:srgbClr val="E2E6E9"/>
                </a:solidFill>
                <a:highlight>
                  <a:srgbClr val="162227"/>
                </a:highlight>
                <a:latin typeface="Consolas" pitchFamily="34" charset="0"/>
                <a:ea typeface="Consolas" pitchFamily="34" charset="-122"/>
                <a:cs typeface="Consolas" pitchFamily="34" charset="-120"/>
              </a:rPr>
              <a:t>/api/staff/*</a:t>
            </a:r>
            <a:endParaRPr lang="en-US" sz="1050" dirty="0"/>
          </a:p>
        </p:txBody>
      </p:sp>
      <p:sp>
        <p:nvSpPr>
          <p:cNvPr id="13" name="Text 11"/>
          <p:cNvSpPr/>
          <p:nvPr/>
        </p:nvSpPr>
        <p:spPr>
          <a:xfrm>
            <a:off x="3903911" y="3239170"/>
            <a:ext cx="3404443" cy="215950"/>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Staff Service Engine</a:t>
            </a:r>
            <a:endParaRPr lang="en-US" sz="1050" dirty="0"/>
          </a:p>
        </p:txBody>
      </p:sp>
      <p:sp>
        <p:nvSpPr>
          <p:cNvPr id="14" name="Text 12"/>
          <p:cNvSpPr/>
          <p:nvPr/>
        </p:nvSpPr>
        <p:spPr>
          <a:xfrm>
            <a:off x="7125742" y="3239170"/>
            <a:ext cx="1795909" cy="215950"/>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3002</a:t>
            </a:r>
            <a:endParaRPr lang="en-US" sz="1050" dirty="0"/>
          </a:p>
        </p:txBody>
      </p:sp>
      <p:sp>
        <p:nvSpPr>
          <p:cNvPr id="15" name="Text 13"/>
          <p:cNvSpPr/>
          <p:nvPr/>
        </p:nvSpPr>
        <p:spPr>
          <a:xfrm>
            <a:off x="679698" y="3636094"/>
            <a:ext cx="3406825" cy="220712"/>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highlight>
                  <a:srgbClr val="162227"/>
                </a:highlight>
                <a:latin typeface="Consolas" pitchFamily="34" charset="0"/>
                <a:ea typeface="Consolas" pitchFamily="34" charset="-122"/>
                <a:cs typeface="Consolas" pitchFamily="34" charset="-120"/>
              </a:rPr>
              <a:t>/api/shifts/*</a:t>
            </a:r>
            <a:endParaRPr lang="en-US" sz="1050" dirty="0"/>
          </a:p>
        </p:txBody>
      </p:sp>
      <p:sp>
        <p:nvSpPr>
          <p:cNvPr id="16" name="Text 14"/>
          <p:cNvSpPr/>
          <p:nvPr/>
        </p:nvSpPr>
        <p:spPr>
          <a:xfrm>
            <a:off x="3903911" y="3636094"/>
            <a:ext cx="3404443" cy="215950"/>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Shift Service Engine</a:t>
            </a:r>
            <a:endParaRPr lang="en-US" sz="1050" dirty="0"/>
          </a:p>
        </p:txBody>
      </p:sp>
      <p:sp>
        <p:nvSpPr>
          <p:cNvPr id="17" name="Text 15"/>
          <p:cNvSpPr/>
          <p:nvPr/>
        </p:nvSpPr>
        <p:spPr>
          <a:xfrm>
            <a:off x="7125742" y="3636094"/>
            <a:ext cx="1795909" cy="215950"/>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3003</a:t>
            </a:r>
            <a:endParaRPr lang="en-US" sz="1050" dirty="0"/>
          </a:p>
        </p:txBody>
      </p:sp>
      <p:sp>
        <p:nvSpPr>
          <p:cNvPr id="18" name="Text 16"/>
          <p:cNvSpPr/>
          <p:nvPr/>
        </p:nvSpPr>
        <p:spPr>
          <a:xfrm>
            <a:off x="679698" y="4033019"/>
            <a:ext cx="3406825" cy="220712"/>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highlight>
                  <a:srgbClr val="162227"/>
                </a:highlight>
                <a:latin typeface="Consolas" pitchFamily="34" charset="0"/>
                <a:ea typeface="Consolas" pitchFamily="34" charset="-122"/>
                <a:cs typeface="Consolas" pitchFamily="34" charset="-120"/>
              </a:rPr>
              <a:t>/api/leaves/*</a:t>
            </a:r>
            <a:endParaRPr lang="en-US" sz="1050" dirty="0"/>
          </a:p>
        </p:txBody>
      </p:sp>
      <p:sp>
        <p:nvSpPr>
          <p:cNvPr id="19" name="Text 17"/>
          <p:cNvSpPr/>
          <p:nvPr/>
        </p:nvSpPr>
        <p:spPr>
          <a:xfrm>
            <a:off x="3903911" y="4033019"/>
            <a:ext cx="3404443" cy="215950"/>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Leave Service Engine</a:t>
            </a:r>
            <a:endParaRPr lang="en-US" sz="1050" dirty="0"/>
          </a:p>
        </p:txBody>
      </p:sp>
      <p:sp>
        <p:nvSpPr>
          <p:cNvPr id="20" name="Text 18"/>
          <p:cNvSpPr/>
          <p:nvPr/>
        </p:nvSpPr>
        <p:spPr>
          <a:xfrm>
            <a:off x="7125742" y="4033019"/>
            <a:ext cx="1795909" cy="215950"/>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3004</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9874" y="561603"/>
            <a:ext cx="5280050" cy="358527"/>
          </a:xfrm>
          <a:prstGeom prst="rect">
            <a:avLst/>
          </a:prstGeom>
          <a:noFill/>
          <a:ln/>
        </p:spPr>
        <p:txBody>
          <a:bodyPr wrap="none" lIns="0" tIns="0" rIns="0" bIns="0" rtlCol="0" anchor="t"/>
          <a:lstStyle/>
          <a:p>
            <a:pPr marL="0" indent="0" algn="l">
              <a:lnSpc>
                <a:spcPct val="104000"/>
              </a:lnSpc>
              <a:buNone/>
            </a:pPr>
            <a:r>
              <a:rPr lang="en-US" sz="2250" dirty="0">
                <a:solidFill>
                  <a:srgbClr val="F5F0F0"/>
                </a:solidFill>
                <a:latin typeface="Merriweather" pitchFamily="34" charset="0"/>
                <a:ea typeface="Merriweather" pitchFamily="34" charset="-122"/>
                <a:cs typeface="Merriweather" pitchFamily="34" charset="-120"/>
              </a:rPr>
              <a:t>Subnet &amp; Network Allocation Table</a:t>
            </a:r>
            <a:endParaRPr lang="en-US" sz="2250" dirty="0"/>
          </a:p>
        </p:txBody>
      </p:sp>
      <p:sp>
        <p:nvSpPr>
          <p:cNvPr id="3" name="Text 1"/>
          <p:cNvSpPr/>
          <p:nvPr/>
        </p:nvSpPr>
        <p:spPr>
          <a:xfrm>
            <a:off x="539874" y="1115169"/>
            <a:ext cx="8521452"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The VNet landscape (10.0.0.0/16) is segmented into five purpose-built subnets, each with a clearly defined role and strict access controls.</a:t>
            </a:r>
            <a:endParaRPr lang="en-US" sz="900" dirty="0"/>
          </a:p>
        </p:txBody>
      </p:sp>
      <p:sp>
        <p:nvSpPr>
          <p:cNvPr id="4" name="Shape 2"/>
          <p:cNvSpPr/>
          <p:nvPr/>
        </p:nvSpPr>
        <p:spPr>
          <a:xfrm>
            <a:off x="539874" y="1394668"/>
            <a:ext cx="8064252" cy="2466677"/>
          </a:xfrm>
          <a:prstGeom prst="roundRect">
            <a:avLst>
              <a:gd name="adj" fmla="val 1954"/>
            </a:avLst>
          </a:prstGeom>
          <a:noFill/>
          <a:ln w="4763">
            <a:solidFill>
              <a:srgbClr val="FFFFFF">
                <a:alpha val="24000"/>
              </a:srgbClr>
            </a:solidFill>
            <a:prstDash val="solid"/>
          </a:ln>
        </p:spPr>
        <p:txBody>
          <a:bodyPr/>
          <a:lstStyle/>
          <a:p>
            <a:endParaRPr lang="en-IN"/>
          </a:p>
        </p:txBody>
      </p:sp>
      <p:sp>
        <p:nvSpPr>
          <p:cNvPr id="5" name="Shape 3"/>
          <p:cNvSpPr/>
          <p:nvPr/>
        </p:nvSpPr>
        <p:spPr>
          <a:xfrm>
            <a:off x="544637" y="1399431"/>
            <a:ext cx="8054727" cy="296317"/>
          </a:xfrm>
          <a:prstGeom prst="rect">
            <a:avLst/>
          </a:prstGeom>
          <a:solidFill>
            <a:srgbClr val="FFFFFF">
              <a:alpha val="4000"/>
            </a:srgbClr>
          </a:solidFill>
          <a:ln/>
        </p:spPr>
        <p:txBody>
          <a:bodyPr/>
          <a:lstStyle/>
          <a:p>
            <a:endParaRPr lang="en-IN"/>
          </a:p>
        </p:txBody>
      </p:sp>
      <p:sp>
        <p:nvSpPr>
          <p:cNvPr id="6" name="Text 4"/>
          <p:cNvSpPr/>
          <p:nvPr/>
        </p:nvSpPr>
        <p:spPr>
          <a:xfrm>
            <a:off x="659383" y="1462683"/>
            <a:ext cx="1997497" cy="169813"/>
          </a:xfrm>
          <a:prstGeom prst="rect">
            <a:avLst/>
          </a:prstGeom>
          <a:noFill/>
          <a:ln/>
        </p:spPr>
        <p:txBody>
          <a:bodyPr wrap="none" lIns="0" tIns="0" rIns="0" bIns="0" rtlCol="0" anchor="t"/>
          <a:lstStyle/>
          <a:p>
            <a:pPr marL="0" indent="0" algn="l">
              <a:lnSpc>
                <a:spcPct val="123000"/>
              </a:lnSpc>
              <a:buNone/>
            </a:pPr>
            <a:r>
              <a:rPr lang="en-US" sz="900" b="1" dirty="0">
                <a:solidFill>
                  <a:srgbClr val="E2E6E9"/>
                </a:solidFill>
                <a:latin typeface="Merriweather" pitchFamily="34" charset="0"/>
                <a:ea typeface="Merriweather" pitchFamily="34" charset="-122"/>
                <a:cs typeface="Merriweather" pitchFamily="34" charset="-120"/>
              </a:rPr>
              <a:t>Subnet Name</a:t>
            </a:r>
            <a:endParaRPr lang="en-US" sz="900" dirty="0"/>
          </a:p>
        </p:txBody>
      </p:sp>
      <p:sp>
        <p:nvSpPr>
          <p:cNvPr id="7" name="Text 5"/>
          <p:cNvSpPr/>
          <p:nvPr/>
        </p:nvSpPr>
        <p:spPr>
          <a:xfrm>
            <a:off x="2433786" y="1462683"/>
            <a:ext cx="1995115" cy="169813"/>
          </a:xfrm>
          <a:prstGeom prst="rect">
            <a:avLst/>
          </a:prstGeom>
          <a:noFill/>
          <a:ln/>
        </p:spPr>
        <p:txBody>
          <a:bodyPr wrap="none" lIns="0" tIns="0" rIns="0" bIns="0" rtlCol="0" anchor="t"/>
          <a:lstStyle/>
          <a:p>
            <a:pPr marL="0" indent="0" algn="l">
              <a:lnSpc>
                <a:spcPct val="123000"/>
              </a:lnSpc>
              <a:buNone/>
            </a:pPr>
            <a:r>
              <a:rPr lang="en-US" sz="900" b="1" dirty="0">
                <a:solidFill>
                  <a:srgbClr val="E2E6E9"/>
                </a:solidFill>
                <a:latin typeface="Merriweather" pitchFamily="34" charset="0"/>
                <a:ea typeface="Merriweather" pitchFamily="34" charset="-122"/>
                <a:cs typeface="Merriweather" pitchFamily="34" charset="-120"/>
              </a:rPr>
              <a:t>CIDR Block</a:t>
            </a:r>
            <a:endParaRPr lang="en-US" sz="900" dirty="0"/>
          </a:p>
        </p:txBody>
      </p:sp>
      <p:sp>
        <p:nvSpPr>
          <p:cNvPr id="8" name="Text 6"/>
          <p:cNvSpPr/>
          <p:nvPr/>
        </p:nvSpPr>
        <p:spPr>
          <a:xfrm>
            <a:off x="4205808" y="1462683"/>
            <a:ext cx="2961680" cy="169813"/>
          </a:xfrm>
          <a:prstGeom prst="rect">
            <a:avLst/>
          </a:prstGeom>
          <a:noFill/>
          <a:ln/>
        </p:spPr>
        <p:txBody>
          <a:bodyPr wrap="none" lIns="0" tIns="0" rIns="0" bIns="0" rtlCol="0" anchor="t"/>
          <a:lstStyle/>
          <a:p>
            <a:pPr marL="0" indent="0" algn="l">
              <a:lnSpc>
                <a:spcPct val="123000"/>
              </a:lnSpc>
              <a:buNone/>
            </a:pPr>
            <a:r>
              <a:rPr lang="en-US" sz="900" b="1" dirty="0">
                <a:solidFill>
                  <a:srgbClr val="E2E6E9"/>
                </a:solidFill>
                <a:latin typeface="Merriweather" pitchFamily="34" charset="0"/>
                <a:ea typeface="Merriweather" pitchFamily="34" charset="-122"/>
                <a:cs typeface="Merriweather" pitchFamily="34" charset="-120"/>
              </a:rPr>
              <a:t>Purpose</a:t>
            </a:r>
            <a:endParaRPr lang="en-US" sz="900" dirty="0"/>
          </a:p>
        </p:txBody>
      </p:sp>
      <p:sp>
        <p:nvSpPr>
          <p:cNvPr id="9" name="Text 7"/>
          <p:cNvSpPr/>
          <p:nvPr/>
        </p:nvSpPr>
        <p:spPr>
          <a:xfrm>
            <a:off x="6944395" y="1462683"/>
            <a:ext cx="1997497" cy="169813"/>
          </a:xfrm>
          <a:prstGeom prst="rect">
            <a:avLst/>
          </a:prstGeom>
          <a:noFill/>
          <a:ln/>
        </p:spPr>
        <p:txBody>
          <a:bodyPr wrap="none" lIns="0" tIns="0" rIns="0" bIns="0" rtlCol="0" anchor="t"/>
          <a:lstStyle/>
          <a:p>
            <a:pPr marL="0" indent="0" algn="l">
              <a:lnSpc>
                <a:spcPct val="123000"/>
              </a:lnSpc>
              <a:buNone/>
            </a:pPr>
            <a:r>
              <a:rPr lang="en-US" sz="900" b="1" dirty="0">
                <a:solidFill>
                  <a:srgbClr val="E2E6E9"/>
                </a:solidFill>
                <a:latin typeface="Merriweather" pitchFamily="34" charset="0"/>
                <a:ea typeface="Merriweather" pitchFamily="34" charset="-122"/>
                <a:cs typeface="Merriweather" pitchFamily="34" charset="-120"/>
              </a:rPr>
              <a:t>Key Ports</a:t>
            </a:r>
            <a:endParaRPr lang="en-US" sz="900" dirty="0"/>
          </a:p>
        </p:txBody>
      </p:sp>
      <p:sp>
        <p:nvSpPr>
          <p:cNvPr id="10" name="Shape 8"/>
          <p:cNvSpPr/>
          <p:nvPr/>
        </p:nvSpPr>
        <p:spPr>
          <a:xfrm>
            <a:off x="544637" y="1695748"/>
            <a:ext cx="8054727" cy="466130"/>
          </a:xfrm>
          <a:prstGeom prst="rect">
            <a:avLst/>
          </a:prstGeom>
          <a:solidFill>
            <a:srgbClr val="000000">
              <a:alpha val="4000"/>
            </a:srgbClr>
          </a:solidFill>
          <a:ln/>
        </p:spPr>
        <p:txBody>
          <a:bodyPr/>
          <a:lstStyle/>
          <a:p>
            <a:endParaRPr lang="en-IN"/>
          </a:p>
        </p:txBody>
      </p:sp>
      <p:sp>
        <p:nvSpPr>
          <p:cNvPr id="11" name="Text 9"/>
          <p:cNvSpPr/>
          <p:nvPr/>
        </p:nvSpPr>
        <p:spPr>
          <a:xfrm>
            <a:off x="659383" y="1759000"/>
            <a:ext cx="1997497"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AppGateway-Subnet</a:t>
            </a:r>
            <a:endParaRPr lang="en-US" sz="900" dirty="0"/>
          </a:p>
        </p:txBody>
      </p:sp>
      <p:sp>
        <p:nvSpPr>
          <p:cNvPr id="12" name="Text 10"/>
          <p:cNvSpPr/>
          <p:nvPr/>
        </p:nvSpPr>
        <p:spPr>
          <a:xfrm>
            <a:off x="2433786" y="1759000"/>
            <a:ext cx="1995115"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10.0.1.0/24</a:t>
            </a:r>
            <a:endParaRPr lang="en-US" sz="900" dirty="0"/>
          </a:p>
        </p:txBody>
      </p:sp>
      <p:sp>
        <p:nvSpPr>
          <p:cNvPr id="13" name="Text 11"/>
          <p:cNvSpPr/>
          <p:nvPr/>
        </p:nvSpPr>
        <p:spPr>
          <a:xfrm>
            <a:off x="4205808" y="1759000"/>
            <a:ext cx="2504480" cy="339626"/>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Public ingress, SSL termination, WAF policy enforcement</a:t>
            </a:r>
            <a:endParaRPr lang="en-US" sz="900" dirty="0"/>
          </a:p>
        </p:txBody>
      </p:sp>
      <p:sp>
        <p:nvSpPr>
          <p:cNvPr id="14" name="Text 12"/>
          <p:cNvSpPr/>
          <p:nvPr/>
        </p:nvSpPr>
        <p:spPr>
          <a:xfrm>
            <a:off x="6944395" y="1759000"/>
            <a:ext cx="1997497"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80, 443</a:t>
            </a:r>
            <a:endParaRPr lang="en-US" sz="900" dirty="0"/>
          </a:p>
        </p:txBody>
      </p:sp>
      <p:sp>
        <p:nvSpPr>
          <p:cNvPr id="15" name="Shape 13"/>
          <p:cNvSpPr/>
          <p:nvPr/>
        </p:nvSpPr>
        <p:spPr>
          <a:xfrm>
            <a:off x="544637" y="2161877"/>
            <a:ext cx="8054727" cy="296317"/>
          </a:xfrm>
          <a:prstGeom prst="rect">
            <a:avLst/>
          </a:prstGeom>
          <a:solidFill>
            <a:srgbClr val="FFFFFF">
              <a:alpha val="4000"/>
            </a:srgbClr>
          </a:solidFill>
          <a:ln/>
        </p:spPr>
        <p:txBody>
          <a:bodyPr/>
          <a:lstStyle/>
          <a:p>
            <a:endParaRPr lang="en-IN"/>
          </a:p>
        </p:txBody>
      </p:sp>
      <p:sp>
        <p:nvSpPr>
          <p:cNvPr id="16" name="Text 14"/>
          <p:cNvSpPr/>
          <p:nvPr/>
        </p:nvSpPr>
        <p:spPr>
          <a:xfrm>
            <a:off x="659383" y="2225129"/>
            <a:ext cx="1997497"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Frontend-Subnet</a:t>
            </a:r>
            <a:endParaRPr lang="en-US" sz="900" dirty="0"/>
          </a:p>
        </p:txBody>
      </p:sp>
      <p:sp>
        <p:nvSpPr>
          <p:cNvPr id="17" name="Text 15"/>
          <p:cNvSpPr/>
          <p:nvPr/>
        </p:nvSpPr>
        <p:spPr>
          <a:xfrm>
            <a:off x="2433786" y="2225129"/>
            <a:ext cx="1995115"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10.0.2.0/24</a:t>
            </a:r>
            <a:endParaRPr lang="en-US" sz="900" dirty="0"/>
          </a:p>
        </p:txBody>
      </p:sp>
      <p:sp>
        <p:nvSpPr>
          <p:cNvPr id="18" name="Text 16"/>
          <p:cNvSpPr/>
          <p:nvPr/>
        </p:nvSpPr>
        <p:spPr>
          <a:xfrm>
            <a:off x="4205808" y="2225129"/>
            <a:ext cx="2961680"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Hosts Frontend VMSS (React SPA via Nginx)</a:t>
            </a:r>
            <a:endParaRPr lang="en-US" sz="900" dirty="0"/>
          </a:p>
        </p:txBody>
      </p:sp>
      <p:sp>
        <p:nvSpPr>
          <p:cNvPr id="19" name="Text 17"/>
          <p:cNvSpPr/>
          <p:nvPr/>
        </p:nvSpPr>
        <p:spPr>
          <a:xfrm>
            <a:off x="6944395" y="2225129"/>
            <a:ext cx="1997497"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80</a:t>
            </a:r>
            <a:endParaRPr lang="en-US" sz="900" dirty="0"/>
          </a:p>
        </p:txBody>
      </p:sp>
      <p:sp>
        <p:nvSpPr>
          <p:cNvPr id="20" name="Shape 18"/>
          <p:cNvSpPr/>
          <p:nvPr/>
        </p:nvSpPr>
        <p:spPr>
          <a:xfrm>
            <a:off x="544637" y="2458194"/>
            <a:ext cx="8054727" cy="466130"/>
          </a:xfrm>
          <a:prstGeom prst="rect">
            <a:avLst/>
          </a:prstGeom>
          <a:solidFill>
            <a:srgbClr val="000000">
              <a:alpha val="4000"/>
            </a:srgbClr>
          </a:solidFill>
          <a:ln/>
        </p:spPr>
        <p:txBody>
          <a:bodyPr/>
          <a:lstStyle/>
          <a:p>
            <a:endParaRPr lang="en-IN"/>
          </a:p>
        </p:txBody>
      </p:sp>
      <p:sp>
        <p:nvSpPr>
          <p:cNvPr id="21" name="Text 19"/>
          <p:cNvSpPr/>
          <p:nvPr/>
        </p:nvSpPr>
        <p:spPr>
          <a:xfrm>
            <a:off x="659383" y="2521446"/>
            <a:ext cx="1997497"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Microservices-Subnet</a:t>
            </a:r>
            <a:endParaRPr lang="en-US" sz="900" dirty="0"/>
          </a:p>
        </p:txBody>
      </p:sp>
      <p:sp>
        <p:nvSpPr>
          <p:cNvPr id="22" name="Text 20"/>
          <p:cNvSpPr/>
          <p:nvPr/>
        </p:nvSpPr>
        <p:spPr>
          <a:xfrm>
            <a:off x="2433786" y="2521446"/>
            <a:ext cx="1995115"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10.0.3.0/24</a:t>
            </a:r>
            <a:endParaRPr lang="en-US" sz="900" dirty="0"/>
          </a:p>
        </p:txBody>
      </p:sp>
      <p:sp>
        <p:nvSpPr>
          <p:cNvPr id="23" name="Text 21"/>
          <p:cNvSpPr/>
          <p:nvPr/>
        </p:nvSpPr>
        <p:spPr>
          <a:xfrm>
            <a:off x="4205808" y="2521446"/>
            <a:ext cx="2504480" cy="339626"/>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Standalone Backend VM running Node.js/PM2</a:t>
            </a:r>
            <a:endParaRPr lang="en-US" sz="900" dirty="0"/>
          </a:p>
        </p:txBody>
      </p:sp>
      <p:sp>
        <p:nvSpPr>
          <p:cNvPr id="24" name="Text 22"/>
          <p:cNvSpPr/>
          <p:nvPr/>
        </p:nvSpPr>
        <p:spPr>
          <a:xfrm>
            <a:off x="6944395" y="2521446"/>
            <a:ext cx="1997497"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3001–3004</a:t>
            </a:r>
            <a:endParaRPr lang="en-US" sz="900" dirty="0"/>
          </a:p>
        </p:txBody>
      </p:sp>
      <p:sp>
        <p:nvSpPr>
          <p:cNvPr id="25" name="Shape 23"/>
          <p:cNvSpPr/>
          <p:nvPr/>
        </p:nvSpPr>
        <p:spPr>
          <a:xfrm>
            <a:off x="544637" y="2924324"/>
            <a:ext cx="8054727" cy="466130"/>
          </a:xfrm>
          <a:prstGeom prst="rect">
            <a:avLst/>
          </a:prstGeom>
          <a:solidFill>
            <a:srgbClr val="FFFFFF">
              <a:alpha val="4000"/>
            </a:srgbClr>
          </a:solidFill>
          <a:ln/>
        </p:spPr>
        <p:txBody>
          <a:bodyPr/>
          <a:lstStyle/>
          <a:p>
            <a:endParaRPr lang="en-IN"/>
          </a:p>
        </p:txBody>
      </p:sp>
      <p:sp>
        <p:nvSpPr>
          <p:cNvPr id="26" name="Text 24"/>
          <p:cNvSpPr/>
          <p:nvPr/>
        </p:nvSpPr>
        <p:spPr>
          <a:xfrm>
            <a:off x="659383" y="2987576"/>
            <a:ext cx="1997497"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AzurePostgres-Subnet</a:t>
            </a:r>
            <a:endParaRPr lang="en-US" sz="900" dirty="0"/>
          </a:p>
        </p:txBody>
      </p:sp>
      <p:sp>
        <p:nvSpPr>
          <p:cNvPr id="27" name="Text 25"/>
          <p:cNvSpPr/>
          <p:nvPr/>
        </p:nvSpPr>
        <p:spPr>
          <a:xfrm>
            <a:off x="2433786" y="2987576"/>
            <a:ext cx="1995115"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10.0.4.0/24</a:t>
            </a:r>
            <a:endParaRPr lang="en-US" sz="900" dirty="0"/>
          </a:p>
        </p:txBody>
      </p:sp>
      <p:sp>
        <p:nvSpPr>
          <p:cNvPr id="28" name="Text 26"/>
          <p:cNvSpPr/>
          <p:nvPr/>
        </p:nvSpPr>
        <p:spPr>
          <a:xfrm>
            <a:off x="4205808" y="2987576"/>
            <a:ext cx="2504480" cy="339626"/>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Delegated subnet for isolated PostgreSQL Flexible Server</a:t>
            </a:r>
            <a:endParaRPr lang="en-US" sz="900" dirty="0"/>
          </a:p>
        </p:txBody>
      </p:sp>
      <p:sp>
        <p:nvSpPr>
          <p:cNvPr id="29" name="Text 27"/>
          <p:cNvSpPr/>
          <p:nvPr/>
        </p:nvSpPr>
        <p:spPr>
          <a:xfrm>
            <a:off x="6944395" y="2987576"/>
            <a:ext cx="1997497"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5432</a:t>
            </a:r>
            <a:endParaRPr lang="en-US" sz="900" dirty="0"/>
          </a:p>
        </p:txBody>
      </p:sp>
      <p:sp>
        <p:nvSpPr>
          <p:cNvPr id="30" name="Shape 28"/>
          <p:cNvSpPr/>
          <p:nvPr/>
        </p:nvSpPr>
        <p:spPr>
          <a:xfrm>
            <a:off x="544637" y="3390454"/>
            <a:ext cx="8054727" cy="466130"/>
          </a:xfrm>
          <a:prstGeom prst="rect">
            <a:avLst/>
          </a:prstGeom>
          <a:solidFill>
            <a:srgbClr val="000000">
              <a:alpha val="4000"/>
            </a:srgbClr>
          </a:solidFill>
          <a:ln/>
        </p:spPr>
        <p:txBody>
          <a:bodyPr/>
          <a:lstStyle/>
          <a:p>
            <a:endParaRPr lang="en-IN"/>
          </a:p>
        </p:txBody>
      </p:sp>
      <p:sp>
        <p:nvSpPr>
          <p:cNvPr id="31" name="Text 29"/>
          <p:cNvSpPr/>
          <p:nvPr/>
        </p:nvSpPr>
        <p:spPr>
          <a:xfrm>
            <a:off x="659383" y="3453705"/>
            <a:ext cx="1997497"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AzureBastionSubnet</a:t>
            </a:r>
            <a:endParaRPr lang="en-US" sz="900" dirty="0"/>
          </a:p>
        </p:txBody>
      </p:sp>
      <p:sp>
        <p:nvSpPr>
          <p:cNvPr id="32" name="Text 30"/>
          <p:cNvSpPr/>
          <p:nvPr/>
        </p:nvSpPr>
        <p:spPr>
          <a:xfrm>
            <a:off x="2433786" y="3453705"/>
            <a:ext cx="1995115"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10.0.5.0/24</a:t>
            </a:r>
            <a:endParaRPr lang="en-US" sz="900" dirty="0"/>
          </a:p>
        </p:txBody>
      </p:sp>
      <p:sp>
        <p:nvSpPr>
          <p:cNvPr id="33" name="Text 31"/>
          <p:cNvSpPr/>
          <p:nvPr/>
        </p:nvSpPr>
        <p:spPr>
          <a:xfrm>
            <a:off x="4205808" y="3453705"/>
            <a:ext cx="2504480" cy="339626"/>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Secure SSH management hub — no public IPs on VMs</a:t>
            </a:r>
            <a:endParaRPr lang="en-US" sz="900" dirty="0"/>
          </a:p>
        </p:txBody>
      </p:sp>
      <p:sp>
        <p:nvSpPr>
          <p:cNvPr id="34" name="Text 32"/>
          <p:cNvSpPr/>
          <p:nvPr/>
        </p:nvSpPr>
        <p:spPr>
          <a:xfrm>
            <a:off x="6944395" y="3453705"/>
            <a:ext cx="1997497" cy="169813"/>
          </a:xfrm>
          <a:prstGeom prst="rect">
            <a:avLst/>
          </a:prstGeom>
          <a:noFill/>
          <a:ln/>
        </p:spPr>
        <p:txBody>
          <a:bodyPr wrap="none" lIns="0" tIns="0" rIns="0" bIns="0" rtlCol="0" anchor="t"/>
          <a:lstStyle/>
          <a:p>
            <a:pPr marL="0" indent="0" algn="l">
              <a:lnSpc>
                <a:spcPct val="123000"/>
              </a:lnSpc>
              <a:buNone/>
            </a:pPr>
            <a:r>
              <a:rPr lang="en-US" sz="900" dirty="0">
                <a:solidFill>
                  <a:srgbClr val="E2E6E9"/>
                </a:solidFill>
                <a:latin typeface="Merriweather" pitchFamily="34" charset="0"/>
                <a:ea typeface="Merriweather" pitchFamily="34" charset="-122"/>
                <a:cs typeface="Merriweather" pitchFamily="34" charset="-120"/>
              </a:rPr>
              <a:t>22 (via Bastion)</a:t>
            </a:r>
            <a:endParaRPr lang="en-US" sz="900" dirty="0"/>
          </a:p>
        </p:txBody>
      </p:sp>
      <p:sp>
        <p:nvSpPr>
          <p:cNvPr id="35" name="Shape 33"/>
          <p:cNvSpPr/>
          <p:nvPr/>
        </p:nvSpPr>
        <p:spPr>
          <a:xfrm>
            <a:off x="539874" y="3971032"/>
            <a:ext cx="8064252" cy="610791"/>
          </a:xfrm>
          <a:prstGeom prst="roundRect">
            <a:avLst>
              <a:gd name="adj" fmla="val 7890"/>
            </a:avLst>
          </a:prstGeom>
          <a:solidFill>
            <a:srgbClr val="001D4D"/>
          </a:solidFill>
          <a:ln/>
        </p:spPr>
        <p:txBody>
          <a:bodyPr/>
          <a:lstStyle/>
          <a:p>
            <a:endParaRPr lang="en-IN"/>
          </a:p>
        </p:txBody>
      </p:sp>
      <p:pic>
        <p:nvPicPr>
          <p:cNvPr id="36" name="Image 0" descr="preencoded.png"/>
          <p:cNvPicPr>
            <a:picLocks noChangeAspect="1"/>
          </p:cNvPicPr>
          <p:nvPr/>
        </p:nvPicPr>
        <p:blipFill>
          <a:blip r:embed="rId3"/>
          <a:stretch>
            <a:fillRect/>
          </a:stretch>
        </p:blipFill>
        <p:spPr>
          <a:xfrm>
            <a:off x="654546" y="4137794"/>
            <a:ext cx="143396" cy="114672"/>
          </a:xfrm>
          <a:prstGeom prst="rect">
            <a:avLst/>
          </a:prstGeom>
        </p:spPr>
      </p:pic>
      <p:sp>
        <p:nvSpPr>
          <p:cNvPr id="37" name="Text 34"/>
          <p:cNvSpPr/>
          <p:nvPr/>
        </p:nvSpPr>
        <p:spPr>
          <a:xfrm>
            <a:off x="912614" y="4097164"/>
            <a:ext cx="7576840" cy="339626"/>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FFFFFF"/>
                </a:solidFill>
                <a:latin typeface="Merriweather" pitchFamily="34" charset="0"/>
                <a:ea typeface="Merriweather" pitchFamily="34" charset="-122"/>
                <a:cs typeface="Merriweather" pitchFamily="34" charset="-120"/>
              </a:rPr>
              <a:t>The AzurePostgres-Subnet uses Microsoft.Network/virtualNetworks/subnets delegation to restrict access to the PostgreSQL Flexible Server only. Azure Bastion eliminates the need for SSH public endpoints on any VM.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39874" y="995288"/>
            <a:ext cx="7007200" cy="421779"/>
          </a:xfrm>
          <a:prstGeom prst="rect">
            <a:avLst/>
          </a:prstGeom>
          <a:noFill/>
          <a:ln/>
        </p:spPr>
        <p:txBody>
          <a:bodyPr wrap="none" lIns="0" tIns="0" rIns="0" bIns="0" rtlCol="0" anchor="t"/>
          <a:lstStyle/>
          <a:p>
            <a:pPr marL="0" indent="0" algn="l">
              <a:lnSpc>
                <a:spcPct val="104000"/>
              </a:lnSpc>
              <a:buNone/>
            </a:pPr>
            <a:r>
              <a:rPr lang="en-US" sz="2650" dirty="0">
                <a:solidFill>
                  <a:srgbClr val="F5F0F0"/>
                </a:solidFill>
                <a:latin typeface="Merriweather" pitchFamily="34" charset="0"/>
                <a:ea typeface="Merriweather" pitchFamily="34" charset="-122"/>
                <a:cs typeface="Merriweather" pitchFamily="34" charset="-120"/>
              </a:rPr>
              <a:t>Compute Sizing &amp; VMSS Upgrade Modes</a:t>
            </a:r>
            <a:endParaRPr lang="en-US" sz="2650" dirty="0"/>
          </a:p>
        </p:txBody>
      </p:sp>
      <p:sp>
        <p:nvSpPr>
          <p:cNvPr id="3" name="Text 1"/>
          <p:cNvSpPr/>
          <p:nvPr/>
        </p:nvSpPr>
        <p:spPr>
          <a:xfrm>
            <a:off x="539874" y="1686967"/>
            <a:ext cx="8521452" cy="215950"/>
          </a:xfrm>
          <a:prstGeom prst="rect">
            <a:avLst/>
          </a:prstGeom>
          <a:noFill/>
          <a:ln/>
        </p:spPr>
        <p:txBody>
          <a:bodyPr wrap="none" lIns="0" tIns="0" rIns="0" bIns="0" rtlCol="0" anchor="t"/>
          <a:lstStyle/>
          <a:p>
            <a:pPr marL="0" indent="0" algn="l">
              <a:lnSpc>
                <a:spcPct val="133000"/>
              </a:lnSpc>
              <a:buNone/>
            </a:pPr>
            <a:endParaRPr lang="en-US" sz="1050" dirty="0"/>
          </a:p>
        </p:txBody>
      </p:sp>
      <p:sp>
        <p:nvSpPr>
          <p:cNvPr id="4" name="Text 2"/>
          <p:cNvSpPr/>
          <p:nvPr/>
        </p:nvSpPr>
        <p:spPr>
          <a:xfrm>
            <a:off x="539874" y="2105323"/>
            <a:ext cx="3282404" cy="253082"/>
          </a:xfrm>
          <a:prstGeom prst="rect">
            <a:avLst/>
          </a:prstGeom>
          <a:noFill/>
          <a:ln/>
        </p:spPr>
        <p:txBody>
          <a:bodyPr wrap="none" lIns="0" tIns="0" rIns="0" bIns="0" rtlCol="0" anchor="t"/>
          <a:lstStyle/>
          <a:p>
            <a:pPr marL="0" indent="0" algn="l">
              <a:lnSpc>
                <a:spcPct val="104000"/>
              </a:lnSpc>
              <a:buNone/>
            </a:pPr>
            <a:r>
              <a:rPr lang="en-US" sz="1550" dirty="0">
                <a:solidFill>
                  <a:srgbClr val="F5F0F0"/>
                </a:solidFill>
                <a:latin typeface="Merriweather" pitchFamily="34" charset="0"/>
                <a:ea typeface="Merriweather" pitchFamily="34" charset="-122"/>
                <a:cs typeface="Merriweather" pitchFamily="34" charset="-120"/>
              </a:rPr>
              <a:t>Compute Layer Optimization</a:t>
            </a:r>
            <a:endParaRPr lang="en-US" sz="1550" dirty="0"/>
          </a:p>
        </p:txBody>
      </p:sp>
      <p:sp>
        <p:nvSpPr>
          <p:cNvPr id="5" name="Text 3"/>
          <p:cNvSpPr/>
          <p:nvPr/>
        </p:nvSpPr>
        <p:spPr>
          <a:xfrm>
            <a:off x="539874" y="2695724"/>
            <a:ext cx="2144464" cy="210815"/>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VMSS Scalability</a:t>
            </a:r>
            <a:endParaRPr lang="en-US" sz="1300" dirty="0"/>
          </a:p>
        </p:txBody>
      </p:sp>
      <p:sp>
        <p:nvSpPr>
          <p:cNvPr id="6" name="Text 4"/>
          <p:cNvSpPr/>
          <p:nvPr/>
        </p:nvSpPr>
        <p:spPr>
          <a:xfrm>
            <a:off x="539874" y="3041452"/>
            <a:ext cx="3867448" cy="647849"/>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Uses a Manual Upgrade Mode to allow cloud-init bootstrap scripts sufficient time to run full builds without triggering deployment timeouts</a:t>
            </a:r>
            <a:endParaRPr lang="en-US" sz="1050" dirty="0"/>
          </a:p>
        </p:txBody>
      </p:sp>
      <p:sp>
        <p:nvSpPr>
          <p:cNvPr id="7" name="Text 5"/>
          <p:cNvSpPr/>
          <p:nvPr/>
        </p:nvSpPr>
        <p:spPr>
          <a:xfrm>
            <a:off x="4741441" y="2695724"/>
            <a:ext cx="2622054" cy="210815"/>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Hardware Resource Layout</a:t>
            </a:r>
            <a:endParaRPr lang="en-US" sz="1300" dirty="0"/>
          </a:p>
        </p:txBody>
      </p:sp>
      <p:sp>
        <p:nvSpPr>
          <p:cNvPr id="8" name="Text 6"/>
          <p:cNvSpPr/>
          <p:nvPr/>
        </p:nvSpPr>
        <p:spPr>
          <a:xfrm>
            <a:off x="4741441" y="3041452"/>
            <a:ext cx="3867448" cy="985242"/>
          </a:xfrm>
          <a:prstGeom prst="rect">
            <a:avLst/>
          </a:prstGeom>
          <a:noFill/>
          <a:ln/>
        </p:spPr>
        <p:txBody>
          <a:bodyPr wrap="square" lIns="0" tIns="0" rIns="0" bIns="0" rtlCol="0" anchor="t">
            <a:normAutofit/>
          </a:bodyPr>
          <a:lstStyle/>
          <a:p>
            <a:pPr marL="0" indent="0" algn="l">
              <a:lnSpc>
                <a:spcPct val="133000"/>
              </a:lnSpc>
              <a:spcAft>
                <a:spcPts val="950"/>
              </a:spcAft>
              <a:buNone/>
            </a:pPr>
            <a:r>
              <a:rPr lang="en-US" sz="1050" dirty="0">
                <a:solidFill>
                  <a:srgbClr val="E2E6E9"/>
                </a:solidFill>
                <a:latin typeface="Merriweather" pitchFamily="34" charset="0"/>
                <a:ea typeface="Merriweather" pitchFamily="34" charset="-122"/>
                <a:cs typeface="Merriweather" pitchFamily="34" charset="-120"/>
              </a:rPr>
              <a:t>Burstable Sizes (Standard_B2as_v2 / AMD): Delivers 4 GiB of RAM memory</a:t>
            </a:r>
            <a:endParaRPr lang="en-US" sz="1050" dirty="0"/>
          </a:p>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Provides a safe buffer to run React asset compilation and multiple Node.js runtimes without out-of-memory errors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31465" y="404068"/>
            <a:ext cx="4993704" cy="352871"/>
          </a:xfrm>
          <a:prstGeom prst="rect">
            <a:avLst/>
          </a:prstGeom>
          <a:noFill/>
          <a:ln/>
        </p:spPr>
        <p:txBody>
          <a:bodyPr wrap="none" lIns="0" tIns="0" rIns="0" bIns="0" rtlCol="0" anchor="t"/>
          <a:lstStyle/>
          <a:p>
            <a:pPr marL="0" indent="0" algn="l">
              <a:lnSpc>
                <a:spcPct val="104000"/>
              </a:lnSpc>
              <a:buNone/>
            </a:pPr>
            <a:r>
              <a:rPr lang="en-US" sz="2200" dirty="0">
                <a:solidFill>
                  <a:srgbClr val="F5F0F0"/>
                </a:solidFill>
                <a:latin typeface="Merriweather" pitchFamily="34" charset="0"/>
                <a:ea typeface="Merriweather" pitchFamily="34" charset="-122"/>
                <a:cs typeface="Merriweather" pitchFamily="34" charset="-120"/>
              </a:rPr>
              <a:t>Modular Project Directory Layout</a:t>
            </a:r>
            <a:endParaRPr lang="en-US" sz="2200" dirty="0"/>
          </a:p>
        </p:txBody>
      </p:sp>
      <p:sp>
        <p:nvSpPr>
          <p:cNvPr id="3" name="Text 1"/>
          <p:cNvSpPr/>
          <p:nvPr/>
        </p:nvSpPr>
        <p:spPr>
          <a:xfrm>
            <a:off x="531465" y="794668"/>
            <a:ext cx="2702570" cy="211782"/>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Terraform Folder Hierarchy</a:t>
            </a:r>
            <a:endParaRPr lang="en-US" sz="1300" dirty="0"/>
          </a:p>
        </p:txBody>
      </p:sp>
      <p:sp>
        <p:nvSpPr>
          <p:cNvPr id="4" name="Shape 2"/>
          <p:cNvSpPr/>
          <p:nvPr/>
        </p:nvSpPr>
        <p:spPr>
          <a:xfrm>
            <a:off x="531465" y="1254398"/>
            <a:ext cx="4738390" cy="3378696"/>
          </a:xfrm>
          <a:prstGeom prst="roundRect">
            <a:avLst>
              <a:gd name="adj" fmla="val 1404"/>
            </a:avLst>
          </a:prstGeom>
          <a:solidFill>
            <a:srgbClr val="162227"/>
          </a:solidFill>
          <a:ln/>
        </p:spPr>
        <p:txBody>
          <a:bodyPr/>
          <a:lstStyle/>
          <a:p>
            <a:endParaRPr lang="en-IN"/>
          </a:p>
        </p:txBody>
      </p:sp>
      <p:sp>
        <p:nvSpPr>
          <p:cNvPr id="5" name="Shape 3"/>
          <p:cNvSpPr/>
          <p:nvPr/>
        </p:nvSpPr>
        <p:spPr>
          <a:xfrm>
            <a:off x="525883" y="1254398"/>
            <a:ext cx="6644537" cy="3378696"/>
          </a:xfrm>
          <a:prstGeom prst="roundRect">
            <a:avLst>
              <a:gd name="adj" fmla="val 501"/>
            </a:avLst>
          </a:prstGeom>
          <a:solidFill>
            <a:srgbClr val="162227"/>
          </a:solidFill>
          <a:ln/>
        </p:spPr>
        <p:txBody>
          <a:bodyPr/>
          <a:lstStyle/>
          <a:p>
            <a:endParaRPr lang="en-IN" dirty="0"/>
          </a:p>
        </p:txBody>
      </p:sp>
      <p:sp>
        <p:nvSpPr>
          <p:cNvPr id="6" name="Text 4"/>
          <p:cNvSpPr/>
          <p:nvPr/>
        </p:nvSpPr>
        <p:spPr>
          <a:xfrm>
            <a:off x="667048" y="1367284"/>
            <a:ext cx="6450032" cy="3152924"/>
          </a:xfrm>
          <a:prstGeom prst="rect">
            <a:avLst/>
          </a:prstGeom>
          <a:noFill/>
          <a:ln/>
        </p:spPr>
        <p:txBody>
          <a:bodyPr wrap="square" lIns="0" tIns="0" rIns="0" bIns="0" rtlCol="0" anchor="t">
            <a:normAutofit/>
          </a:bodyPr>
          <a:lstStyle/>
          <a:p>
            <a:pPr>
              <a:lnSpc>
                <a:spcPct val="122000"/>
              </a:lnSpc>
            </a:pPr>
            <a:r>
              <a:rPr lang="en-US" sz="850" dirty="0" err="1">
                <a:solidFill>
                  <a:srgbClr val="E2E6E9"/>
                </a:solidFill>
                <a:latin typeface="Consolas" pitchFamily="34" charset="0"/>
                <a:ea typeface="Consolas" pitchFamily="34" charset="-122"/>
                <a:cs typeface="Consolas" pitchFamily="34" charset="-120"/>
              </a:rPr>
              <a:t>tf_medishift</a:t>
            </a:r>
            <a:r>
              <a:rPr lang="en-US" sz="850" dirty="0">
                <a:solidFill>
                  <a:srgbClr val="E2E6E9"/>
                </a:solidFill>
                <a:latin typeface="Consolas" pitchFamily="34" charset="0"/>
                <a:ea typeface="Consolas" pitchFamily="34" charset="-122"/>
                <a:cs typeface="Consolas" pitchFamily="34" charset="-120"/>
              </a:rPr>
              <a:t>/</a:t>
            </a:r>
          </a:p>
          <a:p>
            <a:pPr>
              <a:lnSpc>
                <a:spcPct val="122000"/>
              </a:lnSpc>
            </a:pPr>
            <a:r>
              <a:rPr lang="en-US" sz="850" dirty="0">
                <a:solidFill>
                  <a:srgbClr val="E2E6E9"/>
                </a:solidFill>
                <a:latin typeface="Consolas" pitchFamily="34" charset="0"/>
                <a:ea typeface="Consolas" pitchFamily="34" charset="-122"/>
                <a:cs typeface="Consolas" pitchFamily="34" charset="-120"/>
              </a:rPr>
              <a:t>├── main.tf                 	# Global orchestrator that connects all modules</a:t>
            </a:r>
          </a:p>
          <a:p>
            <a:pPr>
              <a:lnSpc>
                <a:spcPct val="122000"/>
              </a:lnSpc>
            </a:pPr>
            <a:r>
              <a:rPr lang="en-US" sz="850" dirty="0">
                <a:solidFill>
                  <a:srgbClr val="E2E6E9"/>
                </a:solidFill>
                <a:latin typeface="Consolas" pitchFamily="34" charset="0"/>
                <a:ea typeface="Consolas" pitchFamily="34" charset="-122"/>
                <a:cs typeface="Consolas" pitchFamily="34" charset="-120"/>
              </a:rPr>
              <a:t>├── providers.tf            	# Configures Azure and </a:t>
            </a:r>
            <a:r>
              <a:rPr lang="en-US" sz="850" dirty="0" err="1">
                <a:solidFill>
                  <a:srgbClr val="E2E6E9"/>
                </a:solidFill>
                <a:latin typeface="Consolas" pitchFamily="34" charset="0"/>
                <a:ea typeface="Consolas" pitchFamily="34" charset="-122"/>
                <a:cs typeface="Consolas" pitchFamily="34" charset="-120"/>
              </a:rPr>
              <a:t>hashicorp</a:t>
            </a:r>
            <a:r>
              <a:rPr lang="en-US" sz="850" dirty="0">
                <a:solidFill>
                  <a:srgbClr val="E2E6E9"/>
                </a:solidFill>
                <a:latin typeface="Consolas" pitchFamily="34" charset="0"/>
                <a:ea typeface="Consolas" pitchFamily="34" charset="-122"/>
                <a:cs typeface="Consolas" pitchFamily="34" charset="-120"/>
              </a:rPr>
              <a:t> standard providers</a:t>
            </a:r>
          </a:p>
          <a:p>
            <a:pPr>
              <a:lnSpc>
                <a:spcPct val="122000"/>
              </a:lnSpc>
            </a:pPr>
            <a:r>
              <a:rPr lang="en-US" sz="850" dirty="0">
                <a:solidFill>
                  <a:srgbClr val="E2E6E9"/>
                </a:solidFill>
                <a:latin typeface="Consolas" pitchFamily="34" charset="0"/>
                <a:ea typeface="Consolas" pitchFamily="34" charset="-122"/>
                <a:cs typeface="Consolas" pitchFamily="34" charset="-120"/>
              </a:rPr>
              <a:t>├── variables.tf            	# Declares all global input variables</a:t>
            </a:r>
          </a:p>
          <a:p>
            <a:pPr>
              <a:lnSpc>
                <a:spcPct val="122000"/>
              </a:lnSpc>
            </a:pPr>
            <a:r>
              <a:rPr lang="en-US" sz="850" dirty="0">
                <a:solidFill>
                  <a:srgbClr val="E2E6E9"/>
                </a:solidFill>
                <a:latin typeface="Consolas" pitchFamily="34" charset="0"/>
                <a:ea typeface="Consolas" pitchFamily="34" charset="-122"/>
                <a:cs typeface="Consolas" pitchFamily="34" charset="-120"/>
              </a:rPr>
              <a:t>├── outputs.tf              	# Returns public IPs, endpoints, and next steps</a:t>
            </a:r>
          </a:p>
          <a:p>
            <a:pPr>
              <a:lnSpc>
                <a:spcPct val="122000"/>
              </a:lnSpc>
            </a:pPr>
            <a:r>
              <a:rPr lang="en-US" sz="850" dirty="0">
                <a:solidFill>
                  <a:srgbClr val="E2E6E9"/>
                </a:solidFill>
                <a:latin typeface="Consolas" pitchFamily="34" charset="0"/>
                <a:ea typeface="Consolas" pitchFamily="34" charset="-122"/>
                <a:cs typeface="Consolas" pitchFamily="34" charset="-120"/>
              </a:rPr>
              <a:t>├── locals.tf               	# Defines project tags and default JWT tokens</a:t>
            </a:r>
          </a:p>
          <a:p>
            <a:pPr>
              <a:lnSpc>
                <a:spcPct val="122000"/>
              </a:lnSpc>
            </a:pPr>
            <a:r>
              <a:rPr lang="en-US" sz="850" dirty="0">
                <a:solidFill>
                  <a:srgbClr val="E2E6E9"/>
                </a:solidFill>
                <a:latin typeface="Consolas" pitchFamily="34" charset="0"/>
                <a:ea typeface="Consolas" pitchFamily="34" charset="-122"/>
                <a:cs typeface="Consolas" pitchFamily="34" charset="-120"/>
              </a:rPr>
              <a:t>├── </a:t>
            </a:r>
            <a:r>
              <a:rPr lang="en-US" sz="850" dirty="0" err="1">
                <a:solidFill>
                  <a:srgbClr val="E2E6E9"/>
                </a:solidFill>
                <a:latin typeface="Consolas" pitchFamily="34" charset="0"/>
                <a:ea typeface="Consolas" pitchFamily="34" charset="-122"/>
                <a:cs typeface="Consolas" pitchFamily="34" charset="-120"/>
              </a:rPr>
              <a:t>terraform.tfvars</a:t>
            </a:r>
            <a:r>
              <a:rPr lang="en-US" sz="850" dirty="0">
                <a:solidFill>
                  <a:srgbClr val="E2E6E9"/>
                </a:solidFill>
                <a:latin typeface="Consolas" pitchFamily="34" charset="0"/>
                <a:ea typeface="Consolas" pitchFamily="34" charset="-122"/>
                <a:cs typeface="Consolas" pitchFamily="34" charset="-120"/>
              </a:rPr>
              <a:t>        	# User-customized parameters (region, sizes, quotas)</a:t>
            </a:r>
          </a:p>
          <a:p>
            <a:pPr>
              <a:lnSpc>
                <a:spcPct val="122000"/>
              </a:lnSpc>
            </a:pPr>
            <a:r>
              <a:rPr lang="en-US" sz="850" dirty="0">
                <a:solidFill>
                  <a:srgbClr val="E2E6E9"/>
                </a:solidFill>
                <a:latin typeface="Consolas" pitchFamily="34" charset="0"/>
                <a:ea typeface="Consolas" pitchFamily="34" charset="-122"/>
                <a:cs typeface="Consolas" pitchFamily="34" charset="-120"/>
              </a:rPr>
              <a:t>├── modules/</a:t>
            </a:r>
          </a:p>
          <a:p>
            <a:pPr>
              <a:lnSpc>
                <a:spcPct val="122000"/>
              </a:lnSpc>
            </a:pPr>
            <a:r>
              <a:rPr lang="en-US" sz="850" dirty="0">
                <a:solidFill>
                  <a:srgbClr val="E2E6E9"/>
                </a:solidFill>
                <a:latin typeface="Consolas" pitchFamily="34" charset="0"/>
                <a:ea typeface="Consolas" pitchFamily="34" charset="-122"/>
                <a:cs typeface="Consolas" pitchFamily="34" charset="-120"/>
              </a:rPr>
              <a:t>│   ├── </a:t>
            </a:r>
            <a:r>
              <a:rPr lang="en-US" sz="850" dirty="0" err="1">
                <a:solidFill>
                  <a:srgbClr val="E2E6E9"/>
                </a:solidFill>
                <a:latin typeface="Consolas" pitchFamily="34" charset="0"/>
                <a:ea typeface="Consolas" pitchFamily="34" charset="-122"/>
                <a:cs typeface="Consolas" pitchFamily="34" charset="-120"/>
              </a:rPr>
              <a:t>resource_group</a:t>
            </a:r>
            <a:r>
              <a:rPr lang="en-US" sz="850" dirty="0">
                <a:solidFill>
                  <a:srgbClr val="E2E6E9"/>
                </a:solidFill>
                <a:latin typeface="Consolas" pitchFamily="34" charset="0"/>
                <a:ea typeface="Consolas" pitchFamily="34" charset="-122"/>
                <a:cs typeface="Consolas" pitchFamily="34" charset="-120"/>
              </a:rPr>
              <a:t>/     	# Standardized Resource Group resource</a:t>
            </a:r>
          </a:p>
          <a:p>
            <a:pPr>
              <a:lnSpc>
                <a:spcPct val="122000"/>
              </a:lnSpc>
            </a:pPr>
            <a:r>
              <a:rPr lang="en-US" sz="850" dirty="0">
                <a:solidFill>
                  <a:srgbClr val="E2E6E9"/>
                </a:solidFill>
                <a:latin typeface="Consolas" pitchFamily="34" charset="0"/>
                <a:ea typeface="Consolas" pitchFamily="34" charset="-122"/>
                <a:cs typeface="Consolas" pitchFamily="34" charset="-120"/>
              </a:rPr>
              <a:t>│   ├── networking/         	# </a:t>
            </a:r>
            <a:r>
              <a:rPr lang="en-US" sz="850" dirty="0" err="1">
                <a:solidFill>
                  <a:srgbClr val="E2E6E9"/>
                </a:solidFill>
                <a:latin typeface="Consolas" pitchFamily="34" charset="0"/>
                <a:ea typeface="Consolas" pitchFamily="34" charset="-122"/>
                <a:cs typeface="Consolas" pitchFamily="34" charset="-120"/>
              </a:rPr>
              <a:t>VNet</a:t>
            </a:r>
            <a:r>
              <a:rPr lang="en-US" sz="850" dirty="0">
                <a:solidFill>
                  <a:srgbClr val="E2E6E9"/>
                </a:solidFill>
                <a:latin typeface="Consolas" pitchFamily="34" charset="0"/>
                <a:ea typeface="Consolas" pitchFamily="34" charset="-122"/>
                <a:cs typeface="Consolas" pitchFamily="34" charset="-120"/>
              </a:rPr>
              <a:t>, Subnets, NAT Gateway, Bastion, NSGs, Private DNS</a:t>
            </a:r>
          </a:p>
          <a:p>
            <a:pPr>
              <a:lnSpc>
                <a:spcPct val="122000"/>
              </a:lnSpc>
            </a:pPr>
            <a:r>
              <a:rPr lang="en-US" sz="850" dirty="0">
                <a:solidFill>
                  <a:srgbClr val="E2E6E9"/>
                </a:solidFill>
                <a:latin typeface="Consolas" pitchFamily="34" charset="0"/>
                <a:ea typeface="Consolas" pitchFamily="34" charset="-122"/>
                <a:cs typeface="Consolas" pitchFamily="34" charset="-120"/>
              </a:rPr>
              <a:t>│   ├── security/           	# User-Assigned Managed Identity configuration</a:t>
            </a:r>
          </a:p>
          <a:p>
            <a:pPr>
              <a:lnSpc>
                <a:spcPct val="122000"/>
              </a:lnSpc>
            </a:pPr>
            <a:r>
              <a:rPr lang="en-US" sz="850" dirty="0">
                <a:solidFill>
                  <a:srgbClr val="E2E6E9"/>
                </a:solidFill>
                <a:latin typeface="Consolas" pitchFamily="34" charset="0"/>
                <a:ea typeface="Consolas" pitchFamily="34" charset="-122"/>
                <a:cs typeface="Consolas" pitchFamily="34" charset="-120"/>
              </a:rPr>
              <a:t>│   ├── storage/            	# Backup Blob Storage account &amp; container resources</a:t>
            </a:r>
          </a:p>
          <a:p>
            <a:pPr>
              <a:lnSpc>
                <a:spcPct val="122000"/>
              </a:lnSpc>
            </a:pPr>
            <a:r>
              <a:rPr lang="en-US" sz="850" dirty="0">
                <a:solidFill>
                  <a:srgbClr val="E2E6E9"/>
                </a:solidFill>
                <a:latin typeface="Consolas" pitchFamily="34" charset="0"/>
                <a:ea typeface="Consolas" pitchFamily="34" charset="-122"/>
                <a:cs typeface="Consolas" pitchFamily="34" charset="-120"/>
              </a:rPr>
              <a:t>│   ├── database/           	# PostgreSQL Flexible Server &amp; database resource</a:t>
            </a:r>
          </a:p>
          <a:p>
            <a:pPr>
              <a:lnSpc>
                <a:spcPct val="122000"/>
              </a:lnSpc>
            </a:pPr>
            <a:r>
              <a:rPr lang="en-US" sz="850" dirty="0">
                <a:solidFill>
                  <a:srgbClr val="E2E6E9"/>
                </a:solidFill>
                <a:latin typeface="Consolas" pitchFamily="34" charset="0"/>
                <a:ea typeface="Consolas" pitchFamily="34" charset="-122"/>
                <a:cs typeface="Consolas" pitchFamily="34" charset="-120"/>
              </a:rPr>
              <a:t>│   ├── compute/            	# Stands up standalone backend VM &amp; Frontend VMSS</a:t>
            </a:r>
          </a:p>
          <a:p>
            <a:pPr>
              <a:lnSpc>
                <a:spcPct val="122000"/>
              </a:lnSpc>
            </a:pPr>
            <a:r>
              <a:rPr lang="en-US" sz="850" dirty="0">
                <a:solidFill>
                  <a:srgbClr val="E2E6E9"/>
                </a:solidFill>
                <a:latin typeface="Consolas" pitchFamily="34" charset="0"/>
                <a:ea typeface="Consolas" pitchFamily="34" charset="-122"/>
                <a:cs typeface="Consolas" pitchFamily="34" charset="-120"/>
              </a:rPr>
              <a:t>│   └── </a:t>
            </a:r>
            <a:r>
              <a:rPr lang="en-US" sz="850" dirty="0" err="1">
                <a:solidFill>
                  <a:srgbClr val="E2E6E9"/>
                </a:solidFill>
                <a:latin typeface="Consolas" pitchFamily="34" charset="0"/>
                <a:ea typeface="Consolas" pitchFamily="34" charset="-122"/>
                <a:cs typeface="Consolas" pitchFamily="34" charset="-120"/>
              </a:rPr>
              <a:t>application_gateway</a:t>
            </a:r>
            <a:r>
              <a:rPr lang="en-US" sz="850" dirty="0">
                <a:solidFill>
                  <a:srgbClr val="E2E6E9"/>
                </a:solidFill>
                <a:latin typeface="Consolas" pitchFamily="34" charset="0"/>
                <a:ea typeface="Consolas" pitchFamily="34" charset="-122"/>
                <a:cs typeface="Consolas" pitchFamily="34" charset="-120"/>
              </a:rPr>
              <a:t>/	# Configures WAF_v2 and path-based routing rules</a:t>
            </a:r>
          </a:p>
          <a:p>
            <a:pPr>
              <a:lnSpc>
                <a:spcPct val="122000"/>
              </a:lnSpc>
            </a:pPr>
            <a:r>
              <a:rPr lang="en-US" sz="850" dirty="0">
                <a:solidFill>
                  <a:srgbClr val="E2E6E9"/>
                </a:solidFill>
                <a:latin typeface="Consolas" pitchFamily="34" charset="0"/>
                <a:ea typeface="Consolas" pitchFamily="34" charset="-122"/>
                <a:cs typeface="Consolas" pitchFamily="34" charset="-120"/>
              </a:rPr>
              <a:t>└── scripts/</a:t>
            </a:r>
          </a:p>
          <a:p>
            <a:pPr>
              <a:lnSpc>
                <a:spcPct val="122000"/>
              </a:lnSpc>
            </a:pPr>
            <a:r>
              <a:rPr lang="en-US" sz="850" dirty="0">
                <a:solidFill>
                  <a:srgbClr val="E2E6E9"/>
                </a:solidFill>
                <a:latin typeface="Consolas" pitchFamily="34" charset="0"/>
                <a:ea typeface="Consolas" pitchFamily="34" charset="-122"/>
                <a:cs typeface="Consolas" pitchFamily="34" charset="-120"/>
              </a:rPr>
              <a:t>    ├── frontend-</a:t>
            </a:r>
            <a:r>
              <a:rPr lang="en-US" sz="850" dirty="0" err="1">
                <a:solidFill>
                  <a:srgbClr val="E2E6E9"/>
                </a:solidFill>
                <a:latin typeface="Consolas" pitchFamily="34" charset="0"/>
                <a:ea typeface="Consolas" pitchFamily="34" charset="-122"/>
                <a:cs typeface="Consolas" pitchFamily="34" charset="-120"/>
              </a:rPr>
              <a:t>bootstrap.sh.tpl</a:t>
            </a:r>
            <a:r>
              <a:rPr lang="en-US" sz="850" dirty="0">
                <a:solidFill>
                  <a:srgbClr val="E2E6E9"/>
                </a:solidFill>
                <a:latin typeface="Consolas" pitchFamily="34" charset="0"/>
                <a:ea typeface="Consolas" pitchFamily="34" charset="-122"/>
                <a:cs typeface="Consolas" pitchFamily="34" charset="-120"/>
              </a:rPr>
              <a:t>          # Installs Nginx/Node.js, clones Git, compiles React</a:t>
            </a:r>
          </a:p>
          <a:p>
            <a:pPr>
              <a:lnSpc>
                <a:spcPct val="122000"/>
              </a:lnSpc>
            </a:pPr>
            <a:r>
              <a:rPr lang="en-US" sz="850" dirty="0">
                <a:solidFill>
                  <a:srgbClr val="E2E6E9"/>
                </a:solidFill>
                <a:latin typeface="Consolas" pitchFamily="34" charset="0"/>
                <a:ea typeface="Consolas" pitchFamily="34" charset="-122"/>
                <a:cs typeface="Consolas" pitchFamily="34" charset="-120"/>
              </a:rPr>
              <a:t>    └── microservices-</a:t>
            </a:r>
            <a:r>
              <a:rPr lang="en-US" sz="850" dirty="0" err="1">
                <a:solidFill>
                  <a:srgbClr val="E2E6E9"/>
                </a:solidFill>
                <a:latin typeface="Consolas" pitchFamily="34" charset="0"/>
                <a:ea typeface="Consolas" pitchFamily="34" charset="-122"/>
                <a:cs typeface="Consolas" pitchFamily="34" charset="-120"/>
              </a:rPr>
              <a:t>bootstrap.sh.tpl</a:t>
            </a:r>
            <a:r>
              <a:rPr lang="en-US" sz="850" dirty="0">
                <a:solidFill>
                  <a:srgbClr val="E2E6E9"/>
                </a:solidFill>
                <a:latin typeface="Consolas" pitchFamily="34" charset="0"/>
                <a:ea typeface="Consolas" pitchFamily="34" charset="-122"/>
                <a:cs typeface="Consolas" pitchFamily="34" charset="-120"/>
              </a:rPr>
              <a:t>     # Installs PM2/Node/Nginx, clones Git, injects PM2 env variables</a:t>
            </a:r>
            <a:endParaRPr lang="en-US" sz="850" dirty="0"/>
          </a:p>
        </p:txBody>
      </p:sp>
      <p:sp>
        <p:nvSpPr>
          <p:cNvPr id="9" name="Text 6"/>
          <p:cNvSpPr/>
          <p:nvPr/>
        </p:nvSpPr>
        <p:spPr>
          <a:xfrm>
            <a:off x="5917034" y="1377032"/>
            <a:ext cx="2587303" cy="1341834"/>
          </a:xfrm>
          <a:prstGeom prst="rect">
            <a:avLst/>
          </a:prstGeom>
          <a:noFill/>
          <a:ln/>
        </p:spPr>
        <p:txBody>
          <a:bodyPr wrap="square" lIns="0" tIns="0" rIns="0" bIns="0" rtlCol="0" anchor="t">
            <a:normAutofit/>
          </a:bodyPr>
          <a:lstStyle/>
          <a:p>
            <a:pPr marL="0" indent="0" algn="l">
              <a:lnSpc>
                <a:spcPct val="122000"/>
              </a:lnSpc>
              <a:buNone/>
            </a:pP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23056" y="361206"/>
            <a:ext cx="6207547" cy="408608"/>
          </a:xfrm>
          <a:prstGeom prst="rect">
            <a:avLst/>
          </a:prstGeom>
          <a:noFill/>
          <a:ln/>
        </p:spPr>
        <p:txBody>
          <a:bodyPr wrap="none" lIns="0" tIns="0" rIns="0" bIns="0" rtlCol="0" anchor="t"/>
          <a:lstStyle/>
          <a:p>
            <a:pPr marL="0" indent="0" algn="l">
              <a:lnSpc>
                <a:spcPct val="104000"/>
              </a:lnSpc>
              <a:buNone/>
            </a:pPr>
            <a:r>
              <a:rPr lang="en-US" sz="2550" dirty="0">
                <a:solidFill>
                  <a:srgbClr val="F5F0F0"/>
                </a:solidFill>
                <a:latin typeface="Merriweather" pitchFamily="34" charset="0"/>
                <a:ea typeface="Merriweather" pitchFamily="34" charset="-122"/>
                <a:cs typeface="Merriweather" pitchFamily="34" charset="-120"/>
              </a:rPr>
              <a:t>The Cloud-Init Provisioning Pipeline</a:t>
            </a:r>
            <a:endParaRPr lang="en-US" sz="2550" dirty="0"/>
          </a:p>
        </p:txBody>
      </p:sp>
      <p:sp>
        <p:nvSpPr>
          <p:cNvPr id="3" name="Text 1"/>
          <p:cNvSpPr/>
          <p:nvPr/>
        </p:nvSpPr>
        <p:spPr>
          <a:xfrm>
            <a:off x="523056" y="820415"/>
            <a:ext cx="3841626" cy="245194"/>
          </a:xfrm>
          <a:prstGeom prst="rect">
            <a:avLst/>
          </a:prstGeom>
          <a:noFill/>
          <a:ln/>
        </p:spPr>
        <p:txBody>
          <a:bodyPr wrap="none" lIns="0" tIns="0" rIns="0" bIns="0" rtlCol="0" anchor="t"/>
          <a:lstStyle/>
          <a:p>
            <a:pPr marL="0" indent="0" algn="l">
              <a:lnSpc>
                <a:spcPct val="104000"/>
              </a:lnSpc>
              <a:buNone/>
            </a:pPr>
            <a:r>
              <a:rPr lang="en-US" sz="1500" dirty="0">
                <a:solidFill>
                  <a:srgbClr val="F5F0F0"/>
                </a:solidFill>
                <a:latin typeface="Merriweather" pitchFamily="34" charset="0"/>
                <a:ea typeface="Merriweather" pitchFamily="34" charset="-122"/>
                <a:cs typeface="Merriweather" pitchFamily="34" charset="-120"/>
              </a:rPr>
              <a:t>Automated Bootstrapping Sequence</a:t>
            </a:r>
            <a:endParaRPr lang="en-US" sz="1500" dirty="0"/>
          </a:p>
        </p:txBody>
      </p:sp>
      <p:sp>
        <p:nvSpPr>
          <p:cNvPr id="4" name="Shape 2"/>
          <p:cNvSpPr/>
          <p:nvPr/>
        </p:nvSpPr>
        <p:spPr>
          <a:xfrm>
            <a:off x="4564856" y="1255588"/>
            <a:ext cx="14288" cy="3526706"/>
          </a:xfrm>
          <a:prstGeom prst="roundRect">
            <a:avLst>
              <a:gd name="adj" fmla="val 384396"/>
            </a:avLst>
          </a:prstGeom>
          <a:solidFill>
            <a:srgbClr val="194A99"/>
          </a:solidFill>
          <a:ln/>
        </p:spPr>
        <p:txBody>
          <a:bodyPr/>
          <a:lstStyle/>
          <a:p>
            <a:endParaRPr lang="en-IN"/>
          </a:p>
        </p:txBody>
      </p:sp>
      <p:sp>
        <p:nvSpPr>
          <p:cNvPr id="5" name="Shape 3"/>
          <p:cNvSpPr/>
          <p:nvPr/>
        </p:nvSpPr>
        <p:spPr>
          <a:xfrm>
            <a:off x="4194051" y="1771501"/>
            <a:ext cx="392237" cy="14288"/>
          </a:xfrm>
          <a:prstGeom prst="roundRect">
            <a:avLst>
              <a:gd name="adj" fmla="val 384396"/>
            </a:avLst>
          </a:prstGeom>
          <a:solidFill>
            <a:srgbClr val="194A99"/>
          </a:solidFill>
          <a:ln/>
        </p:spPr>
        <p:txBody>
          <a:bodyPr/>
          <a:lstStyle/>
          <a:p>
            <a:endParaRPr lang="en-IN"/>
          </a:p>
        </p:txBody>
      </p:sp>
      <p:sp>
        <p:nvSpPr>
          <p:cNvPr id="6" name="Shape 4"/>
          <p:cNvSpPr/>
          <p:nvPr/>
        </p:nvSpPr>
        <p:spPr>
          <a:xfrm>
            <a:off x="4522998" y="1729643"/>
            <a:ext cx="98003" cy="98003"/>
          </a:xfrm>
          <a:prstGeom prst="roundRect">
            <a:avLst>
              <a:gd name="adj" fmla="val 291573"/>
            </a:avLst>
          </a:prstGeom>
          <a:solidFill>
            <a:srgbClr val="609DFF"/>
          </a:solidFill>
          <a:ln/>
        </p:spPr>
        <p:txBody>
          <a:bodyPr/>
          <a:lstStyle/>
          <a:p>
            <a:endParaRPr lang="en-IN"/>
          </a:p>
        </p:txBody>
      </p:sp>
      <p:sp>
        <p:nvSpPr>
          <p:cNvPr id="7" name="Shape 5"/>
          <p:cNvSpPr/>
          <p:nvPr/>
        </p:nvSpPr>
        <p:spPr>
          <a:xfrm>
            <a:off x="523056" y="1255588"/>
            <a:ext cx="3656707" cy="1046113"/>
          </a:xfrm>
          <a:prstGeom prst="roundRect">
            <a:avLst>
              <a:gd name="adj" fmla="val 5250"/>
            </a:avLst>
          </a:prstGeom>
          <a:solidFill>
            <a:srgbClr val="003180"/>
          </a:solidFill>
          <a:ln w="4763">
            <a:solidFill>
              <a:srgbClr val="194A99"/>
            </a:solidFill>
            <a:prstDash val="solid"/>
          </a:ln>
        </p:spPr>
        <p:txBody>
          <a:bodyPr/>
          <a:lstStyle/>
          <a:p>
            <a:endParaRPr lang="en-IN"/>
          </a:p>
        </p:txBody>
      </p:sp>
      <p:sp>
        <p:nvSpPr>
          <p:cNvPr id="8" name="Text 6"/>
          <p:cNvSpPr/>
          <p:nvPr/>
        </p:nvSpPr>
        <p:spPr>
          <a:xfrm>
            <a:off x="1576760" y="1391096"/>
            <a:ext cx="2467496" cy="204341"/>
          </a:xfrm>
          <a:prstGeom prst="rect">
            <a:avLst/>
          </a:prstGeom>
          <a:noFill/>
          <a:ln/>
        </p:spPr>
        <p:txBody>
          <a:bodyPr wrap="none" lIns="0" tIns="0" rIns="0" bIns="0" rtlCol="0" anchor="t"/>
          <a:lstStyle/>
          <a:p>
            <a:pPr marL="0" indent="0" algn="r">
              <a:lnSpc>
                <a:spcPct val="104000"/>
              </a:lnSpc>
              <a:buNone/>
            </a:pPr>
            <a:r>
              <a:rPr lang="en-US" sz="1250" dirty="0">
                <a:solidFill>
                  <a:srgbClr val="E2E6E9"/>
                </a:solidFill>
                <a:latin typeface="Merriweather" pitchFamily="34" charset="0"/>
                <a:ea typeface="Merriweather" pitchFamily="34" charset="-122"/>
                <a:cs typeface="Merriweather" pitchFamily="34" charset="-120"/>
              </a:rPr>
              <a:t>Base Infrastructure Established</a:t>
            </a:r>
            <a:endParaRPr lang="en-US" sz="1250" dirty="0"/>
          </a:p>
        </p:txBody>
      </p:sp>
      <p:sp>
        <p:nvSpPr>
          <p:cNvPr id="9" name="Text 7"/>
          <p:cNvSpPr/>
          <p:nvPr/>
        </p:nvSpPr>
        <p:spPr>
          <a:xfrm>
            <a:off x="658564" y="1671414"/>
            <a:ext cx="3385691" cy="411807"/>
          </a:xfrm>
          <a:prstGeom prst="rect">
            <a:avLst/>
          </a:prstGeom>
          <a:noFill/>
          <a:ln/>
        </p:spPr>
        <p:txBody>
          <a:bodyPr wrap="square" lIns="0" tIns="0" rIns="0" bIns="0" rtlCol="0" anchor="t">
            <a:normAutofit/>
          </a:bodyPr>
          <a:lstStyle/>
          <a:p>
            <a:pPr marL="0" indent="0" algn="r">
              <a:lnSpc>
                <a:spcPct val="131000"/>
              </a:lnSpc>
              <a:buNone/>
            </a:pPr>
            <a:r>
              <a:rPr lang="en-US" sz="1000" dirty="0">
                <a:solidFill>
                  <a:srgbClr val="E2E6E9"/>
                </a:solidFill>
                <a:latin typeface="Merriweather" pitchFamily="34" charset="0"/>
                <a:ea typeface="Merriweather" pitchFamily="34" charset="-122"/>
                <a:cs typeface="Merriweather" pitchFamily="34" charset="-120"/>
              </a:rPr>
              <a:t>Base infrastructure resources are established across Azure</a:t>
            </a:r>
            <a:endParaRPr lang="en-US" sz="1000" dirty="0"/>
          </a:p>
        </p:txBody>
      </p:sp>
      <p:sp>
        <p:nvSpPr>
          <p:cNvPr id="10" name="Shape 8"/>
          <p:cNvSpPr/>
          <p:nvPr/>
        </p:nvSpPr>
        <p:spPr>
          <a:xfrm>
            <a:off x="4557713" y="2547863"/>
            <a:ext cx="392237" cy="14288"/>
          </a:xfrm>
          <a:prstGeom prst="roundRect">
            <a:avLst>
              <a:gd name="adj" fmla="val 384396"/>
            </a:avLst>
          </a:prstGeom>
          <a:solidFill>
            <a:srgbClr val="194A99"/>
          </a:solidFill>
          <a:ln/>
        </p:spPr>
        <p:txBody>
          <a:bodyPr/>
          <a:lstStyle/>
          <a:p>
            <a:endParaRPr lang="en-IN"/>
          </a:p>
        </p:txBody>
      </p:sp>
      <p:sp>
        <p:nvSpPr>
          <p:cNvPr id="11" name="Shape 9"/>
          <p:cNvSpPr/>
          <p:nvPr/>
        </p:nvSpPr>
        <p:spPr>
          <a:xfrm>
            <a:off x="4522998" y="2506005"/>
            <a:ext cx="98003" cy="98003"/>
          </a:xfrm>
          <a:prstGeom prst="roundRect">
            <a:avLst>
              <a:gd name="adj" fmla="val 291573"/>
            </a:avLst>
          </a:prstGeom>
          <a:solidFill>
            <a:srgbClr val="609DFF"/>
          </a:solidFill>
          <a:ln/>
        </p:spPr>
        <p:txBody>
          <a:bodyPr/>
          <a:lstStyle/>
          <a:p>
            <a:endParaRPr lang="en-IN"/>
          </a:p>
        </p:txBody>
      </p:sp>
      <p:sp>
        <p:nvSpPr>
          <p:cNvPr id="12" name="Shape 10"/>
          <p:cNvSpPr/>
          <p:nvPr/>
        </p:nvSpPr>
        <p:spPr>
          <a:xfrm>
            <a:off x="4964237" y="2031950"/>
            <a:ext cx="3656707" cy="1046113"/>
          </a:xfrm>
          <a:prstGeom prst="roundRect">
            <a:avLst>
              <a:gd name="adj" fmla="val 5250"/>
            </a:avLst>
          </a:prstGeom>
          <a:solidFill>
            <a:srgbClr val="003180"/>
          </a:solidFill>
          <a:ln w="4763">
            <a:solidFill>
              <a:srgbClr val="194A99"/>
            </a:solidFill>
            <a:prstDash val="solid"/>
          </a:ln>
        </p:spPr>
        <p:txBody>
          <a:bodyPr/>
          <a:lstStyle/>
          <a:p>
            <a:endParaRPr lang="en-IN"/>
          </a:p>
        </p:txBody>
      </p:sp>
      <p:sp>
        <p:nvSpPr>
          <p:cNvPr id="13" name="Text 11"/>
          <p:cNvSpPr/>
          <p:nvPr/>
        </p:nvSpPr>
        <p:spPr>
          <a:xfrm>
            <a:off x="5099745" y="2167458"/>
            <a:ext cx="1868984" cy="204341"/>
          </a:xfrm>
          <a:prstGeom prst="rect">
            <a:avLst/>
          </a:prstGeom>
          <a:noFill/>
          <a:ln/>
        </p:spPr>
        <p:txBody>
          <a:bodyPr wrap="none" lIns="0" tIns="0" rIns="0" bIns="0" rtlCol="0" anchor="t"/>
          <a:lstStyle/>
          <a:p>
            <a:pPr marL="0" indent="0" algn="l">
              <a:lnSpc>
                <a:spcPct val="104000"/>
              </a:lnSpc>
              <a:buNone/>
            </a:pPr>
            <a:r>
              <a:rPr lang="en-US" sz="1250" dirty="0">
                <a:solidFill>
                  <a:srgbClr val="E2E6E9"/>
                </a:solidFill>
                <a:latin typeface="Merriweather" pitchFamily="34" charset="0"/>
                <a:ea typeface="Merriweather" pitchFamily="34" charset="-122"/>
                <a:cs typeface="Merriweather" pitchFamily="34" charset="-120"/>
              </a:rPr>
              <a:t>Cloud-Init Initialization</a:t>
            </a:r>
            <a:endParaRPr lang="en-US" sz="1250" dirty="0"/>
          </a:p>
        </p:txBody>
      </p:sp>
      <p:sp>
        <p:nvSpPr>
          <p:cNvPr id="14" name="Text 12"/>
          <p:cNvSpPr/>
          <p:nvPr/>
        </p:nvSpPr>
        <p:spPr>
          <a:xfrm>
            <a:off x="5099745" y="2447776"/>
            <a:ext cx="3385691" cy="411807"/>
          </a:xfrm>
          <a:prstGeom prst="rect">
            <a:avLst/>
          </a:prstGeom>
          <a:noFill/>
          <a:ln/>
        </p:spPr>
        <p:txBody>
          <a:bodyPr wrap="square" lIns="0" tIns="0" rIns="0" bIns="0" rtlCol="0" anchor="t">
            <a:normAutofit/>
          </a:bodyPr>
          <a:lstStyle/>
          <a:p>
            <a:pPr marL="0" indent="0" algn="l">
              <a:lnSpc>
                <a:spcPct val="131000"/>
              </a:lnSpc>
              <a:buNone/>
            </a:pPr>
            <a:r>
              <a:rPr lang="en-US" sz="1000" dirty="0">
                <a:solidFill>
                  <a:srgbClr val="E2E6E9"/>
                </a:solidFill>
                <a:latin typeface="Merriweather" pitchFamily="34" charset="0"/>
                <a:ea typeface="Merriweather" pitchFamily="34" charset="-122"/>
                <a:cs typeface="Merriweather" pitchFamily="34" charset="-120"/>
              </a:rPr>
              <a:t>Virtual machines initialize and run cloud-init template files</a:t>
            </a:r>
            <a:endParaRPr lang="en-US" sz="1000" dirty="0"/>
          </a:p>
        </p:txBody>
      </p:sp>
      <p:sp>
        <p:nvSpPr>
          <p:cNvPr id="15" name="Shape 13"/>
          <p:cNvSpPr/>
          <p:nvPr/>
        </p:nvSpPr>
        <p:spPr>
          <a:xfrm>
            <a:off x="4194051" y="3399979"/>
            <a:ext cx="392237" cy="14288"/>
          </a:xfrm>
          <a:prstGeom prst="roundRect">
            <a:avLst>
              <a:gd name="adj" fmla="val 384396"/>
            </a:avLst>
          </a:prstGeom>
          <a:solidFill>
            <a:srgbClr val="194A99"/>
          </a:solidFill>
          <a:ln/>
        </p:spPr>
        <p:txBody>
          <a:bodyPr/>
          <a:lstStyle/>
          <a:p>
            <a:endParaRPr lang="en-IN"/>
          </a:p>
        </p:txBody>
      </p:sp>
      <p:sp>
        <p:nvSpPr>
          <p:cNvPr id="16" name="Shape 14"/>
          <p:cNvSpPr/>
          <p:nvPr/>
        </p:nvSpPr>
        <p:spPr>
          <a:xfrm>
            <a:off x="4522998" y="3358121"/>
            <a:ext cx="98003" cy="98003"/>
          </a:xfrm>
          <a:prstGeom prst="roundRect">
            <a:avLst>
              <a:gd name="adj" fmla="val 291573"/>
            </a:avLst>
          </a:prstGeom>
          <a:solidFill>
            <a:srgbClr val="609DFF"/>
          </a:solidFill>
          <a:ln/>
        </p:spPr>
        <p:txBody>
          <a:bodyPr/>
          <a:lstStyle/>
          <a:p>
            <a:endParaRPr lang="en-IN"/>
          </a:p>
        </p:txBody>
      </p:sp>
      <p:sp>
        <p:nvSpPr>
          <p:cNvPr id="17" name="Shape 15"/>
          <p:cNvSpPr/>
          <p:nvPr/>
        </p:nvSpPr>
        <p:spPr>
          <a:xfrm>
            <a:off x="523056" y="2681660"/>
            <a:ext cx="3656707" cy="1450925"/>
          </a:xfrm>
          <a:prstGeom prst="roundRect">
            <a:avLst>
              <a:gd name="adj" fmla="val 3785"/>
            </a:avLst>
          </a:prstGeom>
          <a:solidFill>
            <a:srgbClr val="003180"/>
          </a:solidFill>
          <a:ln w="4763">
            <a:solidFill>
              <a:srgbClr val="194A99"/>
            </a:solidFill>
            <a:prstDash val="solid"/>
          </a:ln>
        </p:spPr>
        <p:txBody>
          <a:bodyPr/>
          <a:lstStyle/>
          <a:p>
            <a:endParaRPr lang="en-IN"/>
          </a:p>
        </p:txBody>
      </p:sp>
      <p:sp>
        <p:nvSpPr>
          <p:cNvPr id="18" name="Text 16"/>
          <p:cNvSpPr/>
          <p:nvPr/>
        </p:nvSpPr>
        <p:spPr>
          <a:xfrm>
            <a:off x="1884164" y="2817168"/>
            <a:ext cx="2160091" cy="204341"/>
          </a:xfrm>
          <a:prstGeom prst="rect">
            <a:avLst/>
          </a:prstGeom>
          <a:noFill/>
          <a:ln/>
        </p:spPr>
        <p:txBody>
          <a:bodyPr wrap="none" lIns="0" tIns="0" rIns="0" bIns="0" rtlCol="0" anchor="t"/>
          <a:lstStyle/>
          <a:p>
            <a:pPr marL="0" indent="0" algn="r">
              <a:lnSpc>
                <a:spcPct val="104000"/>
              </a:lnSpc>
              <a:buNone/>
            </a:pPr>
            <a:r>
              <a:rPr lang="en-US" sz="1250" dirty="0">
                <a:solidFill>
                  <a:srgbClr val="E2E6E9"/>
                </a:solidFill>
                <a:latin typeface="Merriweather" pitchFamily="34" charset="0"/>
                <a:ea typeface="Merriweather" pitchFamily="34" charset="-122"/>
                <a:cs typeface="Merriweather" pitchFamily="34" charset="-120"/>
              </a:rPr>
              <a:t>Configuration &amp; Code Fetch</a:t>
            </a:r>
            <a:endParaRPr lang="en-US" sz="1250" dirty="0"/>
          </a:p>
        </p:txBody>
      </p:sp>
      <p:sp>
        <p:nvSpPr>
          <p:cNvPr id="19" name="Text 17"/>
          <p:cNvSpPr/>
          <p:nvPr/>
        </p:nvSpPr>
        <p:spPr>
          <a:xfrm>
            <a:off x="658564" y="3097485"/>
            <a:ext cx="3385691" cy="899592"/>
          </a:xfrm>
          <a:prstGeom prst="rect">
            <a:avLst/>
          </a:prstGeom>
          <a:noFill/>
          <a:ln/>
        </p:spPr>
        <p:txBody>
          <a:bodyPr wrap="square" lIns="0" tIns="0" rIns="0" bIns="0" rtlCol="0" anchor="t">
            <a:normAutofit/>
          </a:bodyPr>
          <a:lstStyle/>
          <a:p>
            <a:pPr marL="0" indent="0" algn="r">
              <a:lnSpc>
                <a:spcPct val="131000"/>
              </a:lnSpc>
              <a:spcAft>
                <a:spcPts val="550"/>
              </a:spcAft>
              <a:buNone/>
            </a:pPr>
            <a:r>
              <a:rPr lang="en-US" sz="1000" dirty="0">
                <a:solidFill>
                  <a:srgbClr val="E2E6E9"/>
                </a:solidFill>
                <a:latin typeface="Merriweather" pitchFamily="34" charset="0"/>
                <a:ea typeface="Merriweather" pitchFamily="34" charset="-122"/>
                <a:cs typeface="Merriweather" pitchFamily="34" charset="-120"/>
              </a:rPr>
              <a:t>Environment variables and system configurations are applied securely</a:t>
            </a:r>
            <a:endParaRPr lang="en-US" sz="1000" dirty="0"/>
          </a:p>
          <a:p>
            <a:pPr marL="0" indent="0" algn="r">
              <a:lnSpc>
                <a:spcPct val="131000"/>
              </a:lnSpc>
              <a:buNone/>
            </a:pPr>
            <a:r>
              <a:rPr lang="en-US" sz="1000" dirty="0">
                <a:solidFill>
                  <a:srgbClr val="E2E6E9"/>
                </a:solidFill>
                <a:latin typeface="Merriweather" pitchFamily="34" charset="0"/>
                <a:ea typeface="Merriweather" pitchFamily="34" charset="-122"/>
                <a:cs typeface="Merriweather" pitchFamily="34" charset="-120"/>
              </a:rPr>
              <a:t>Code repositories are fetched natively to construct live services</a:t>
            </a:r>
            <a:endParaRPr lang="en-US" sz="1000" dirty="0"/>
          </a:p>
        </p:txBody>
      </p:sp>
      <p:sp>
        <p:nvSpPr>
          <p:cNvPr id="20" name="Shape 18"/>
          <p:cNvSpPr/>
          <p:nvPr/>
        </p:nvSpPr>
        <p:spPr>
          <a:xfrm>
            <a:off x="4557713" y="4049688"/>
            <a:ext cx="392237" cy="14288"/>
          </a:xfrm>
          <a:prstGeom prst="roundRect">
            <a:avLst>
              <a:gd name="adj" fmla="val 384396"/>
            </a:avLst>
          </a:prstGeom>
          <a:solidFill>
            <a:srgbClr val="194A99"/>
          </a:solidFill>
          <a:ln/>
        </p:spPr>
        <p:txBody>
          <a:bodyPr/>
          <a:lstStyle/>
          <a:p>
            <a:endParaRPr lang="en-IN"/>
          </a:p>
        </p:txBody>
      </p:sp>
      <p:sp>
        <p:nvSpPr>
          <p:cNvPr id="21" name="Shape 19"/>
          <p:cNvSpPr/>
          <p:nvPr/>
        </p:nvSpPr>
        <p:spPr>
          <a:xfrm>
            <a:off x="4522998" y="4007830"/>
            <a:ext cx="98003" cy="98003"/>
          </a:xfrm>
          <a:prstGeom prst="roundRect">
            <a:avLst>
              <a:gd name="adj" fmla="val 291573"/>
            </a:avLst>
          </a:prstGeom>
          <a:solidFill>
            <a:srgbClr val="609DFF"/>
          </a:solidFill>
          <a:ln/>
        </p:spPr>
        <p:txBody>
          <a:bodyPr/>
          <a:lstStyle/>
          <a:p>
            <a:endParaRPr lang="en-IN"/>
          </a:p>
        </p:txBody>
      </p:sp>
      <p:sp>
        <p:nvSpPr>
          <p:cNvPr id="22" name="Shape 20"/>
          <p:cNvSpPr/>
          <p:nvPr/>
        </p:nvSpPr>
        <p:spPr>
          <a:xfrm>
            <a:off x="4964237" y="3533775"/>
            <a:ext cx="3656707" cy="1046113"/>
          </a:xfrm>
          <a:prstGeom prst="roundRect">
            <a:avLst>
              <a:gd name="adj" fmla="val 5250"/>
            </a:avLst>
          </a:prstGeom>
          <a:solidFill>
            <a:srgbClr val="003180"/>
          </a:solidFill>
          <a:ln w="4763">
            <a:solidFill>
              <a:srgbClr val="194A99"/>
            </a:solidFill>
            <a:prstDash val="solid"/>
          </a:ln>
        </p:spPr>
        <p:txBody>
          <a:bodyPr/>
          <a:lstStyle/>
          <a:p>
            <a:endParaRPr lang="en-IN"/>
          </a:p>
        </p:txBody>
      </p:sp>
      <p:sp>
        <p:nvSpPr>
          <p:cNvPr id="23" name="Text 21"/>
          <p:cNvSpPr/>
          <p:nvPr/>
        </p:nvSpPr>
        <p:spPr>
          <a:xfrm>
            <a:off x="5099745" y="3669283"/>
            <a:ext cx="1634579" cy="204341"/>
          </a:xfrm>
          <a:prstGeom prst="rect">
            <a:avLst/>
          </a:prstGeom>
          <a:noFill/>
          <a:ln/>
        </p:spPr>
        <p:txBody>
          <a:bodyPr wrap="none" lIns="0" tIns="0" rIns="0" bIns="0" rtlCol="0" anchor="t"/>
          <a:lstStyle/>
          <a:p>
            <a:pPr marL="0" indent="0" algn="l">
              <a:lnSpc>
                <a:spcPct val="104000"/>
              </a:lnSpc>
              <a:buNone/>
            </a:pPr>
            <a:r>
              <a:rPr lang="en-US" sz="1250" dirty="0">
                <a:solidFill>
                  <a:srgbClr val="E2E6E9"/>
                </a:solidFill>
                <a:latin typeface="Merriweather" pitchFamily="34" charset="0"/>
                <a:ea typeface="Merriweather" pitchFamily="34" charset="-122"/>
                <a:cs typeface="Merriweather" pitchFamily="34" charset="-120"/>
              </a:rPr>
              <a:t>Service Launch</a:t>
            </a:r>
            <a:endParaRPr lang="en-US" sz="1250" dirty="0"/>
          </a:p>
        </p:txBody>
      </p:sp>
      <p:sp>
        <p:nvSpPr>
          <p:cNvPr id="24" name="Text 22"/>
          <p:cNvSpPr/>
          <p:nvPr/>
        </p:nvSpPr>
        <p:spPr>
          <a:xfrm>
            <a:off x="5099745" y="3949601"/>
            <a:ext cx="3385691" cy="205904"/>
          </a:xfrm>
          <a:prstGeom prst="rect">
            <a:avLst/>
          </a:prstGeom>
          <a:noFill/>
          <a:ln/>
        </p:spPr>
        <p:txBody>
          <a:bodyPr wrap="none" lIns="0" tIns="0" rIns="0" bIns="0" rtlCol="0" anchor="t"/>
          <a:lstStyle/>
          <a:p>
            <a:pPr marL="0" indent="0" algn="l">
              <a:lnSpc>
                <a:spcPct val="131000"/>
              </a:lnSpc>
              <a:buNone/>
            </a:pPr>
            <a:r>
              <a:rPr lang="en-US" sz="1000" dirty="0">
                <a:solidFill>
                  <a:srgbClr val="E2E6E9"/>
                </a:solidFill>
                <a:latin typeface="Merriweather" pitchFamily="34" charset="0"/>
                <a:ea typeface="Merriweather" pitchFamily="34" charset="-122"/>
                <a:cs typeface="Merriweather" pitchFamily="34" charset="-120"/>
              </a:rPr>
              <a:t>Services are launched and ready for traffic</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39874" y="995660"/>
            <a:ext cx="6663556" cy="421779"/>
          </a:xfrm>
          <a:prstGeom prst="rect">
            <a:avLst/>
          </a:prstGeom>
          <a:noFill/>
          <a:ln/>
        </p:spPr>
        <p:txBody>
          <a:bodyPr wrap="none" lIns="0" tIns="0" rIns="0" bIns="0" rtlCol="0" anchor="t"/>
          <a:lstStyle/>
          <a:p>
            <a:pPr marL="0" indent="0" algn="l">
              <a:lnSpc>
                <a:spcPct val="104000"/>
              </a:lnSpc>
              <a:buNone/>
            </a:pPr>
            <a:r>
              <a:rPr lang="en-US" sz="2650" dirty="0">
                <a:solidFill>
                  <a:srgbClr val="F5F0F0"/>
                </a:solidFill>
                <a:latin typeface="Merriweather" pitchFamily="34" charset="0"/>
                <a:ea typeface="Merriweather" pitchFamily="34" charset="-122"/>
                <a:cs typeface="Merriweather" pitchFamily="34" charset="-120"/>
              </a:rPr>
              <a:t>Cloud Infrastructure Debugging Guide</a:t>
            </a:r>
            <a:endParaRPr lang="en-US" sz="2650" dirty="0"/>
          </a:p>
        </p:txBody>
      </p:sp>
      <p:sp>
        <p:nvSpPr>
          <p:cNvPr id="3" name="Text 1"/>
          <p:cNvSpPr/>
          <p:nvPr/>
        </p:nvSpPr>
        <p:spPr>
          <a:xfrm>
            <a:off x="539874" y="1471389"/>
            <a:ext cx="4349204" cy="253082"/>
          </a:xfrm>
          <a:prstGeom prst="rect">
            <a:avLst/>
          </a:prstGeom>
          <a:noFill/>
          <a:ln/>
        </p:spPr>
        <p:txBody>
          <a:bodyPr wrap="none" lIns="0" tIns="0" rIns="0" bIns="0" rtlCol="0" anchor="t"/>
          <a:lstStyle/>
          <a:p>
            <a:pPr marL="0" indent="0" algn="l">
              <a:lnSpc>
                <a:spcPct val="104000"/>
              </a:lnSpc>
              <a:buNone/>
            </a:pPr>
            <a:r>
              <a:rPr lang="en-US" sz="1550" dirty="0">
                <a:solidFill>
                  <a:srgbClr val="F5F0F0"/>
                </a:solidFill>
                <a:latin typeface="Merriweather" pitchFamily="34" charset="0"/>
                <a:ea typeface="Merriweather" pitchFamily="34" charset="-122"/>
                <a:cs typeface="Merriweather" pitchFamily="34" charset="-120"/>
              </a:rPr>
              <a:t>Troubleshooting &amp; Operations Runbook</a:t>
            </a:r>
            <a:endParaRPr lang="en-US" sz="1550" dirty="0"/>
          </a:p>
        </p:txBody>
      </p:sp>
      <p:sp>
        <p:nvSpPr>
          <p:cNvPr id="4" name="Shape 2"/>
          <p:cNvSpPr/>
          <p:nvPr/>
        </p:nvSpPr>
        <p:spPr>
          <a:xfrm>
            <a:off x="539874" y="1926878"/>
            <a:ext cx="8064252" cy="2220888"/>
          </a:xfrm>
          <a:prstGeom prst="roundRect">
            <a:avLst>
              <a:gd name="adj" fmla="val 2553"/>
            </a:avLst>
          </a:prstGeom>
          <a:noFill/>
          <a:ln w="4763">
            <a:solidFill>
              <a:srgbClr val="FFFFFF">
                <a:alpha val="24000"/>
              </a:srgbClr>
            </a:solidFill>
            <a:prstDash val="solid"/>
          </a:ln>
        </p:spPr>
        <p:txBody>
          <a:bodyPr/>
          <a:lstStyle/>
          <a:p>
            <a:endParaRPr lang="en-IN"/>
          </a:p>
        </p:txBody>
      </p:sp>
      <p:sp>
        <p:nvSpPr>
          <p:cNvPr id="5" name="Text 3"/>
          <p:cNvSpPr/>
          <p:nvPr/>
        </p:nvSpPr>
        <p:spPr>
          <a:xfrm>
            <a:off x="679698" y="2017365"/>
            <a:ext cx="2144464" cy="210815"/>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Symptom</a:t>
            </a:r>
            <a:endParaRPr lang="en-US" sz="1300" dirty="0"/>
          </a:p>
        </p:txBody>
      </p:sp>
      <p:sp>
        <p:nvSpPr>
          <p:cNvPr id="6" name="Text 4"/>
          <p:cNvSpPr/>
          <p:nvPr/>
        </p:nvSpPr>
        <p:spPr>
          <a:xfrm>
            <a:off x="3098453" y="2017365"/>
            <a:ext cx="2144464" cy="210815"/>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Root Cause</a:t>
            </a:r>
            <a:endParaRPr lang="en-US" sz="1300" dirty="0"/>
          </a:p>
        </p:txBody>
      </p:sp>
      <p:sp>
        <p:nvSpPr>
          <p:cNvPr id="7" name="Text 5"/>
          <p:cNvSpPr/>
          <p:nvPr/>
        </p:nvSpPr>
        <p:spPr>
          <a:xfrm>
            <a:off x="5917555" y="2017365"/>
            <a:ext cx="2144464" cy="210815"/>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Resolution</a:t>
            </a:r>
            <a:endParaRPr lang="en-US" sz="1300" dirty="0"/>
          </a:p>
        </p:txBody>
      </p:sp>
      <p:sp>
        <p:nvSpPr>
          <p:cNvPr id="8" name="Text 6"/>
          <p:cNvSpPr/>
          <p:nvPr/>
        </p:nvSpPr>
        <p:spPr>
          <a:xfrm>
            <a:off x="679698" y="2404393"/>
            <a:ext cx="2144167" cy="431899"/>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Immediate 502 Bad Gateway errors post-deployment</a:t>
            </a:r>
            <a:endParaRPr lang="en-US" sz="1050" dirty="0"/>
          </a:p>
        </p:txBody>
      </p:sp>
      <p:sp>
        <p:nvSpPr>
          <p:cNvPr id="9" name="Text 7"/>
          <p:cNvSpPr/>
          <p:nvPr/>
        </p:nvSpPr>
        <p:spPr>
          <a:xfrm>
            <a:off x="3098453" y="2404393"/>
            <a:ext cx="2544514" cy="431899"/>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System background code optimization is still processing</a:t>
            </a:r>
            <a:endParaRPr lang="en-US" sz="1050" dirty="0"/>
          </a:p>
        </p:txBody>
      </p:sp>
      <p:sp>
        <p:nvSpPr>
          <p:cNvPr id="10" name="Text 8"/>
          <p:cNvSpPr/>
          <p:nvPr/>
        </p:nvSpPr>
        <p:spPr>
          <a:xfrm>
            <a:off x="5917555" y="2404393"/>
            <a:ext cx="2546896" cy="431899"/>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Wait 3 minutes for Nginx compilation to finish</a:t>
            </a:r>
            <a:endParaRPr lang="en-US" sz="1050" dirty="0"/>
          </a:p>
        </p:txBody>
      </p:sp>
      <p:sp>
        <p:nvSpPr>
          <p:cNvPr id="11" name="Text 9"/>
          <p:cNvSpPr/>
          <p:nvPr/>
        </p:nvSpPr>
        <p:spPr>
          <a:xfrm>
            <a:off x="679698" y="3012504"/>
            <a:ext cx="2144167" cy="431899"/>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Core limit quota errors during deployment</a:t>
            </a:r>
            <a:endParaRPr lang="en-US" sz="1050" dirty="0"/>
          </a:p>
        </p:txBody>
      </p:sp>
      <p:sp>
        <p:nvSpPr>
          <p:cNvPr id="12" name="Text 10"/>
          <p:cNvSpPr/>
          <p:nvPr/>
        </p:nvSpPr>
        <p:spPr>
          <a:xfrm>
            <a:off x="3098453" y="3012504"/>
            <a:ext cx="3001714" cy="215950"/>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Local subscription cap limits exceeded</a:t>
            </a:r>
            <a:endParaRPr lang="en-US" sz="1050" dirty="0"/>
          </a:p>
        </p:txBody>
      </p:sp>
      <p:sp>
        <p:nvSpPr>
          <p:cNvPr id="13" name="Text 11"/>
          <p:cNvSpPr/>
          <p:nvPr/>
        </p:nvSpPr>
        <p:spPr>
          <a:xfrm>
            <a:off x="5917555" y="3012504"/>
            <a:ext cx="2546896" cy="431899"/>
          </a:xfrm>
          <a:prstGeom prst="rect">
            <a:avLst/>
          </a:prstGeom>
          <a:noFill/>
          <a:ln/>
        </p:spPr>
        <p:txBody>
          <a:bodyPr wrap="square" lIns="0" tIns="0" rIns="0" bIns="0" rtlCol="0" anchor="t">
            <a:normAutofit fontScale="92500"/>
          </a:bodyPr>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Set variables to use Standard_B2as_v2 sizes with instance counts at 1</a:t>
            </a:r>
            <a:endParaRPr lang="en-US" sz="1050" dirty="0"/>
          </a:p>
        </p:txBody>
      </p:sp>
      <p:sp>
        <p:nvSpPr>
          <p:cNvPr id="14" name="Text 12"/>
          <p:cNvSpPr/>
          <p:nvPr/>
        </p:nvSpPr>
        <p:spPr>
          <a:xfrm>
            <a:off x="679698" y="3620616"/>
            <a:ext cx="2144167" cy="436662"/>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2E6E9"/>
                </a:solidFill>
                <a:highlight>
                  <a:srgbClr val="162227"/>
                </a:highlight>
                <a:latin typeface="Consolas" pitchFamily="34" charset="0"/>
                <a:ea typeface="Consolas" pitchFamily="34" charset="-122"/>
                <a:cs typeface="Consolas" pitchFamily="34" charset="-120"/>
              </a:rPr>
              <a:t>connect ECONNREFUSED</a:t>
            </a:r>
            <a:r>
              <a:rPr lang="en-US" sz="1050" dirty="0">
                <a:solidFill>
                  <a:srgbClr val="E2E6E9"/>
                </a:solidFill>
                <a:latin typeface="Merriweather" pitchFamily="34" charset="0"/>
                <a:ea typeface="Merriweather" pitchFamily="34" charset="-122"/>
                <a:cs typeface="Merriweather" pitchFamily="34" charset="-120"/>
              </a:rPr>
              <a:t> database faults</a:t>
            </a:r>
            <a:endParaRPr lang="en-US" sz="1050" dirty="0"/>
          </a:p>
        </p:txBody>
      </p:sp>
      <p:sp>
        <p:nvSpPr>
          <p:cNvPr id="15" name="Text 13"/>
          <p:cNvSpPr/>
          <p:nvPr/>
        </p:nvSpPr>
        <p:spPr>
          <a:xfrm>
            <a:off x="3098453" y="3620616"/>
            <a:ext cx="2544514" cy="431899"/>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Node processes reverting to local loops instead of Azure endpoints</a:t>
            </a:r>
            <a:endParaRPr lang="en-US" sz="1050" dirty="0"/>
          </a:p>
        </p:txBody>
      </p:sp>
      <p:sp>
        <p:nvSpPr>
          <p:cNvPr id="16" name="Text 14"/>
          <p:cNvSpPr/>
          <p:nvPr/>
        </p:nvSpPr>
        <p:spPr>
          <a:xfrm>
            <a:off x="5917555" y="3620616"/>
            <a:ext cx="2546896" cy="431899"/>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Validate variables inside pm2 launch arguments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39874" y="636091"/>
            <a:ext cx="4203278" cy="421779"/>
          </a:xfrm>
          <a:prstGeom prst="rect">
            <a:avLst/>
          </a:prstGeom>
          <a:noFill/>
          <a:ln/>
        </p:spPr>
        <p:txBody>
          <a:bodyPr wrap="none" lIns="0" tIns="0" rIns="0" bIns="0" rtlCol="0" anchor="t"/>
          <a:lstStyle/>
          <a:p>
            <a:pPr marL="0" indent="0" algn="l">
              <a:lnSpc>
                <a:spcPct val="104000"/>
              </a:lnSpc>
              <a:buNone/>
            </a:pPr>
            <a:r>
              <a:rPr lang="en-US" sz="2650" dirty="0">
                <a:solidFill>
                  <a:srgbClr val="F5F0F0"/>
                </a:solidFill>
                <a:latin typeface="Merriweather" pitchFamily="34" charset="0"/>
                <a:ea typeface="Merriweather" pitchFamily="34" charset="-122"/>
                <a:cs typeface="Merriweather" pitchFamily="34" charset="-120"/>
              </a:rPr>
              <a:t>Summary &amp; Next Steps</a:t>
            </a:r>
            <a:endParaRPr lang="en-US" sz="2650" dirty="0"/>
          </a:p>
        </p:txBody>
      </p:sp>
      <p:sp>
        <p:nvSpPr>
          <p:cNvPr id="3" name="Text 1"/>
          <p:cNvSpPr/>
          <p:nvPr/>
        </p:nvSpPr>
        <p:spPr>
          <a:xfrm>
            <a:off x="539874" y="1327770"/>
            <a:ext cx="8064252" cy="799654"/>
          </a:xfrm>
          <a:prstGeom prst="rect">
            <a:avLst/>
          </a:prstGeom>
          <a:noFill/>
          <a:ln/>
        </p:spPr>
        <p:txBody>
          <a:bodyPr wrap="square" lIns="0" tIns="0" rIns="0" bIns="0" rtlCol="0" anchor="t"/>
          <a:lstStyle/>
          <a:p>
            <a:pPr marL="0" indent="0" algn="l">
              <a:lnSpc>
                <a:spcPct val="133000"/>
              </a:lnSpc>
              <a:buNone/>
            </a:pPr>
            <a:endParaRPr lang="en-US" sz="1050" dirty="0">
              <a:solidFill>
                <a:srgbClr val="E2E6E9"/>
              </a:solidFill>
              <a:latin typeface="Merriweather" pitchFamily="34" charset="0"/>
              <a:ea typeface="Merriweather" pitchFamily="34" charset="-122"/>
              <a:cs typeface="Merriweather" pitchFamily="34" charset="-120"/>
            </a:endParaRPr>
          </a:p>
          <a:p>
            <a:pPr marL="0" indent="0" algn="l">
              <a:lnSpc>
                <a:spcPct val="133000"/>
              </a:lnSpc>
              <a:buNone/>
            </a:pPr>
            <a:r>
              <a:rPr lang="en-US" sz="1050" dirty="0" err="1">
                <a:solidFill>
                  <a:srgbClr val="E2E6E9"/>
                </a:solidFill>
                <a:latin typeface="Merriweather" pitchFamily="34" charset="0"/>
                <a:ea typeface="Merriweather" pitchFamily="34" charset="-122"/>
                <a:cs typeface="Merriweather" pitchFamily="34" charset="-120"/>
              </a:rPr>
              <a:t>MediShift's</a:t>
            </a:r>
            <a:r>
              <a:rPr lang="en-US" sz="1050" dirty="0">
                <a:solidFill>
                  <a:srgbClr val="E2E6E9"/>
                </a:solidFill>
                <a:latin typeface="Merriweather" pitchFamily="34" charset="0"/>
                <a:ea typeface="Merriweather" pitchFamily="34" charset="-122"/>
                <a:cs typeface="Merriweather" pitchFamily="34" charset="-120"/>
              </a:rPr>
              <a:t> Azure architecture demonstrates that production-grade, highly available healthcare infrastructure can be achieved without containers — through disciplined network design, managed services, and infrastructure-as-code.</a:t>
            </a:r>
            <a:endParaRPr lang="en-US" sz="1050" dirty="0"/>
          </a:p>
        </p:txBody>
      </p:sp>
      <p:sp>
        <p:nvSpPr>
          <p:cNvPr id="4" name="Shape 2"/>
          <p:cNvSpPr/>
          <p:nvPr/>
        </p:nvSpPr>
        <p:spPr>
          <a:xfrm>
            <a:off x="442615" y="2279228"/>
            <a:ext cx="4061966" cy="2228180"/>
          </a:xfrm>
          <a:prstGeom prst="roundRect">
            <a:avLst>
              <a:gd name="adj" fmla="val 4362"/>
            </a:avLst>
          </a:prstGeom>
          <a:solidFill>
            <a:srgbClr val="609DFF">
              <a:alpha val="95000"/>
            </a:srgbClr>
          </a:solidFill>
          <a:ln/>
        </p:spPr>
        <p:txBody>
          <a:bodyPr/>
          <a:lstStyle/>
          <a:p>
            <a:endParaRPr lang="en-IN"/>
          </a:p>
        </p:txBody>
      </p:sp>
      <p:sp>
        <p:nvSpPr>
          <p:cNvPr id="5" name="Text 3"/>
          <p:cNvSpPr/>
          <p:nvPr/>
        </p:nvSpPr>
        <p:spPr>
          <a:xfrm>
            <a:off x="577528" y="2414141"/>
            <a:ext cx="2364432" cy="210815"/>
          </a:xfrm>
          <a:prstGeom prst="rect">
            <a:avLst/>
          </a:prstGeom>
          <a:noFill/>
          <a:ln/>
        </p:spPr>
        <p:txBody>
          <a:bodyPr wrap="none" lIns="0" tIns="0" rIns="0" bIns="0" rtlCol="0" anchor="t"/>
          <a:lstStyle/>
          <a:p>
            <a:pPr marL="0" indent="0" algn="l">
              <a:lnSpc>
                <a:spcPct val="104000"/>
              </a:lnSpc>
              <a:buNone/>
            </a:pPr>
            <a:r>
              <a:rPr lang="en-US" sz="1300" dirty="0">
                <a:solidFill>
                  <a:srgbClr val="000000"/>
                </a:solidFill>
                <a:latin typeface="Merriweather" pitchFamily="34" charset="0"/>
                <a:ea typeface="Merriweather" pitchFamily="34" charset="-122"/>
                <a:cs typeface="Merriweather" pitchFamily="34" charset="-120"/>
              </a:rPr>
              <a:t>Architecture Highlights</a:t>
            </a:r>
            <a:endParaRPr lang="en-US" sz="1300" dirty="0"/>
          </a:p>
        </p:txBody>
      </p:sp>
      <p:sp>
        <p:nvSpPr>
          <p:cNvPr id="6" name="Text 4"/>
          <p:cNvSpPr/>
          <p:nvPr/>
        </p:nvSpPr>
        <p:spPr>
          <a:xfrm>
            <a:off x="577528" y="2759869"/>
            <a:ext cx="3792141" cy="1700361"/>
          </a:xfrm>
          <a:prstGeom prst="rect">
            <a:avLst/>
          </a:prstGeom>
          <a:noFill/>
          <a:ln/>
        </p:spPr>
        <p:txBody>
          <a:bodyPr wrap="square" lIns="0" tIns="0" rIns="0" bIns="0" rtlCol="0" anchor="t">
            <a:normAutofit fontScale="92500"/>
          </a:bodyPr>
          <a:lstStyle/>
          <a:p>
            <a:pPr marL="342900" indent="-342900" algn="l">
              <a:lnSpc>
                <a:spcPct val="133000"/>
              </a:lnSpc>
              <a:buSzPct val="100000"/>
              <a:buChar char="•"/>
            </a:pPr>
            <a:r>
              <a:rPr lang="en-US" sz="1050" dirty="0">
                <a:solidFill>
                  <a:srgbClr val="000000"/>
                </a:solidFill>
                <a:latin typeface="Merriweather" pitchFamily="34" charset="0"/>
                <a:ea typeface="Merriweather" pitchFamily="34" charset="-122"/>
                <a:cs typeface="Merriweather" pitchFamily="34" charset="-120"/>
              </a:rPr>
              <a:t>Three-tier, non-containerized design on native Linux</a:t>
            </a:r>
            <a:endParaRPr lang="en-US" sz="1050" dirty="0"/>
          </a:p>
          <a:p>
            <a:pPr marL="342900" indent="-342900" algn="l">
              <a:lnSpc>
                <a:spcPct val="133000"/>
              </a:lnSpc>
              <a:buSzPct val="100000"/>
              <a:buChar char="•"/>
            </a:pPr>
            <a:r>
              <a:rPr lang="en-US" sz="1050" dirty="0">
                <a:solidFill>
                  <a:srgbClr val="000000"/>
                </a:solidFill>
                <a:latin typeface="Merriweather" pitchFamily="34" charset="0"/>
                <a:ea typeface="Merriweather" pitchFamily="34" charset="-122"/>
                <a:cs typeface="Merriweather" pitchFamily="34" charset="-120"/>
              </a:rPr>
              <a:t>WAF_v2 Application Gateway with path-based routing</a:t>
            </a:r>
            <a:endParaRPr lang="en-US" sz="1050" dirty="0"/>
          </a:p>
          <a:p>
            <a:pPr marL="342900" indent="-342900" algn="l">
              <a:lnSpc>
                <a:spcPct val="133000"/>
              </a:lnSpc>
              <a:buSzPct val="100000"/>
              <a:buChar char="•"/>
            </a:pPr>
            <a:r>
              <a:rPr lang="en-US" sz="1050" dirty="0">
                <a:solidFill>
                  <a:srgbClr val="000000"/>
                </a:solidFill>
                <a:latin typeface="Merriweather" pitchFamily="34" charset="0"/>
                <a:ea typeface="Merriweather" pitchFamily="34" charset="-122"/>
                <a:cs typeface="Merriweather" pitchFamily="34" charset="-120"/>
              </a:rPr>
              <a:t>Private-link PostgreSQL with delegated subnet isolation</a:t>
            </a:r>
            <a:endParaRPr lang="en-US" sz="1050" dirty="0"/>
          </a:p>
          <a:p>
            <a:pPr marL="342900" indent="-342900" algn="l">
              <a:lnSpc>
                <a:spcPct val="133000"/>
              </a:lnSpc>
              <a:buSzPct val="100000"/>
              <a:buChar char="•"/>
            </a:pPr>
            <a:r>
              <a:rPr lang="en-US" sz="1050" dirty="0">
                <a:solidFill>
                  <a:srgbClr val="000000"/>
                </a:solidFill>
                <a:latin typeface="Merriweather" pitchFamily="34" charset="0"/>
                <a:ea typeface="Merriweather" pitchFamily="34" charset="-122"/>
                <a:cs typeface="Merriweather" pitchFamily="34" charset="-120"/>
              </a:rPr>
              <a:t>PM2 daemonized microservices with zero cold-start failures</a:t>
            </a:r>
            <a:endParaRPr lang="en-US" sz="1050" dirty="0"/>
          </a:p>
          <a:p>
            <a:pPr marL="342900" indent="-342900" algn="l">
              <a:lnSpc>
                <a:spcPct val="133000"/>
              </a:lnSpc>
              <a:buSzPct val="100000"/>
              <a:buChar char="•"/>
            </a:pPr>
            <a:r>
              <a:rPr lang="en-US" sz="1050" dirty="0">
                <a:solidFill>
                  <a:srgbClr val="000000"/>
                </a:solidFill>
                <a:latin typeface="Merriweather" pitchFamily="34" charset="0"/>
                <a:ea typeface="Merriweather" pitchFamily="34" charset="-122"/>
                <a:cs typeface="Merriweather" pitchFamily="34" charset="-120"/>
              </a:rPr>
              <a:t>Full Terraform IaC for repeatable deployments</a:t>
            </a:r>
            <a:endParaRPr lang="en-US" sz="1050" dirty="0"/>
          </a:p>
        </p:txBody>
      </p:sp>
      <p:sp>
        <p:nvSpPr>
          <p:cNvPr id="7" name="Text 5"/>
          <p:cNvSpPr/>
          <p:nvPr/>
        </p:nvSpPr>
        <p:spPr>
          <a:xfrm>
            <a:off x="4741441" y="2414141"/>
            <a:ext cx="2574875" cy="210815"/>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Recommended Next Steps</a:t>
            </a:r>
            <a:endParaRPr lang="en-US" sz="1300" dirty="0"/>
          </a:p>
        </p:txBody>
      </p:sp>
      <p:sp>
        <p:nvSpPr>
          <p:cNvPr id="8" name="Text 6"/>
          <p:cNvSpPr/>
          <p:nvPr/>
        </p:nvSpPr>
        <p:spPr>
          <a:xfrm>
            <a:off x="4741441" y="2759869"/>
            <a:ext cx="3867448" cy="1653183"/>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050" dirty="0">
                <a:solidFill>
                  <a:srgbClr val="E2E6E9"/>
                </a:solidFill>
                <a:latin typeface="Merriweather" pitchFamily="34" charset="0"/>
                <a:ea typeface="Merriweather" pitchFamily="34" charset="-122"/>
                <a:cs typeface="Merriweather" pitchFamily="34" charset="-120"/>
              </a:rPr>
              <a:t>Enable Azure Monitor and Application Insights for observability</a:t>
            </a:r>
            <a:endParaRPr lang="en-US" sz="1050" dirty="0"/>
          </a:p>
          <a:p>
            <a:pPr marL="342900" indent="-342900" algn="l">
              <a:lnSpc>
                <a:spcPct val="133000"/>
              </a:lnSpc>
              <a:buSzPct val="100000"/>
              <a:buChar char="•"/>
            </a:pPr>
            <a:r>
              <a:rPr lang="en-US" sz="1050" dirty="0">
                <a:solidFill>
                  <a:srgbClr val="E2E6E9"/>
                </a:solidFill>
                <a:latin typeface="Merriweather" pitchFamily="34" charset="0"/>
                <a:ea typeface="Merriweather" pitchFamily="34" charset="-122"/>
                <a:cs typeface="Merriweather" pitchFamily="34" charset="-120"/>
              </a:rPr>
              <a:t>Configure automated backup retention policies for PostgreSQL</a:t>
            </a:r>
            <a:endParaRPr lang="en-US" sz="1050" dirty="0"/>
          </a:p>
          <a:p>
            <a:pPr marL="342900" indent="-342900" algn="l">
              <a:lnSpc>
                <a:spcPct val="133000"/>
              </a:lnSpc>
              <a:buSzPct val="100000"/>
              <a:buChar char="•"/>
            </a:pPr>
            <a:r>
              <a:rPr lang="en-US" sz="1050" dirty="0">
                <a:solidFill>
                  <a:srgbClr val="E2E6E9"/>
                </a:solidFill>
                <a:latin typeface="Merriweather" pitchFamily="34" charset="0"/>
                <a:ea typeface="Merriweather" pitchFamily="34" charset="-122"/>
                <a:cs typeface="Merriweather" pitchFamily="34" charset="-120"/>
              </a:rPr>
              <a:t>Implement Azure Policy for compliance guardrails</a:t>
            </a:r>
            <a:endParaRPr lang="en-US" sz="1050" dirty="0"/>
          </a:p>
          <a:p>
            <a:pPr marL="342900" indent="-342900" algn="l">
              <a:lnSpc>
                <a:spcPct val="133000"/>
              </a:lnSpc>
              <a:buSzPct val="100000"/>
              <a:buChar char="•"/>
            </a:pPr>
            <a:r>
              <a:rPr lang="en-US" sz="1050" dirty="0">
                <a:solidFill>
                  <a:srgbClr val="E2E6E9"/>
                </a:solidFill>
                <a:latin typeface="Merriweather" pitchFamily="34" charset="0"/>
                <a:ea typeface="Merriweather" pitchFamily="34" charset="-122"/>
                <a:cs typeface="Merriweather" pitchFamily="34" charset="-120"/>
              </a:rPr>
              <a:t>Conduct penetration testing against the WAF_v2 configuration</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39874" y="486445"/>
            <a:ext cx="6418436" cy="421779"/>
          </a:xfrm>
          <a:prstGeom prst="rect">
            <a:avLst/>
          </a:prstGeom>
          <a:noFill/>
          <a:ln/>
        </p:spPr>
        <p:txBody>
          <a:bodyPr wrap="none" lIns="0" tIns="0" rIns="0" bIns="0" rtlCol="0" anchor="t"/>
          <a:lstStyle/>
          <a:p>
            <a:pPr marL="0" indent="0" algn="l">
              <a:lnSpc>
                <a:spcPct val="104000"/>
              </a:lnSpc>
              <a:buNone/>
            </a:pPr>
            <a:r>
              <a:rPr lang="en-US" sz="2650" dirty="0">
                <a:solidFill>
                  <a:srgbClr val="F5F0F0"/>
                </a:solidFill>
                <a:latin typeface="Merriweather" pitchFamily="34" charset="0"/>
                <a:ea typeface="Merriweather" pitchFamily="34" charset="-122"/>
                <a:cs typeface="Merriweather" pitchFamily="34" charset="-120"/>
              </a:rPr>
              <a:t>Future Infrastructure Enhancements</a:t>
            </a:r>
            <a:endParaRPr lang="en-US" sz="2650" dirty="0"/>
          </a:p>
        </p:txBody>
      </p:sp>
      <p:sp>
        <p:nvSpPr>
          <p:cNvPr id="3" name="Text 1"/>
          <p:cNvSpPr/>
          <p:nvPr/>
        </p:nvSpPr>
        <p:spPr>
          <a:xfrm>
            <a:off x="539874" y="962174"/>
            <a:ext cx="3397002" cy="253082"/>
          </a:xfrm>
          <a:prstGeom prst="rect">
            <a:avLst/>
          </a:prstGeom>
          <a:noFill/>
          <a:ln/>
        </p:spPr>
        <p:txBody>
          <a:bodyPr wrap="none" lIns="0" tIns="0" rIns="0" bIns="0" rtlCol="0" anchor="t"/>
          <a:lstStyle/>
          <a:p>
            <a:pPr marL="0" indent="0" algn="l">
              <a:lnSpc>
                <a:spcPct val="104000"/>
              </a:lnSpc>
              <a:buNone/>
            </a:pPr>
            <a:r>
              <a:rPr lang="en-US" sz="1550" dirty="0">
                <a:solidFill>
                  <a:srgbClr val="F5F0F0"/>
                </a:solidFill>
                <a:latin typeface="Merriweather" pitchFamily="34" charset="0"/>
                <a:ea typeface="Merriweather" pitchFamily="34" charset="-122"/>
                <a:cs typeface="Merriweather" pitchFamily="34" charset="-120"/>
              </a:rPr>
              <a:t>Future Architectural Roadmap</a:t>
            </a:r>
            <a:endParaRPr lang="en-US" sz="1550" dirty="0"/>
          </a:p>
        </p:txBody>
      </p:sp>
      <p:pic>
        <p:nvPicPr>
          <p:cNvPr id="4" name="Image 0" descr="preencoded.png"/>
          <p:cNvPicPr>
            <a:picLocks noChangeAspect="1"/>
          </p:cNvPicPr>
          <p:nvPr/>
        </p:nvPicPr>
        <p:blipFill>
          <a:blip r:embed="rId3"/>
          <a:stretch>
            <a:fillRect/>
          </a:stretch>
        </p:blipFill>
        <p:spPr>
          <a:xfrm>
            <a:off x="539874" y="1417662"/>
            <a:ext cx="674861" cy="809848"/>
          </a:xfrm>
          <a:prstGeom prst="rect">
            <a:avLst/>
          </a:prstGeom>
        </p:spPr>
      </p:pic>
      <p:sp>
        <p:nvSpPr>
          <p:cNvPr id="5" name="Text 2"/>
          <p:cNvSpPr/>
          <p:nvPr/>
        </p:nvSpPr>
        <p:spPr>
          <a:xfrm>
            <a:off x="1349648" y="1552575"/>
            <a:ext cx="2434456" cy="210815"/>
          </a:xfrm>
          <a:prstGeom prst="rect">
            <a:avLst/>
          </a:prstGeom>
          <a:noFill/>
          <a:ln/>
        </p:spPr>
        <p:txBody>
          <a:bodyPr wrap="none" lIns="0" tIns="0" rIns="0" bIns="0" rtlCol="0" anchor="t"/>
          <a:lstStyle/>
          <a:p>
            <a:pPr marL="0" indent="0" algn="l">
              <a:lnSpc>
                <a:spcPct val="104000"/>
              </a:lnSpc>
              <a:buNone/>
            </a:pPr>
            <a:r>
              <a:rPr lang="en-US" sz="1300" dirty="0">
                <a:solidFill>
                  <a:srgbClr val="E2E6E9"/>
                </a:solidFill>
                <a:latin typeface="Merriweather" pitchFamily="34" charset="0"/>
                <a:ea typeface="Merriweather" pitchFamily="34" charset="-122"/>
                <a:cs typeface="Merriweather" pitchFamily="34" charset="-120"/>
              </a:rPr>
              <a:t>Phase 1 - Container Migration</a:t>
            </a:r>
            <a:endParaRPr lang="en-US" sz="1300" dirty="0"/>
          </a:p>
        </p:txBody>
      </p:sp>
      <p:sp>
        <p:nvSpPr>
          <p:cNvPr id="6" name="Text 3"/>
          <p:cNvSpPr/>
          <p:nvPr/>
        </p:nvSpPr>
        <p:spPr>
          <a:xfrm>
            <a:off x="1349648" y="1844353"/>
            <a:ext cx="7254478" cy="215950"/>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Transition runtime code to Docker containers via Azure Container Apps or Azure Kubernetes Service (AKS)</a:t>
            </a:r>
            <a:endParaRPr lang="en-US" sz="1050" dirty="0"/>
          </a:p>
        </p:txBody>
      </p:sp>
      <p:pic>
        <p:nvPicPr>
          <p:cNvPr id="7" name="Image 1" descr="preencoded.png"/>
          <p:cNvPicPr>
            <a:picLocks noChangeAspect="1"/>
          </p:cNvPicPr>
          <p:nvPr/>
        </p:nvPicPr>
        <p:blipFill>
          <a:blip r:embed="rId4"/>
          <a:stretch>
            <a:fillRect/>
          </a:stretch>
        </p:blipFill>
        <p:spPr>
          <a:xfrm>
            <a:off x="539874" y="2227511"/>
            <a:ext cx="674861" cy="809848"/>
          </a:xfrm>
          <a:prstGeom prst="rect">
            <a:avLst/>
          </a:prstGeom>
        </p:spPr>
      </p:pic>
      <p:sp>
        <p:nvSpPr>
          <p:cNvPr id="8" name="Text 4"/>
          <p:cNvSpPr/>
          <p:nvPr/>
        </p:nvSpPr>
        <p:spPr>
          <a:xfrm>
            <a:off x="1349648" y="2362423"/>
            <a:ext cx="3196828" cy="210815"/>
          </a:xfrm>
          <a:prstGeom prst="rect">
            <a:avLst/>
          </a:prstGeom>
          <a:noFill/>
          <a:ln/>
        </p:spPr>
        <p:txBody>
          <a:bodyPr wrap="none" lIns="0" tIns="0" rIns="0" bIns="0" rtlCol="0" anchor="t"/>
          <a:lstStyle/>
          <a:p>
            <a:pPr marL="0" indent="0" algn="l">
              <a:lnSpc>
                <a:spcPct val="104000"/>
              </a:lnSpc>
              <a:buNone/>
            </a:pPr>
            <a:r>
              <a:rPr lang="en-US" sz="1300" dirty="0">
                <a:solidFill>
                  <a:srgbClr val="E2E6E9"/>
                </a:solidFill>
                <a:latin typeface="Merriweather" pitchFamily="34" charset="0"/>
                <a:ea typeface="Merriweather" pitchFamily="34" charset="-122"/>
                <a:cs typeface="Merriweather" pitchFamily="34" charset="-120"/>
              </a:rPr>
              <a:t>Phase 2 - Automated Delivery Pipelines</a:t>
            </a:r>
            <a:endParaRPr lang="en-US" sz="1300" dirty="0"/>
          </a:p>
        </p:txBody>
      </p:sp>
      <p:sp>
        <p:nvSpPr>
          <p:cNvPr id="9" name="Text 5"/>
          <p:cNvSpPr/>
          <p:nvPr/>
        </p:nvSpPr>
        <p:spPr>
          <a:xfrm>
            <a:off x="1349648" y="2654201"/>
            <a:ext cx="7254478" cy="215950"/>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Establish automated GitHub Actions pipelines to deploy updates directly via version control hooks</a:t>
            </a:r>
            <a:endParaRPr lang="en-US" sz="1050" dirty="0"/>
          </a:p>
        </p:txBody>
      </p:sp>
      <p:pic>
        <p:nvPicPr>
          <p:cNvPr id="10" name="Image 2" descr="preencoded.png"/>
          <p:cNvPicPr>
            <a:picLocks noChangeAspect="1"/>
          </p:cNvPicPr>
          <p:nvPr/>
        </p:nvPicPr>
        <p:blipFill>
          <a:blip r:embed="rId5"/>
          <a:stretch>
            <a:fillRect/>
          </a:stretch>
        </p:blipFill>
        <p:spPr>
          <a:xfrm>
            <a:off x="539874" y="3037359"/>
            <a:ext cx="674861" cy="809848"/>
          </a:xfrm>
          <a:prstGeom prst="rect">
            <a:avLst/>
          </a:prstGeom>
        </p:spPr>
      </p:pic>
      <p:sp>
        <p:nvSpPr>
          <p:cNvPr id="11" name="Text 6"/>
          <p:cNvSpPr/>
          <p:nvPr/>
        </p:nvSpPr>
        <p:spPr>
          <a:xfrm>
            <a:off x="1349648" y="3172271"/>
            <a:ext cx="3073822" cy="210815"/>
          </a:xfrm>
          <a:prstGeom prst="rect">
            <a:avLst/>
          </a:prstGeom>
          <a:noFill/>
          <a:ln/>
        </p:spPr>
        <p:txBody>
          <a:bodyPr wrap="none" lIns="0" tIns="0" rIns="0" bIns="0" rtlCol="0" anchor="t"/>
          <a:lstStyle/>
          <a:p>
            <a:pPr marL="0" indent="0" algn="l">
              <a:lnSpc>
                <a:spcPct val="104000"/>
              </a:lnSpc>
              <a:buNone/>
            </a:pPr>
            <a:r>
              <a:rPr lang="en-US" sz="1300" dirty="0">
                <a:solidFill>
                  <a:srgbClr val="E2E6E9"/>
                </a:solidFill>
                <a:latin typeface="Merriweather" pitchFamily="34" charset="0"/>
                <a:ea typeface="Merriweather" pitchFamily="34" charset="-122"/>
                <a:cs typeface="Merriweather" pitchFamily="34" charset="-120"/>
              </a:rPr>
              <a:t>Phase 3 - Custom Security Extensions</a:t>
            </a:r>
            <a:endParaRPr lang="en-US" sz="1300" dirty="0"/>
          </a:p>
        </p:txBody>
      </p:sp>
      <p:sp>
        <p:nvSpPr>
          <p:cNvPr id="12" name="Text 7"/>
          <p:cNvSpPr/>
          <p:nvPr/>
        </p:nvSpPr>
        <p:spPr>
          <a:xfrm>
            <a:off x="1349648" y="3464049"/>
            <a:ext cx="7254478" cy="215950"/>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Implement custom domains and integrate automated TLS/HTTPS certificate bindings</a:t>
            </a:r>
            <a:endParaRPr lang="en-US" sz="1050" dirty="0"/>
          </a:p>
        </p:txBody>
      </p:sp>
      <p:pic>
        <p:nvPicPr>
          <p:cNvPr id="13" name="Image 3" descr="preencoded.png"/>
          <p:cNvPicPr>
            <a:picLocks noChangeAspect="1"/>
          </p:cNvPicPr>
          <p:nvPr/>
        </p:nvPicPr>
        <p:blipFill>
          <a:blip r:embed="rId6"/>
          <a:stretch>
            <a:fillRect/>
          </a:stretch>
        </p:blipFill>
        <p:spPr>
          <a:xfrm>
            <a:off x="539874" y="3847207"/>
            <a:ext cx="674861" cy="809848"/>
          </a:xfrm>
          <a:prstGeom prst="rect">
            <a:avLst/>
          </a:prstGeom>
        </p:spPr>
      </p:pic>
      <p:sp>
        <p:nvSpPr>
          <p:cNvPr id="14" name="Text 8"/>
          <p:cNvSpPr/>
          <p:nvPr/>
        </p:nvSpPr>
        <p:spPr>
          <a:xfrm>
            <a:off x="1349648" y="3982120"/>
            <a:ext cx="2356321" cy="210815"/>
          </a:xfrm>
          <a:prstGeom prst="rect">
            <a:avLst/>
          </a:prstGeom>
          <a:noFill/>
          <a:ln/>
        </p:spPr>
        <p:txBody>
          <a:bodyPr wrap="none" lIns="0" tIns="0" rIns="0" bIns="0" rtlCol="0" anchor="t"/>
          <a:lstStyle/>
          <a:p>
            <a:pPr marL="0" indent="0" algn="l">
              <a:lnSpc>
                <a:spcPct val="104000"/>
              </a:lnSpc>
              <a:buNone/>
            </a:pPr>
            <a:r>
              <a:rPr lang="en-US" sz="1300" dirty="0">
                <a:solidFill>
                  <a:srgbClr val="E2E6E9"/>
                </a:solidFill>
                <a:latin typeface="Merriweather" pitchFamily="34" charset="0"/>
                <a:ea typeface="Merriweather" pitchFamily="34" charset="-122"/>
                <a:cs typeface="Merriweather" pitchFamily="34" charset="-120"/>
              </a:rPr>
              <a:t>Phase 4 - Telemetry Systems</a:t>
            </a:r>
            <a:endParaRPr lang="en-US" sz="1300" dirty="0"/>
          </a:p>
        </p:txBody>
      </p:sp>
      <p:sp>
        <p:nvSpPr>
          <p:cNvPr id="15" name="Text 9"/>
          <p:cNvSpPr/>
          <p:nvPr/>
        </p:nvSpPr>
        <p:spPr>
          <a:xfrm>
            <a:off x="1349648" y="4273897"/>
            <a:ext cx="7254478" cy="215950"/>
          </a:xfrm>
          <a:prstGeom prst="rect">
            <a:avLst/>
          </a:prstGeom>
          <a:noFill/>
          <a:ln/>
        </p:spPr>
        <p:txBody>
          <a:bodyPr wrap="none" lIns="0" tIns="0" rIns="0" bIns="0" rtlCol="0" anchor="t"/>
          <a:lstStyle/>
          <a:p>
            <a:pPr marL="0" indent="0" algn="l">
              <a:lnSpc>
                <a:spcPct val="133000"/>
              </a:lnSpc>
              <a:buNone/>
            </a:pPr>
            <a:r>
              <a:rPr lang="en-US" sz="1050" dirty="0">
                <a:solidFill>
                  <a:srgbClr val="E2E6E9"/>
                </a:solidFill>
                <a:latin typeface="Merriweather" pitchFamily="34" charset="0"/>
                <a:ea typeface="Merriweather" pitchFamily="34" charset="-122"/>
                <a:cs typeface="Merriweather" pitchFamily="34" charset="-120"/>
              </a:rPr>
              <a:t>Deploy Azure Monitor, Log Analytics, and Application Insights to capture log files natively</a:t>
            </a:r>
            <a:endParaRPr lang="en-US" sz="105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Slate</Template>
  <TotalTime>774</TotalTime>
  <Words>1353</Words>
  <Application>Microsoft Office PowerPoint</Application>
  <PresentationFormat>On-screen Show (16:9)</PresentationFormat>
  <Paragraphs>184</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Calisto MT</vt:lpstr>
      <vt:lpstr>Wingdings 2</vt:lpstr>
      <vt:lpstr>Consolas</vt:lpstr>
      <vt:lpstr>Merriweather</vt: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Revanth Kondabathula(UST,IN)</cp:lastModifiedBy>
  <cp:revision>5</cp:revision>
  <dcterms:created xsi:type="dcterms:W3CDTF">2026-05-25T16:57:54Z</dcterms:created>
  <dcterms:modified xsi:type="dcterms:W3CDTF">2026-05-26T06:17:08Z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2026-05-25T17:22:22Z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e20301c3-a9cc-4113-8392-c367e7b35a16</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